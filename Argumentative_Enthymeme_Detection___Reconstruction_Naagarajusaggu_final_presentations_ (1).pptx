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861FA2-35AC-FE3C-5047-15A8BA051137}" v="95" dt="2026-04-10T10:02:49.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0" y="731520"/>
            <a:ext cx="2286000" cy="1371600"/>
          </a:xfrm>
          <a:prstGeom prst="rect">
            <a:avLst/>
          </a:prstGeom>
          <a:noFill/>
        </p:spPr>
        <p:txBody>
          <a:bodyPr wrap="square">
            <a:spAutoFit/>
          </a:bodyPr>
          <a:lstStyle/>
          <a:p>
            <a:pPr algn="ctr"/>
            <a:r>
              <a:rPr sz="6000" b="0" i="0">
                <a:solidFill>
                  <a:srgbClr val="FFFFFF"/>
                </a:solidFill>
                <a:latin typeface="Calibri"/>
              </a:rPr>
              <a:t>🧠</a:t>
            </a:r>
          </a:p>
        </p:txBody>
      </p:sp>
      <p:sp>
        <p:nvSpPr>
          <p:cNvPr id="5" name="TextBox 4"/>
          <p:cNvSpPr txBox="1"/>
          <p:nvPr/>
        </p:nvSpPr>
        <p:spPr>
          <a:xfrm>
            <a:off x="914400" y="2011680"/>
            <a:ext cx="10332720" cy="1280160"/>
          </a:xfrm>
          <a:prstGeom prst="rect">
            <a:avLst/>
          </a:prstGeom>
          <a:noFill/>
        </p:spPr>
        <p:txBody>
          <a:bodyPr wrap="square">
            <a:spAutoFit/>
          </a:bodyPr>
          <a:lstStyle/>
          <a:p>
            <a:pPr algn="ctr"/>
            <a:r>
              <a:rPr sz="5200" b="1" i="0">
                <a:solidFill>
                  <a:srgbClr val="FFFFFF"/>
                </a:solidFill>
                <a:latin typeface="Calibri"/>
              </a:rPr>
              <a:t>Mind the Gap</a:t>
            </a:r>
          </a:p>
        </p:txBody>
      </p:sp>
      <p:sp>
        <p:nvSpPr>
          <p:cNvPr id="6" name="TextBox 5"/>
          <p:cNvSpPr txBox="1"/>
          <p:nvPr/>
        </p:nvSpPr>
        <p:spPr>
          <a:xfrm>
            <a:off x="914400" y="3246120"/>
            <a:ext cx="10332720" cy="640080"/>
          </a:xfrm>
          <a:prstGeom prst="rect">
            <a:avLst/>
          </a:prstGeom>
          <a:noFill/>
        </p:spPr>
        <p:txBody>
          <a:bodyPr wrap="square">
            <a:spAutoFit/>
          </a:bodyPr>
          <a:lstStyle/>
          <a:p>
            <a:pPr algn="ctr"/>
            <a:r>
              <a:rPr sz="2000" b="0" i="0">
                <a:solidFill>
                  <a:srgbClr val="06B6D4"/>
                </a:solidFill>
                <a:latin typeface="Calibri"/>
              </a:rPr>
              <a:t>Enthymeme Detection &amp; Reconstruction</a:t>
            </a:r>
          </a:p>
        </p:txBody>
      </p:sp>
      <p:sp>
        <p:nvSpPr>
          <p:cNvPr id="7" name="TextBox 6"/>
          <p:cNvSpPr txBox="1"/>
          <p:nvPr/>
        </p:nvSpPr>
        <p:spPr>
          <a:xfrm>
            <a:off x="914400" y="3886200"/>
            <a:ext cx="10332720" cy="457200"/>
          </a:xfrm>
          <a:prstGeom prst="rect">
            <a:avLst/>
          </a:prstGeom>
          <a:noFill/>
        </p:spPr>
        <p:txBody>
          <a:bodyPr wrap="square">
            <a:spAutoFit/>
          </a:bodyPr>
          <a:lstStyle/>
          <a:p>
            <a:pPr algn="ctr"/>
            <a:r>
              <a:rPr sz="1300" b="0" i="0">
                <a:solidFill>
                  <a:srgbClr val="94A3B8"/>
                </a:solidFill>
                <a:latin typeface="Calibri"/>
              </a:rPr>
              <a:t>An end-to-end NLP pipeline implementation based on Stahl et al. 2023</a:t>
            </a:r>
          </a:p>
        </p:txBody>
      </p:sp>
      <p:sp>
        <p:nvSpPr>
          <p:cNvPr id="8" name="TextBox 7"/>
          <p:cNvSpPr txBox="1"/>
          <p:nvPr/>
        </p:nvSpPr>
        <p:spPr>
          <a:xfrm>
            <a:off x="914400" y="4663440"/>
            <a:ext cx="10332720" cy="430887"/>
          </a:xfrm>
          <a:prstGeom prst="rect">
            <a:avLst/>
          </a:prstGeom>
          <a:noFill/>
        </p:spPr>
        <p:txBody>
          <a:bodyPr wrap="square" lIns="91440" tIns="45720" rIns="91440" bIns="45720" anchor="t">
            <a:spAutoFit/>
          </a:bodyPr>
          <a:lstStyle/>
          <a:p>
            <a:pPr algn="ctr"/>
            <a:r>
              <a:rPr sz="1100" b="0" i="0">
                <a:solidFill>
                  <a:srgbClr val="00B0F0"/>
                </a:solidFill>
                <a:latin typeface="Calibri"/>
              </a:rPr>
              <a:t>Bauhaus-Universität Weimar  · </a:t>
            </a:r>
            <a:r>
              <a:rPr lang="en-US" sz="1100">
                <a:solidFill>
                  <a:srgbClr val="00B0F0"/>
                </a:solidFill>
                <a:ea typeface="+mn-lt"/>
                <a:cs typeface="+mn-lt"/>
              </a:rPr>
              <a:t>Saggu Nagaraju</a:t>
            </a:r>
            <a:endParaRPr lang="en-US">
              <a:solidFill>
                <a:srgbClr val="00B0F0"/>
              </a:solidFill>
              <a:ea typeface="Calibri"/>
              <a:cs typeface="Calibri"/>
            </a:endParaRPr>
          </a:p>
          <a:p>
            <a:pPr algn="ctr"/>
            <a:r>
              <a:rPr lang="en-US" sz="1100">
                <a:solidFill>
                  <a:srgbClr val="00B0F0"/>
                </a:solidFill>
                <a:ea typeface="+mn-lt"/>
                <a:cs typeface="+mn-lt"/>
              </a:rPr>
              <a:t>Digital Engineering - 126794</a:t>
            </a:r>
            <a:endParaRPr>
              <a:solidFill>
                <a:srgbClr val="00B0F0"/>
              </a:solidFill>
              <a:ea typeface="Calibri"/>
              <a:cs typeface="Calibri"/>
            </a:endParaRPr>
          </a:p>
        </p:txBody>
      </p:sp>
      <p:sp>
        <p:nvSpPr>
          <p:cNvPr id="9" name="Rectangle 8"/>
          <p:cNvSpPr/>
          <p:nvPr/>
        </p:nvSpPr>
        <p:spPr>
          <a:xfrm>
            <a:off x="0" y="6492240"/>
            <a:ext cx="12188952" cy="365760"/>
          </a:xfrm>
          <a:prstGeom prst="rect">
            <a:avLst/>
          </a:prstGeom>
          <a:solidFill>
            <a:srgbClr val="07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10528"/>
            <a:ext cx="11247120" cy="230832"/>
          </a:xfrm>
          <a:prstGeom prst="rect">
            <a:avLst/>
          </a:prstGeom>
          <a:noFill/>
        </p:spPr>
        <p:txBody>
          <a:bodyPr wrap="square" lIns="91440" tIns="45720" rIns="91440" bIns="45720" anchor="t">
            <a:spAutoFit/>
          </a:bodyPr>
          <a:lstStyle/>
          <a:p>
            <a:pPr algn="ctr"/>
            <a:r>
              <a:rPr sz="900" b="0" i="0" dirty="0">
                <a:solidFill>
                  <a:srgbClr val="94A3B8"/>
                </a:solidFill>
                <a:latin typeface="Calibri"/>
              </a:rPr>
              <a:t>Task 1: Corpus Creation   ·   Task </a:t>
            </a:r>
            <a:r>
              <a:rPr lang="en-US" sz="900" dirty="0">
                <a:solidFill>
                  <a:srgbClr val="94A3B8"/>
                </a:solidFill>
                <a:latin typeface="Calibri"/>
              </a:rPr>
              <a:t>2</a:t>
            </a:r>
            <a:r>
              <a:rPr sz="900" b="0" i="0">
                <a:solidFill>
                  <a:srgbClr val="94A3B8"/>
                </a:solidFill>
                <a:latin typeface="Calibri"/>
              </a:rPr>
              <a:t>: Enthymeme Detection   ·   Task </a:t>
            </a:r>
            <a:r>
              <a:rPr lang="en-US" sz="900">
                <a:solidFill>
                  <a:srgbClr val="94A3B8"/>
                </a:solidFill>
                <a:latin typeface="Calibri"/>
              </a:rPr>
              <a:t>3</a:t>
            </a:r>
            <a:r>
              <a:rPr sz="900" b="0" i="0" dirty="0">
                <a:solidFill>
                  <a:srgbClr val="94A3B8"/>
                </a:solidFill>
                <a:latin typeface="Calibri"/>
              </a:rPr>
              <a:t>: Enthymeme Reconstruction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What is an Enthymeme?</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An argument with a deliberately omitted premise — the 'gap' readers fill implicitly</a:t>
            </a:r>
          </a:p>
        </p:txBody>
      </p:sp>
      <p:sp>
        <p:nvSpPr>
          <p:cNvPr id="6" name="TextBox 5"/>
          <p:cNvSpPr txBox="1"/>
          <p:nvPr/>
        </p:nvSpPr>
        <p:spPr>
          <a:xfrm>
            <a:off x="548640" y="1737360"/>
            <a:ext cx="10972800" cy="4846320"/>
          </a:xfrm>
          <a:prstGeom prst="rect">
            <a:avLst/>
          </a:prstGeom>
          <a:noFill/>
        </p:spPr>
        <p:txBody>
          <a:bodyPr wrap="square">
            <a:spAutoFit/>
          </a:bodyPr>
          <a:lstStyle/>
          <a:p>
            <a:pPr>
              <a:spcBef>
                <a:spcPts val="600"/>
              </a:spcBef>
            </a:pPr>
            <a:r>
              <a:rPr sz="1500" b="1">
                <a:solidFill>
                  <a:srgbClr val="06B6D4"/>
                </a:solidFill>
                <a:latin typeface="Calibri"/>
              </a:rPr>
              <a:t>Definition</a:t>
            </a:r>
          </a:p>
          <a:p>
            <a:pPr>
              <a:spcBef>
                <a:spcPts val="300"/>
              </a:spcBef>
            </a:pPr>
            <a:r>
              <a:rPr sz="1250">
                <a:solidFill>
                  <a:srgbClr val="E2E8F0"/>
                </a:solidFill>
                <a:latin typeface="Calibri"/>
              </a:rPr>
              <a:t>An enthymeme is an argument where one key premise is left out</a:t>
            </a:r>
          </a:p>
          <a:p>
            <a:pPr>
              <a:spcBef>
                <a:spcPts val="300"/>
              </a:spcBef>
            </a:pPr>
            <a:r>
              <a:rPr sz="1250">
                <a:solidFill>
                  <a:srgbClr val="E2E8F0"/>
                </a:solidFill>
                <a:latin typeface="Calibri"/>
              </a:rPr>
              <a:t>The missing part is called the gap — readers infer it from context</a:t>
            </a:r>
          </a:p>
          <a:p>
            <a:pPr>
              <a:spcBef>
                <a:spcPts val="300"/>
              </a:spcBef>
            </a:pPr>
            <a:r>
              <a:rPr sz="1250">
                <a:solidFill>
                  <a:srgbClr val="E2E8F0"/>
                </a:solidFill>
                <a:latin typeface="Calibri"/>
              </a:rPr>
              <a:t>Term originates from Aristotle's Rhetoric — a truncated syllogism</a:t>
            </a:r>
          </a:p>
          <a:p>
            <a:endParaRPr sz="1250">
              <a:solidFill>
                <a:srgbClr val="E2E8F0"/>
              </a:solidFill>
              <a:latin typeface="Calibri"/>
            </a:endParaRPr>
          </a:p>
          <a:p>
            <a:pPr>
              <a:spcBef>
                <a:spcPts val="600"/>
              </a:spcBef>
            </a:pPr>
            <a:r>
              <a:rPr sz="1500" b="1">
                <a:solidFill>
                  <a:srgbClr val="06B6D4"/>
                </a:solidFill>
                <a:latin typeface="Calibri"/>
              </a:rPr>
              <a:t>Concrete Example</a:t>
            </a:r>
          </a:p>
          <a:p>
            <a:pPr>
              <a:spcBef>
                <a:spcPts val="300"/>
              </a:spcBef>
            </a:pPr>
            <a:r>
              <a:rPr sz="1250">
                <a:solidFill>
                  <a:srgbClr val="E2E8F0"/>
                </a:solidFill>
                <a:latin typeface="Calibri"/>
              </a:rPr>
              <a:t>Full argument:   'She studied hard.  She passed the exam.'</a:t>
            </a:r>
          </a:p>
          <a:p>
            <a:pPr>
              <a:spcBef>
                <a:spcPts val="300"/>
              </a:spcBef>
            </a:pPr>
            <a:r>
              <a:rPr sz="1250">
                <a:solidFill>
                  <a:srgbClr val="E2E8F0"/>
                </a:solidFill>
                <a:latin typeface="Calibri"/>
              </a:rPr>
              <a:t>As enthymeme:   'She studied hard.  [GAP]  She passed the exam.'</a:t>
            </a:r>
          </a:p>
          <a:p>
            <a:pPr>
              <a:spcBef>
                <a:spcPts val="300"/>
              </a:spcBef>
            </a:pPr>
            <a:r>
              <a:rPr sz="1250">
                <a:solidFill>
                  <a:srgbClr val="E2E8F0"/>
                </a:solidFill>
                <a:latin typeface="Calibri"/>
              </a:rPr>
              <a:t>Missing link:    'Hard work leads to success.'  ← reconstructed</a:t>
            </a:r>
          </a:p>
          <a:p>
            <a:endParaRPr sz="1250">
              <a:solidFill>
                <a:srgbClr val="E2E8F0"/>
              </a:solidFill>
              <a:latin typeface="Calibri"/>
            </a:endParaRPr>
          </a:p>
          <a:p>
            <a:pPr>
              <a:spcBef>
                <a:spcPts val="600"/>
              </a:spcBef>
            </a:pPr>
            <a:r>
              <a:rPr sz="1500" b="1">
                <a:solidFill>
                  <a:srgbClr val="06B6D4"/>
                </a:solidFill>
                <a:latin typeface="Calibri"/>
              </a:rPr>
              <a:t>Why It Matters for NLP</a:t>
            </a:r>
          </a:p>
          <a:p>
            <a:pPr>
              <a:spcBef>
                <a:spcPts val="300"/>
              </a:spcBef>
            </a:pPr>
            <a:r>
              <a:rPr sz="1250">
                <a:solidFill>
                  <a:srgbClr val="E2E8F0"/>
                </a:solidFill>
                <a:latin typeface="Calibri"/>
              </a:rPr>
              <a:t>Extremely common in student essays, opinion articles &amp; persuasive writing</a:t>
            </a:r>
          </a:p>
          <a:p>
            <a:pPr>
              <a:spcBef>
                <a:spcPts val="300"/>
              </a:spcBef>
            </a:pPr>
            <a:r>
              <a:rPr sz="1250">
                <a:solidFill>
                  <a:srgbClr val="E2E8F0"/>
                </a:solidFill>
                <a:latin typeface="Calibri"/>
              </a:rPr>
              <a:t>Detecting gaps → better automated writing feedback and argument quality tools</a:t>
            </a:r>
          </a:p>
          <a:p>
            <a:pPr>
              <a:spcBef>
                <a:spcPts val="300"/>
              </a:spcBef>
            </a:pPr>
            <a:r>
              <a:rPr sz="1250">
                <a:solidFill>
                  <a:srgbClr val="E2E8F0"/>
                </a:solidFill>
                <a:latin typeface="Calibri"/>
              </a:rPr>
              <a:t>Reconstructing gaps → fills in missing reasoning for comprehension systems</a:t>
            </a:r>
          </a:p>
          <a:p>
            <a:pPr>
              <a:spcBef>
                <a:spcPts val="300"/>
              </a:spcBef>
            </a:pPr>
            <a:r>
              <a:rPr sz="1250">
                <a:solidFill>
                  <a:srgbClr val="E2E8F0"/>
                </a:solidFill>
                <a:latin typeface="Calibri"/>
              </a:rPr>
              <a:t>Stahl et al. 2023 is the first paper to automate both tasks end-to-end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What Was Implemented</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Reproducing Stahl et al. 2023 end-to-end with a custom dataset corpus</a:t>
            </a:r>
          </a:p>
        </p:txBody>
      </p:sp>
      <p:sp>
        <p:nvSpPr>
          <p:cNvPr id="6" name="Rectangle 5"/>
          <p:cNvSpPr/>
          <p:nvPr/>
        </p:nvSpPr>
        <p:spPr>
          <a:xfrm>
            <a:off x="457200" y="1920240"/>
            <a:ext cx="3657600" cy="4297680"/>
          </a:xfrm>
          <a:prstGeom prst="rect">
            <a:avLst/>
          </a:prstGeom>
          <a:solidFill>
            <a:srgbClr val="1A253A"/>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920240"/>
            <a:ext cx="365760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011680"/>
            <a:ext cx="731520" cy="640080"/>
          </a:xfrm>
          <a:prstGeom prst="rect">
            <a:avLst/>
          </a:prstGeom>
          <a:noFill/>
        </p:spPr>
        <p:txBody>
          <a:bodyPr wrap="square">
            <a:spAutoFit/>
          </a:bodyPr>
          <a:lstStyle/>
          <a:p>
            <a:pPr algn="l"/>
            <a:r>
              <a:rPr sz="2800" b="0" i="0">
                <a:solidFill>
                  <a:srgbClr val="FFFFFF"/>
                </a:solidFill>
                <a:latin typeface="Calibri"/>
              </a:rPr>
              <a:t>📦</a:t>
            </a:r>
          </a:p>
        </p:txBody>
      </p:sp>
      <p:sp>
        <p:nvSpPr>
          <p:cNvPr id="9" name="TextBox 8"/>
          <p:cNvSpPr txBox="1"/>
          <p:nvPr/>
        </p:nvSpPr>
        <p:spPr>
          <a:xfrm>
            <a:off x="594360" y="2606040"/>
            <a:ext cx="3291840" cy="365760"/>
          </a:xfrm>
          <a:prstGeom prst="rect">
            <a:avLst/>
          </a:prstGeom>
          <a:noFill/>
        </p:spPr>
        <p:txBody>
          <a:bodyPr wrap="square">
            <a:spAutoFit/>
          </a:bodyPr>
          <a:lstStyle/>
          <a:p>
            <a:pPr algn="l"/>
            <a:r>
              <a:rPr sz="1000" b="1" i="0">
                <a:solidFill>
                  <a:srgbClr val="7C3AED"/>
                </a:solidFill>
                <a:latin typeface="Calibri"/>
              </a:rPr>
              <a:t>Task 1</a:t>
            </a:r>
          </a:p>
        </p:txBody>
      </p:sp>
      <p:sp>
        <p:nvSpPr>
          <p:cNvPr id="10" name="TextBox 9"/>
          <p:cNvSpPr txBox="1"/>
          <p:nvPr/>
        </p:nvSpPr>
        <p:spPr>
          <a:xfrm>
            <a:off x="594360" y="2926080"/>
            <a:ext cx="3383280" cy="457200"/>
          </a:xfrm>
          <a:prstGeom prst="rect">
            <a:avLst/>
          </a:prstGeom>
          <a:noFill/>
        </p:spPr>
        <p:txBody>
          <a:bodyPr wrap="square">
            <a:spAutoFit/>
          </a:bodyPr>
          <a:lstStyle/>
          <a:p>
            <a:pPr algn="l"/>
            <a:r>
              <a:rPr sz="1400" b="1" i="0">
                <a:solidFill>
                  <a:srgbClr val="FFFFFF"/>
                </a:solidFill>
                <a:latin typeface="Calibri"/>
              </a:rPr>
              <a:t>Automated Corpus Creation</a:t>
            </a:r>
          </a:p>
        </p:txBody>
      </p:sp>
      <p:sp>
        <p:nvSpPr>
          <p:cNvPr id="11" name="TextBox 10"/>
          <p:cNvSpPr txBox="1"/>
          <p:nvPr/>
        </p:nvSpPr>
        <p:spPr>
          <a:xfrm>
            <a:off x="594360" y="3383280"/>
            <a:ext cx="3383280" cy="830997"/>
          </a:xfrm>
          <a:prstGeom prst="rect">
            <a:avLst/>
          </a:prstGeom>
          <a:noFill/>
        </p:spPr>
        <p:txBody>
          <a:bodyPr wrap="square" lIns="91440" tIns="45720" rIns="91440" bIns="45720" anchor="t">
            <a:spAutoFit/>
          </a:bodyPr>
          <a:lstStyle/>
          <a:p>
            <a:r>
              <a:rPr sz="1200" b="0" dirty="0">
                <a:solidFill>
                  <a:srgbClr val="94A3B8"/>
                </a:solidFill>
                <a:latin typeface="Calibri"/>
              </a:rPr>
              <a:t> pipeline: load, filter,</a:t>
            </a:r>
          </a:p>
          <a:p>
            <a:r>
              <a:rPr sz="1200" b="0">
                <a:solidFill>
                  <a:srgbClr val="94A3B8"/>
                </a:solidFill>
                <a:latin typeface="Calibri"/>
              </a:rPr>
              <a:t>naturalness check, PageRank</a:t>
            </a:r>
          </a:p>
          <a:p>
            <a:r>
              <a:rPr sz="1200" b="0">
                <a:solidFill>
                  <a:srgbClr val="94A3B8"/>
                </a:solidFill>
                <a:latin typeface="Calibri"/>
              </a:rPr>
              <a:t>ranking, instance generation.</a:t>
            </a:r>
          </a:p>
          <a:p>
            <a:r>
              <a:rPr sz="1200" b="1">
                <a:solidFill>
                  <a:srgbClr val="7C3AED"/>
                </a:solidFill>
                <a:latin typeface="Calibri"/>
              </a:rPr>
              <a:t>→ 12,903 detection instances</a:t>
            </a:r>
          </a:p>
        </p:txBody>
      </p:sp>
      <p:sp>
        <p:nvSpPr>
          <p:cNvPr id="12" name="Rectangle 11"/>
          <p:cNvSpPr/>
          <p:nvPr/>
        </p:nvSpPr>
        <p:spPr>
          <a:xfrm>
            <a:off x="4389120" y="1920240"/>
            <a:ext cx="3657600" cy="4297680"/>
          </a:xfrm>
          <a:prstGeom prst="rect">
            <a:avLst/>
          </a:prstGeom>
          <a:solidFill>
            <a:srgbClr val="1A253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920240"/>
            <a:ext cx="365760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2011680"/>
            <a:ext cx="731520" cy="640080"/>
          </a:xfrm>
          <a:prstGeom prst="rect">
            <a:avLst/>
          </a:prstGeom>
          <a:noFill/>
        </p:spPr>
        <p:txBody>
          <a:bodyPr wrap="square">
            <a:spAutoFit/>
          </a:bodyPr>
          <a:lstStyle/>
          <a:p>
            <a:pPr algn="l"/>
            <a:r>
              <a:rPr sz="2800" b="0" i="0">
                <a:solidFill>
                  <a:srgbClr val="FFFFFF"/>
                </a:solidFill>
                <a:latin typeface="Calibri"/>
              </a:rPr>
              <a:t>🔍</a:t>
            </a:r>
          </a:p>
        </p:txBody>
      </p:sp>
      <p:sp>
        <p:nvSpPr>
          <p:cNvPr id="15" name="TextBox 14"/>
          <p:cNvSpPr txBox="1"/>
          <p:nvPr/>
        </p:nvSpPr>
        <p:spPr>
          <a:xfrm>
            <a:off x="4526280" y="2606040"/>
            <a:ext cx="3291840" cy="246221"/>
          </a:xfrm>
          <a:prstGeom prst="rect">
            <a:avLst/>
          </a:prstGeom>
          <a:noFill/>
        </p:spPr>
        <p:txBody>
          <a:bodyPr wrap="square" lIns="91440" tIns="45720" rIns="91440" bIns="45720" anchor="t">
            <a:spAutoFit/>
          </a:bodyPr>
          <a:lstStyle/>
          <a:p>
            <a:pPr algn="l"/>
            <a:r>
              <a:rPr sz="1000" b="1" i="0">
                <a:solidFill>
                  <a:srgbClr val="06B6D4"/>
                </a:solidFill>
                <a:latin typeface="Calibri"/>
              </a:rPr>
              <a:t>Task </a:t>
            </a:r>
            <a:r>
              <a:rPr lang="en-US" sz="1000" b="1">
                <a:solidFill>
                  <a:srgbClr val="06B6D4"/>
                </a:solidFill>
                <a:latin typeface="Calibri"/>
              </a:rPr>
              <a:t>2</a:t>
            </a:r>
            <a:endParaRPr sz="1000" b="1" i="0">
              <a:solidFill>
                <a:srgbClr val="06B6D4"/>
              </a:solidFill>
              <a:latin typeface="Calibri"/>
            </a:endParaRPr>
          </a:p>
        </p:txBody>
      </p:sp>
      <p:sp>
        <p:nvSpPr>
          <p:cNvPr id="16" name="TextBox 15"/>
          <p:cNvSpPr txBox="1"/>
          <p:nvPr/>
        </p:nvSpPr>
        <p:spPr>
          <a:xfrm>
            <a:off x="4526280" y="2926080"/>
            <a:ext cx="3383280" cy="457200"/>
          </a:xfrm>
          <a:prstGeom prst="rect">
            <a:avLst/>
          </a:prstGeom>
          <a:noFill/>
        </p:spPr>
        <p:txBody>
          <a:bodyPr wrap="square">
            <a:spAutoFit/>
          </a:bodyPr>
          <a:lstStyle/>
          <a:p>
            <a:pPr algn="l"/>
            <a:r>
              <a:rPr sz="1400" b="1" i="0">
                <a:solidFill>
                  <a:srgbClr val="FFFFFF"/>
                </a:solidFill>
                <a:latin typeface="Calibri"/>
              </a:rPr>
              <a:t>Enthymeme Detection</a:t>
            </a:r>
          </a:p>
        </p:txBody>
      </p:sp>
      <p:sp>
        <p:nvSpPr>
          <p:cNvPr id="17" name="TextBox 16"/>
          <p:cNvSpPr txBox="1"/>
          <p:nvPr/>
        </p:nvSpPr>
        <p:spPr>
          <a:xfrm>
            <a:off x="4526280" y="3383280"/>
            <a:ext cx="3383280" cy="2560320"/>
          </a:xfrm>
          <a:prstGeom prst="rect">
            <a:avLst/>
          </a:prstGeom>
          <a:noFill/>
        </p:spPr>
        <p:txBody>
          <a:bodyPr wrap="square">
            <a:spAutoFit/>
          </a:bodyPr>
          <a:lstStyle/>
          <a:p>
            <a:r>
              <a:rPr sz="1200" b="0">
                <a:solidFill>
                  <a:srgbClr val="94A3B8"/>
                </a:solidFill>
                <a:latin typeface="Calibri"/>
              </a:rPr>
              <a:t>DeBERTa-base binary classifier.</a:t>
            </a:r>
          </a:p>
          <a:p>
            <a:r>
              <a:rPr sz="1200" b="0">
                <a:solidFill>
                  <a:srgbClr val="94A3B8"/>
                </a:solidFill>
                <a:latin typeface="Calibri"/>
              </a:rPr>
              <a:t>Given [SEP]-marked argument,</a:t>
            </a:r>
          </a:p>
          <a:p>
            <a:r>
              <a:rPr sz="1200" b="0">
                <a:solidFill>
                  <a:srgbClr val="94A3B8"/>
                </a:solidFill>
                <a:latin typeface="Calibri"/>
              </a:rPr>
              <a:t>predict if gap is real (1) or</a:t>
            </a:r>
          </a:p>
          <a:p>
            <a:r>
              <a:rPr sz="1200" b="0">
                <a:solidFill>
                  <a:srgbClr val="94A3B8"/>
                </a:solidFill>
                <a:latin typeface="Calibri"/>
              </a:rPr>
              <a:t>distractor (0).  F1: 59.1%</a:t>
            </a:r>
          </a:p>
        </p:txBody>
      </p:sp>
      <p:sp>
        <p:nvSpPr>
          <p:cNvPr id="18" name="Rectangle 17"/>
          <p:cNvSpPr/>
          <p:nvPr/>
        </p:nvSpPr>
        <p:spPr>
          <a:xfrm>
            <a:off x="8321040" y="1920240"/>
            <a:ext cx="3657600" cy="4297680"/>
          </a:xfrm>
          <a:prstGeom prst="rect">
            <a:avLst/>
          </a:prstGeom>
          <a:solidFill>
            <a:srgbClr val="1A253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321040" y="1920240"/>
            <a:ext cx="365760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58200" y="2011680"/>
            <a:ext cx="731520" cy="640080"/>
          </a:xfrm>
          <a:prstGeom prst="rect">
            <a:avLst/>
          </a:prstGeom>
          <a:noFill/>
        </p:spPr>
        <p:txBody>
          <a:bodyPr wrap="square">
            <a:spAutoFit/>
          </a:bodyPr>
          <a:lstStyle/>
          <a:p>
            <a:pPr algn="l"/>
            <a:r>
              <a:rPr sz="2800" b="0" i="0">
                <a:solidFill>
                  <a:srgbClr val="FFFFFF"/>
                </a:solidFill>
                <a:latin typeface="Calibri"/>
              </a:rPr>
              <a:t>✍️</a:t>
            </a:r>
          </a:p>
        </p:txBody>
      </p:sp>
      <p:sp>
        <p:nvSpPr>
          <p:cNvPr id="21" name="TextBox 20"/>
          <p:cNvSpPr txBox="1"/>
          <p:nvPr/>
        </p:nvSpPr>
        <p:spPr>
          <a:xfrm>
            <a:off x="8458200" y="2606040"/>
            <a:ext cx="3291840" cy="365760"/>
          </a:xfrm>
          <a:prstGeom prst="rect">
            <a:avLst/>
          </a:prstGeom>
          <a:noFill/>
        </p:spPr>
        <p:txBody>
          <a:bodyPr wrap="square">
            <a:spAutoFit/>
          </a:bodyPr>
          <a:lstStyle/>
          <a:p>
            <a:pPr algn="l"/>
            <a:r>
              <a:rPr sz="1000" b="1" i="0">
                <a:solidFill>
                  <a:srgbClr val="34D399"/>
                </a:solidFill>
                <a:latin typeface="Calibri"/>
              </a:rPr>
              <a:t>Task 3</a:t>
            </a:r>
          </a:p>
        </p:txBody>
      </p:sp>
      <p:sp>
        <p:nvSpPr>
          <p:cNvPr id="22" name="TextBox 21"/>
          <p:cNvSpPr txBox="1"/>
          <p:nvPr/>
        </p:nvSpPr>
        <p:spPr>
          <a:xfrm>
            <a:off x="8458200" y="2926080"/>
            <a:ext cx="3383280" cy="457200"/>
          </a:xfrm>
          <a:prstGeom prst="rect">
            <a:avLst/>
          </a:prstGeom>
          <a:noFill/>
        </p:spPr>
        <p:txBody>
          <a:bodyPr wrap="square">
            <a:spAutoFit/>
          </a:bodyPr>
          <a:lstStyle/>
          <a:p>
            <a:pPr algn="l"/>
            <a:r>
              <a:rPr sz="1400" b="1" i="0">
                <a:solidFill>
                  <a:srgbClr val="FFFFFF"/>
                </a:solidFill>
                <a:latin typeface="Calibri"/>
              </a:rPr>
              <a:t>Enthymeme Reconstruction</a:t>
            </a:r>
          </a:p>
        </p:txBody>
      </p:sp>
      <p:sp>
        <p:nvSpPr>
          <p:cNvPr id="23" name="TextBox 22"/>
          <p:cNvSpPr txBox="1"/>
          <p:nvPr/>
        </p:nvSpPr>
        <p:spPr>
          <a:xfrm>
            <a:off x="8458200" y="3383280"/>
            <a:ext cx="3383280" cy="2560320"/>
          </a:xfrm>
          <a:prstGeom prst="rect">
            <a:avLst/>
          </a:prstGeom>
          <a:noFill/>
        </p:spPr>
        <p:txBody>
          <a:bodyPr wrap="square">
            <a:spAutoFit/>
          </a:bodyPr>
          <a:lstStyle/>
          <a:p>
            <a:r>
              <a:rPr sz="1200" b="0">
                <a:solidFill>
                  <a:srgbClr val="94A3B8"/>
                </a:solidFill>
                <a:latin typeface="Calibri"/>
              </a:rPr>
              <a:t>BART seq2seq model.</a:t>
            </a:r>
          </a:p>
          <a:p>
            <a:r>
              <a:rPr sz="1200" b="0">
                <a:solidFill>
                  <a:srgbClr val="94A3B8"/>
                </a:solidFill>
                <a:latin typeface="Calibri"/>
              </a:rPr>
              <a:t>Input: paragraph + [MISSING].</a:t>
            </a:r>
          </a:p>
          <a:p>
            <a:r>
              <a:rPr sz="1200" b="0">
                <a:solidFill>
                  <a:srgbClr val="94A3B8"/>
                </a:solidFill>
                <a:latin typeface="Calibri"/>
              </a:rPr>
              <a:t>Output: full restored paragraph.</a:t>
            </a:r>
          </a:p>
          <a:p>
            <a:r>
              <a:rPr sz="1200" b="1">
                <a:solidFill>
                  <a:srgbClr val="34D399"/>
                </a:solidFill>
                <a:latin typeface="Calibri"/>
              </a:rPr>
              <a:t>→ 3,110 training instances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230832"/>
          </a:xfrm>
          <a:prstGeom prst="rect">
            <a:avLst/>
          </a:prstGeom>
          <a:noFill/>
        </p:spPr>
        <p:txBody>
          <a:bodyPr wrap="square" lIns="91440" tIns="45720" rIns="91440" bIns="45720" anchor="t">
            <a:spAutoFit/>
          </a:bodyPr>
          <a:lstStyle/>
          <a:p>
            <a:pPr algn="l"/>
            <a:r>
              <a:rPr sz="900" b="1" i="0">
                <a:solidFill>
                  <a:srgbClr val="06B6D4"/>
                </a:solidFill>
                <a:latin typeface="Calibri"/>
              </a:rPr>
              <a:t>TASK 1  ·  CORPUS CREATION  ·  STEPS </a:t>
            </a:r>
            <a:r>
              <a:rPr lang="en-US" sz="900" b="1">
                <a:solidFill>
                  <a:srgbClr val="06B6D4"/>
                </a:solidFill>
                <a:latin typeface="Calibri"/>
              </a:rPr>
              <a:t>1–5</a:t>
            </a:r>
            <a:endParaRPr sz="900" b="1" i="0">
              <a:solidFill>
                <a:srgbClr val="06B6D4"/>
              </a:solidFill>
              <a:latin typeface="Calibri"/>
            </a:endParaRP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Pipeline: Loading, Filtering &amp; Naturalness</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Source: mind_the_gap_dataset.csv  →  4,466 raw arguments</a:t>
            </a:r>
          </a:p>
        </p:txBody>
      </p:sp>
      <p:sp>
        <p:nvSpPr>
          <p:cNvPr id="6" name="TextBox 5"/>
          <p:cNvSpPr txBox="1"/>
          <p:nvPr/>
        </p:nvSpPr>
        <p:spPr>
          <a:xfrm>
            <a:off x="548640" y="1737360"/>
            <a:ext cx="10972800" cy="4846320"/>
          </a:xfrm>
          <a:prstGeom prst="rect">
            <a:avLst/>
          </a:prstGeom>
          <a:noFill/>
        </p:spPr>
        <p:txBody>
          <a:bodyPr wrap="square">
            <a:spAutoFit/>
          </a:bodyPr>
          <a:lstStyle/>
          <a:p>
            <a:pPr>
              <a:spcBef>
                <a:spcPts val="600"/>
              </a:spcBef>
            </a:pPr>
            <a:r>
              <a:rPr sz="1500" b="1">
                <a:solidFill>
                  <a:srgbClr val="06B6D4"/>
                </a:solidFill>
                <a:latin typeface="Calibri"/>
              </a:rPr>
              <a:t>Step 1 — Dataset Loading</a:t>
            </a:r>
          </a:p>
          <a:p>
            <a:pPr>
              <a:spcBef>
                <a:spcPts val="300"/>
              </a:spcBef>
            </a:pPr>
            <a:r>
              <a:rPr sz="1250">
                <a:solidFill>
                  <a:srgbClr val="E2E8F0"/>
                </a:solidFill>
                <a:latin typeface="Calibri"/>
              </a:rPr>
              <a:t>Input: mind_the_gap_dataset.csv  |  spaCy sentence splitting (batch=256)</a:t>
            </a:r>
          </a:p>
          <a:p>
            <a:pPr>
              <a:spcBef>
                <a:spcPts val="300"/>
              </a:spcBef>
            </a:pPr>
            <a:r>
              <a:rPr sz="1250">
                <a:solidFill>
                  <a:srgbClr val="E2E8F0"/>
                </a:solidFill>
                <a:latin typeface="Calibri"/>
              </a:rPr>
              <a:t>Drop null/empty rows  →  4,466 valid arguments loaded</a:t>
            </a:r>
          </a:p>
          <a:p>
            <a:endParaRPr sz="1250">
              <a:solidFill>
                <a:srgbClr val="E2E8F0"/>
              </a:solidFill>
              <a:latin typeface="Calibri"/>
            </a:endParaRPr>
          </a:p>
          <a:p>
            <a:pPr>
              <a:spcBef>
                <a:spcPts val="600"/>
              </a:spcBef>
            </a:pPr>
            <a:r>
              <a:rPr sz="1500" b="1">
                <a:solidFill>
                  <a:srgbClr val="06B6D4"/>
                </a:solidFill>
                <a:latin typeface="Calibri"/>
              </a:rPr>
              <a:t>Step 2 — Argument Length Filtering  (≥4 sentences)</a:t>
            </a:r>
          </a:p>
          <a:p>
            <a:pPr>
              <a:spcBef>
                <a:spcPts val="300"/>
              </a:spcBef>
            </a:pPr>
            <a:r>
              <a:rPr sz="1250">
                <a:solidFill>
                  <a:srgbClr val="E2E8F0"/>
                </a:solidFill>
                <a:latin typeface="Calibri"/>
              </a:rPr>
              <a:t>Rule: keep only arguments with at least 4 sentences</a:t>
            </a:r>
          </a:p>
          <a:p>
            <a:pPr>
              <a:spcBef>
                <a:spcPts val="300"/>
              </a:spcBef>
            </a:pPr>
            <a:r>
              <a:rPr sz="1250">
                <a:solidFill>
                  <a:srgbClr val="E2E8F0"/>
                </a:solidFill>
                <a:latin typeface="Calibri"/>
              </a:rPr>
              <a:t>Removed: 23 short arguments  →  Kept: 4,443  (99.48% retention)</a:t>
            </a:r>
          </a:p>
          <a:p>
            <a:pPr>
              <a:spcBef>
                <a:spcPts val="300"/>
              </a:spcBef>
            </a:pPr>
            <a:r>
              <a:rPr sz="1250">
                <a:solidFill>
                  <a:srgbClr val="E2E8F0"/>
                </a:solidFill>
                <a:latin typeface="Calibri"/>
              </a:rPr>
              <a:t>Sentence peak distribution: 4–6 sentences per argument</a:t>
            </a:r>
          </a:p>
          <a:p>
            <a:endParaRPr sz="1250">
              <a:solidFill>
                <a:srgbClr val="E2E8F0"/>
              </a:solidFill>
              <a:latin typeface="Calibri"/>
            </a:endParaRPr>
          </a:p>
          <a:p>
            <a:pPr>
              <a:spcBef>
                <a:spcPts val="600"/>
              </a:spcBef>
            </a:pPr>
            <a:r>
              <a:rPr sz="1500" b="1">
                <a:solidFill>
                  <a:srgbClr val="06B6D4"/>
                </a:solidFill>
                <a:latin typeface="Calibri"/>
              </a:rPr>
              <a:t>Step 3 — Naturalness Filtering  (Hybrid 2-Stage)</a:t>
            </a:r>
          </a:p>
          <a:p>
            <a:pPr>
              <a:spcBef>
                <a:spcPts val="300"/>
              </a:spcBef>
            </a:pPr>
            <a:r>
              <a:rPr sz="1250">
                <a:solidFill>
                  <a:srgbClr val="E2E8F0"/>
                </a:solidFill>
                <a:latin typeface="Calibri"/>
              </a:rPr>
              <a:t>Stage 1 — Heuristic guard: blocks discourse connectives at start of next sentence</a:t>
            </a:r>
          </a:p>
          <a:p>
            <a:pPr>
              <a:spcBef>
                <a:spcPts val="100"/>
              </a:spcBef>
            </a:pPr>
            <a:r>
              <a:rPr sz="1150">
                <a:solidFill>
                  <a:srgbClr val="94A3B8"/>
                </a:solidFill>
                <a:latin typeface="Calibri"/>
              </a:rPr>
              <a:t>Blocked tokens: however, therefore, thus, hence, this, these, consequently</a:t>
            </a:r>
          </a:p>
          <a:p>
            <a:pPr>
              <a:spcBef>
                <a:spcPts val="300"/>
              </a:spcBef>
            </a:pPr>
            <a:r>
              <a:rPr sz="1250">
                <a:solidFill>
                  <a:srgbClr val="E2E8F0"/>
                </a:solidFill>
                <a:latin typeface="Calibri"/>
              </a:rPr>
              <a:t>Stage 2 — BERT NSP: bert-base-uncased checks S(i-1) → S(i+1) coherence</a:t>
            </a:r>
          </a:p>
          <a:p>
            <a:pPr>
              <a:spcBef>
                <a:spcPts val="300"/>
              </a:spcBef>
            </a:pPr>
            <a:r>
              <a:rPr sz="1250">
                <a:solidFill>
                  <a:srgbClr val="E2E8F0"/>
                </a:solidFill>
                <a:latin typeface="Calibri"/>
              </a:rPr>
              <a:t>Only arguments with ≥1 safe ADU removal candidate pass this stage</a:t>
            </a:r>
          </a:p>
          <a:p>
            <a:pPr>
              <a:spcBef>
                <a:spcPts val="300"/>
              </a:spcBef>
            </a:pPr>
            <a:r>
              <a:rPr sz="1250">
                <a:solidFill>
                  <a:srgbClr val="E2E8F0"/>
                </a:solidFill>
                <a:latin typeface="Calibri"/>
              </a:rPr>
              <a:t>Output: mtg_step3a_naturalness.csv  →  arguments with valid removal positions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06B6D4"/>
                </a:solidFill>
                <a:latin typeface="Calibri"/>
              </a:rPr>
              <a:t>TASK 1  ·  CORPUS CREATION  ·  STEPS 4–5</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Pipeline: PageRank Ranking &amp; Instance Generation</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Selecting the best sentence to remove and building detection instances</a:t>
            </a:r>
          </a:p>
        </p:txBody>
      </p:sp>
      <p:sp>
        <p:nvSpPr>
          <p:cNvPr id="6" name="TextBox 5"/>
          <p:cNvSpPr txBox="1"/>
          <p:nvPr/>
        </p:nvSpPr>
        <p:spPr>
          <a:xfrm>
            <a:off x="548640" y="1737360"/>
            <a:ext cx="10972800" cy="4846320"/>
          </a:xfrm>
          <a:prstGeom prst="rect">
            <a:avLst/>
          </a:prstGeom>
          <a:noFill/>
        </p:spPr>
        <p:txBody>
          <a:bodyPr wrap="square">
            <a:spAutoFit/>
          </a:bodyPr>
          <a:lstStyle/>
          <a:p>
            <a:pPr>
              <a:spcBef>
                <a:spcPts val="600"/>
              </a:spcBef>
            </a:pPr>
            <a:r>
              <a:rPr sz="1500" b="1">
                <a:solidFill>
                  <a:srgbClr val="06B6D4"/>
                </a:solidFill>
                <a:latin typeface="Calibri"/>
              </a:rPr>
              <a:t>Step 4 — PageRank ADU Scoring</a:t>
            </a:r>
          </a:p>
          <a:p>
            <a:pPr>
              <a:spcBef>
                <a:spcPts val="300"/>
              </a:spcBef>
            </a:pPr>
            <a:r>
              <a:rPr sz="1250">
                <a:solidFill>
                  <a:srgbClr val="E2E8F0"/>
                </a:solidFill>
                <a:latin typeface="Calibri"/>
              </a:rPr>
              <a:t>Combined matrix:  M = 0.5 × A  +  0.5 × B</a:t>
            </a:r>
          </a:p>
          <a:p>
            <a:pPr>
              <a:spcBef>
                <a:spcPts val="300"/>
              </a:spcBef>
            </a:pPr>
            <a:r>
              <a:rPr sz="1250">
                <a:solidFill>
                  <a:srgbClr val="E2E8F0"/>
                </a:solidFill>
                <a:latin typeface="Calibri"/>
              </a:rPr>
              <a:t>Matrix A: Semantic centrality — sBERT (all-MiniLM-L6-v2) cosine similarity</a:t>
            </a:r>
          </a:p>
          <a:p>
            <a:pPr>
              <a:spcBef>
                <a:spcPts val="300"/>
              </a:spcBef>
            </a:pPr>
            <a:r>
              <a:rPr sz="1250">
                <a:solidFill>
                  <a:srgbClr val="E2E8F0"/>
                </a:solidFill>
                <a:latin typeface="Calibri"/>
              </a:rPr>
              <a:t>Matrix B: Quality reduction — BART-Large-MNLI zero-shot argument quality scoring</a:t>
            </a:r>
          </a:p>
          <a:p>
            <a:pPr>
              <a:spcBef>
                <a:spcPts val="300"/>
              </a:spcBef>
            </a:pPr>
            <a:r>
              <a:rPr sz="1250">
                <a:solidFill>
                  <a:srgbClr val="E2E8F0"/>
                </a:solidFill>
                <a:latin typeface="Calibri"/>
              </a:rPr>
              <a:t>Power iteration (100 cycles)  →  highest-ranked sentence selected as enthymeme</a:t>
            </a:r>
          </a:p>
          <a:p>
            <a:pPr>
              <a:spcBef>
                <a:spcPts val="300"/>
              </a:spcBef>
            </a:pPr>
            <a:r>
              <a:rPr sz="1250">
                <a:solidFill>
                  <a:srgbClr val="E2E8F0"/>
                </a:solidFill>
                <a:latin typeface="Calibri"/>
              </a:rPr>
              <a:t>Saves: removed_sentence, removed_idx, pagerank_score, adu_label per argument</a:t>
            </a:r>
          </a:p>
          <a:p>
            <a:endParaRPr sz="1250">
              <a:solidFill>
                <a:srgbClr val="E2E8F0"/>
              </a:solidFill>
              <a:latin typeface="Calibri"/>
            </a:endParaRPr>
          </a:p>
          <a:p>
            <a:pPr>
              <a:spcBef>
                <a:spcPts val="600"/>
              </a:spcBef>
            </a:pPr>
            <a:r>
              <a:rPr sz="1500" b="1">
                <a:solidFill>
                  <a:srgbClr val="06B6D4"/>
                </a:solidFill>
                <a:latin typeface="Calibri"/>
              </a:rPr>
              <a:t>Step 5 — Detection Instance Generation  (3 instances per argument)</a:t>
            </a:r>
          </a:p>
          <a:p>
            <a:pPr>
              <a:spcBef>
                <a:spcPts val="300"/>
              </a:spcBef>
            </a:pPr>
            <a:r>
              <a:rPr sz="1250">
                <a:solidFill>
                  <a:srgbClr val="E2E8F0"/>
                </a:solidFill>
                <a:latin typeface="Calibri"/>
              </a:rPr>
              <a:t>Positive (label=1):   [SEP] inserted at true gap position</a:t>
            </a:r>
          </a:p>
          <a:p>
            <a:pPr>
              <a:spcBef>
                <a:spcPts val="300"/>
              </a:spcBef>
            </a:pPr>
            <a:r>
              <a:rPr sz="1250">
                <a:solidFill>
                  <a:srgbClr val="E2E8F0"/>
                </a:solidFill>
                <a:latin typeface="Calibri"/>
              </a:rPr>
              <a:t>Negative A (label=0): [SEP] inserted at a wrong position within same argument</a:t>
            </a:r>
          </a:p>
          <a:p>
            <a:pPr>
              <a:spcBef>
                <a:spcPts val="300"/>
              </a:spcBef>
            </a:pPr>
            <a:r>
              <a:rPr sz="1250">
                <a:solidFill>
                  <a:srgbClr val="E2E8F0"/>
                </a:solidFill>
                <a:latin typeface="Calibri"/>
              </a:rPr>
              <a:t>Negative B (label=0): full argument + random [SEP] placement (robustness)</a:t>
            </a:r>
          </a:p>
          <a:p>
            <a:endParaRPr sz="1250">
              <a:solidFill>
                <a:srgbClr val="E2E8F0"/>
              </a:solidFill>
              <a:latin typeface="Calibri"/>
            </a:endParaRPr>
          </a:p>
          <a:p>
            <a:pPr>
              <a:spcBef>
                <a:spcPts val="600"/>
              </a:spcBef>
            </a:pPr>
            <a:r>
              <a:rPr sz="1500" b="1">
                <a:solidFill>
                  <a:srgbClr val="06B6D4"/>
                </a:solidFill>
                <a:latin typeface="Calibri"/>
              </a:rPr>
              <a:t>Quality Guards  (beyond Stahl et al. 2023)</a:t>
            </a:r>
          </a:p>
          <a:p>
            <a:pPr>
              <a:spcBef>
                <a:spcPts val="300"/>
              </a:spcBef>
            </a:pPr>
            <a:r>
              <a:rPr sz="1250">
                <a:solidFill>
                  <a:srgbClr val="E2E8F0"/>
                </a:solidFill>
                <a:latin typeface="Calibri"/>
              </a:rPr>
              <a:t>Antecedent Lock: skips instances where sentence after gap starts with discourse hook</a:t>
            </a:r>
          </a:p>
          <a:p>
            <a:pPr>
              <a:spcBef>
                <a:spcPts val="300"/>
              </a:spcBef>
            </a:pPr>
            <a:r>
              <a:rPr sz="1250">
                <a:solidFill>
                  <a:srgbClr val="E2E8F0"/>
                </a:solidFill>
                <a:latin typeface="Calibri"/>
              </a:rPr>
              <a:t>Context Minimum: skips arguments with &lt;3 sentences or &lt;100 characters</a:t>
            </a:r>
          </a:p>
          <a:p>
            <a:pPr>
              <a:spcBef>
                <a:spcPts val="300"/>
              </a:spcBef>
            </a:pPr>
            <a:r>
              <a:rPr sz="1250">
                <a:solidFill>
                  <a:srgbClr val="E2E8F0"/>
                </a:solidFill>
                <a:latin typeface="Calibri"/>
              </a:rPr>
              <a:t>ID-based split ensures zero data leakage across train / val / test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34D399"/>
                </a:solidFill>
                <a:latin typeface="Calibri"/>
              </a:rPr>
              <a:t>TASK 1  ·  IMPLEMENTATION INNOVATIONS</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Quality Guards Implemented</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Two additional safeguards beyond the original Stahl et al. 2023 paper</a:t>
            </a:r>
          </a:p>
        </p:txBody>
      </p:sp>
      <p:sp>
        <p:nvSpPr>
          <p:cNvPr id="6" name="Rectangle 5"/>
          <p:cNvSpPr/>
          <p:nvPr/>
        </p:nvSpPr>
        <p:spPr>
          <a:xfrm>
            <a:off x="457200" y="1920240"/>
            <a:ext cx="5303520" cy="4206240"/>
          </a:xfrm>
          <a:prstGeom prst="rect">
            <a:avLst/>
          </a:prstGeom>
          <a:solidFill>
            <a:srgbClr val="16242E"/>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920240"/>
            <a:ext cx="530352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993392"/>
            <a:ext cx="5029200" cy="502920"/>
          </a:xfrm>
          <a:prstGeom prst="rect">
            <a:avLst/>
          </a:prstGeom>
          <a:noFill/>
        </p:spPr>
        <p:txBody>
          <a:bodyPr wrap="square">
            <a:spAutoFit/>
          </a:bodyPr>
          <a:lstStyle/>
          <a:p>
            <a:pPr algn="l"/>
            <a:r>
              <a:rPr sz="1500" b="1" i="0">
                <a:solidFill>
                  <a:srgbClr val="06B6D4"/>
                </a:solidFill>
                <a:latin typeface="Calibri"/>
              </a:rPr>
              <a:t>🔒  Antecedent Lock Guard</a:t>
            </a:r>
          </a:p>
        </p:txBody>
      </p:sp>
      <p:sp>
        <p:nvSpPr>
          <p:cNvPr id="9" name="TextBox 8"/>
          <p:cNvSpPr txBox="1"/>
          <p:nvPr/>
        </p:nvSpPr>
        <p:spPr>
          <a:xfrm>
            <a:off x="594360" y="2514600"/>
            <a:ext cx="5120640" cy="3383280"/>
          </a:xfrm>
          <a:prstGeom prst="rect">
            <a:avLst/>
          </a:prstGeom>
          <a:noFill/>
        </p:spPr>
        <p:txBody>
          <a:bodyPr wrap="square">
            <a:spAutoFit/>
          </a:bodyPr>
          <a:lstStyle/>
          <a:p>
            <a:pPr>
              <a:spcBef>
                <a:spcPts val="300"/>
              </a:spcBef>
            </a:pPr>
            <a:r>
              <a:rPr sz="1200">
                <a:solidFill>
                  <a:srgbClr val="E2E8F0"/>
                </a:solidFill>
                <a:latin typeface="Calibri"/>
              </a:rPr>
              <a:t>Checks the sentence immediately AFTER the proposed gap</a:t>
            </a:r>
          </a:p>
          <a:p>
            <a:pPr>
              <a:spcBef>
                <a:spcPts val="300"/>
              </a:spcBef>
            </a:pPr>
            <a:r>
              <a:rPr sz="1200">
                <a:solidFill>
                  <a:srgbClr val="E2E8F0"/>
                </a:solidFill>
                <a:latin typeface="Calibri"/>
              </a:rPr>
              <a:t>If it starts with a discourse connective, the instance is discarded</a:t>
            </a:r>
          </a:p>
          <a:p>
            <a:endParaRPr sz="1200">
              <a:solidFill>
                <a:srgbClr val="E2E8F0"/>
              </a:solidFill>
              <a:latin typeface="Calibri"/>
            </a:endParaRPr>
          </a:p>
          <a:p>
            <a:r>
              <a:rPr sz="1200">
                <a:solidFill>
                  <a:srgbClr val="94A3B8"/>
                </a:solidFill>
                <a:latin typeface="Calibri"/>
              </a:rPr>
              <a:t>Blocked connectives:</a:t>
            </a:r>
          </a:p>
          <a:p>
            <a:pPr>
              <a:spcBef>
                <a:spcPts val="100"/>
              </a:spcBef>
            </a:pPr>
            <a:r>
              <a:rPr sz="1150">
                <a:solidFill>
                  <a:srgbClr val="94A3B8"/>
                </a:solidFill>
                <a:latin typeface="Calibri"/>
              </a:rPr>
              <a:t>therefore, however, thus, hence</a:t>
            </a:r>
          </a:p>
          <a:p>
            <a:pPr>
              <a:spcBef>
                <a:spcPts val="100"/>
              </a:spcBef>
            </a:pPr>
            <a:r>
              <a:rPr sz="1150">
                <a:solidFill>
                  <a:srgbClr val="94A3B8"/>
                </a:solidFill>
                <a:latin typeface="Calibri"/>
              </a:rPr>
              <a:t>this, these, consequently</a:t>
            </a:r>
          </a:p>
          <a:p>
            <a:endParaRPr sz="1150">
              <a:solidFill>
                <a:srgbClr val="94A3B8"/>
              </a:solidFill>
              <a:latin typeface="Calibri"/>
            </a:endParaRPr>
          </a:p>
          <a:p>
            <a:pPr>
              <a:spcBef>
                <a:spcPts val="300"/>
              </a:spcBef>
            </a:pPr>
            <a:r>
              <a:rPr sz="1200">
                <a:solidFill>
                  <a:srgbClr val="E2E8F0"/>
                </a:solidFill>
                <a:latin typeface="Calibri"/>
              </a:rPr>
              <a:t>Rationale: discourse hooks create orphaned transitions</a:t>
            </a:r>
          </a:p>
          <a:p>
            <a:r>
              <a:rPr sz="1200">
                <a:solidFill>
                  <a:srgbClr val="94A3B8"/>
                </a:solidFill>
                <a:latin typeface="Calibri"/>
              </a:rPr>
              <a:t>that make the enthymeme incoherent to read</a:t>
            </a:r>
          </a:p>
          <a:p>
            <a:pPr>
              <a:spcBef>
                <a:spcPts val="300"/>
              </a:spcBef>
            </a:pPr>
            <a:r>
              <a:rPr sz="1200">
                <a:solidFill>
                  <a:srgbClr val="E2E8F0"/>
                </a:solidFill>
                <a:latin typeface="Calibri"/>
              </a:rPr>
              <a:t>Prevents trivially detectable false-positive gaps</a:t>
            </a:r>
          </a:p>
        </p:txBody>
      </p:sp>
      <p:sp>
        <p:nvSpPr>
          <p:cNvPr id="10" name="Rectangle 9"/>
          <p:cNvSpPr/>
          <p:nvPr/>
        </p:nvSpPr>
        <p:spPr>
          <a:xfrm>
            <a:off x="6309360" y="1920240"/>
            <a:ext cx="5394960" cy="4206240"/>
          </a:xfrm>
          <a:prstGeom prst="rect">
            <a:avLst/>
          </a:prstGeom>
          <a:solidFill>
            <a:srgbClr val="16242E"/>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920240"/>
            <a:ext cx="53949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993392"/>
            <a:ext cx="5120640" cy="502920"/>
          </a:xfrm>
          <a:prstGeom prst="rect">
            <a:avLst/>
          </a:prstGeom>
          <a:noFill/>
        </p:spPr>
        <p:txBody>
          <a:bodyPr wrap="square">
            <a:spAutoFit/>
          </a:bodyPr>
          <a:lstStyle/>
          <a:p>
            <a:pPr algn="l"/>
            <a:r>
              <a:rPr sz="1500" b="1" i="0">
                <a:solidFill>
                  <a:srgbClr val="34D399"/>
                </a:solidFill>
                <a:latin typeface="Calibri"/>
              </a:rPr>
              <a:t>📏  Context Minimum Guard</a:t>
            </a:r>
          </a:p>
        </p:txBody>
      </p:sp>
      <p:sp>
        <p:nvSpPr>
          <p:cNvPr id="13" name="TextBox 12"/>
          <p:cNvSpPr txBox="1"/>
          <p:nvPr/>
        </p:nvSpPr>
        <p:spPr>
          <a:xfrm>
            <a:off x="6446520" y="2514600"/>
            <a:ext cx="5212080" cy="3383280"/>
          </a:xfrm>
          <a:prstGeom prst="rect">
            <a:avLst/>
          </a:prstGeom>
          <a:noFill/>
        </p:spPr>
        <p:txBody>
          <a:bodyPr wrap="square">
            <a:spAutoFit/>
          </a:bodyPr>
          <a:lstStyle/>
          <a:p>
            <a:pPr>
              <a:spcBef>
                <a:spcPts val="300"/>
              </a:spcBef>
            </a:pPr>
            <a:r>
              <a:rPr sz="1200">
                <a:solidFill>
                  <a:srgbClr val="E2E8F0"/>
                </a:solidFill>
                <a:latin typeface="Calibri"/>
              </a:rPr>
              <a:t>Checks the full argument BEFORE instance creation</a:t>
            </a:r>
          </a:p>
          <a:p>
            <a:pPr>
              <a:spcBef>
                <a:spcPts val="300"/>
              </a:spcBef>
            </a:pPr>
            <a:r>
              <a:rPr sz="1200">
                <a:solidFill>
                  <a:srgbClr val="E2E8F0"/>
                </a:solidFill>
                <a:latin typeface="Calibri"/>
              </a:rPr>
              <a:t>Arguments failing either threshold are skipped entirely</a:t>
            </a:r>
          </a:p>
          <a:p>
            <a:endParaRPr sz="1200">
              <a:solidFill>
                <a:srgbClr val="E2E8F0"/>
              </a:solidFill>
              <a:latin typeface="Calibri"/>
            </a:endParaRPr>
          </a:p>
          <a:p>
            <a:r>
              <a:rPr sz="1200">
                <a:solidFill>
                  <a:srgbClr val="94A3B8"/>
                </a:solidFill>
                <a:latin typeface="Calibri"/>
              </a:rPr>
              <a:t>Thresholds applied:</a:t>
            </a:r>
          </a:p>
          <a:p>
            <a:pPr>
              <a:spcBef>
                <a:spcPts val="100"/>
              </a:spcBef>
            </a:pPr>
            <a:r>
              <a:rPr sz="1150">
                <a:solidFill>
                  <a:srgbClr val="94A3B8"/>
                </a:solidFill>
                <a:latin typeface="Calibri"/>
              </a:rPr>
              <a:t>Minimum sentences:  3 sentences</a:t>
            </a:r>
          </a:p>
          <a:p>
            <a:pPr>
              <a:spcBef>
                <a:spcPts val="100"/>
              </a:spcBef>
            </a:pPr>
            <a:r>
              <a:rPr sz="1150">
                <a:solidFill>
                  <a:srgbClr val="94A3B8"/>
                </a:solidFill>
                <a:latin typeface="Calibri"/>
              </a:rPr>
              <a:t>Minimum characters: 100 characters</a:t>
            </a:r>
          </a:p>
          <a:p>
            <a:endParaRPr sz="1150">
              <a:solidFill>
                <a:srgbClr val="94A3B8"/>
              </a:solidFill>
              <a:latin typeface="Calibri"/>
            </a:endParaRPr>
          </a:p>
          <a:p>
            <a:pPr>
              <a:spcBef>
                <a:spcPts val="300"/>
              </a:spcBef>
            </a:pPr>
            <a:r>
              <a:rPr sz="1200">
                <a:solidFill>
                  <a:srgbClr val="E2E8F0"/>
                </a:solidFill>
                <a:latin typeface="Calibri"/>
              </a:rPr>
              <a:t>Rationale: very short arguments have insufficient</a:t>
            </a:r>
          </a:p>
          <a:p>
            <a:r>
              <a:rPr sz="1200">
                <a:solidFill>
                  <a:srgbClr val="94A3B8"/>
                </a:solidFill>
                <a:latin typeface="Calibri"/>
              </a:rPr>
              <a:t>context for the model to learn meaningful patterns</a:t>
            </a:r>
          </a:p>
          <a:p>
            <a:pPr>
              <a:spcBef>
                <a:spcPts val="300"/>
              </a:spcBef>
            </a:pPr>
            <a:r>
              <a:rPr sz="1200">
                <a:solidFill>
                  <a:srgbClr val="E2E8F0"/>
                </a:solidFill>
                <a:latin typeface="Calibri"/>
              </a:rPr>
              <a:t>Keeps reconstruction instances coherent &amp; informative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A78BFA"/>
                </a:solidFill>
                <a:latin typeface="Calibri"/>
              </a:rPr>
              <a:t>TASK 1  ·  CORPUS STATISTICS</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ADU Removal Distribution</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Your corpus vs. Stahl et al. 2023 ICLEv3 targets</a:t>
            </a:r>
          </a:p>
        </p:txBody>
      </p:sp>
      <p:sp>
        <p:nvSpPr>
          <p:cNvPr id="6" name="TextBox 5"/>
          <p:cNvSpPr txBox="1"/>
          <p:nvPr/>
        </p:nvSpPr>
        <p:spPr>
          <a:xfrm>
            <a:off x="457200" y="1920240"/>
            <a:ext cx="2560320" cy="365760"/>
          </a:xfrm>
          <a:prstGeom prst="rect">
            <a:avLst/>
          </a:prstGeom>
          <a:noFill/>
        </p:spPr>
        <p:txBody>
          <a:bodyPr wrap="square">
            <a:spAutoFit/>
          </a:bodyPr>
          <a:lstStyle/>
          <a:p>
            <a:pPr algn="l"/>
            <a:r>
              <a:rPr sz="1100" b="1" i="0">
                <a:solidFill>
                  <a:srgbClr val="FFFFFF"/>
                </a:solidFill>
                <a:latin typeface="Calibri"/>
              </a:rPr>
              <a:t>ADU Type</a:t>
            </a:r>
          </a:p>
        </p:txBody>
      </p:sp>
      <p:sp>
        <p:nvSpPr>
          <p:cNvPr id="7" name="TextBox 6"/>
          <p:cNvSpPr txBox="1"/>
          <p:nvPr/>
        </p:nvSpPr>
        <p:spPr>
          <a:xfrm>
            <a:off x="2743200" y="1920240"/>
            <a:ext cx="2560320" cy="365760"/>
          </a:xfrm>
          <a:prstGeom prst="rect">
            <a:avLst/>
          </a:prstGeom>
          <a:noFill/>
        </p:spPr>
        <p:txBody>
          <a:bodyPr wrap="square">
            <a:spAutoFit/>
          </a:bodyPr>
          <a:lstStyle/>
          <a:p>
            <a:pPr algn="l"/>
            <a:r>
              <a:rPr sz="1100" b="1" i="0">
                <a:solidFill>
                  <a:srgbClr val="06B6D4"/>
                </a:solidFill>
                <a:latin typeface="Calibri"/>
              </a:rPr>
              <a:t>Your Corpus</a:t>
            </a:r>
          </a:p>
        </p:txBody>
      </p:sp>
      <p:sp>
        <p:nvSpPr>
          <p:cNvPr id="8" name="TextBox 7"/>
          <p:cNvSpPr txBox="1"/>
          <p:nvPr/>
        </p:nvSpPr>
        <p:spPr>
          <a:xfrm>
            <a:off x="5486400" y="1920240"/>
            <a:ext cx="2560320" cy="365760"/>
          </a:xfrm>
          <a:prstGeom prst="rect">
            <a:avLst/>
          </a:prstGeom>
          <a:noFill/>
        </p:spPr>
        <p:txBody>
          <a:bodyPr wrap="square">
            <a:spAutoFit/>
          </a:bodyPr>
          <a:lstStyle/>
          <a:p>
            <a:pPr algn="l"/>
            <a:r>
              <a:rPr sz="1100" b="1" i="0">
                <a:solidFill>
                  <a:srgbClr val="A78BFA"/>
                </a:solidFill>
                <a:latin typeface="Calibri"/>
              </a:rPr>
              <a:t>Paper Target</a:t>
            </a:r>
          </a:p>
        </p:txBody>
      </p:sp>
      <p:sp>
        <p:nvSpPr>
          <p:cNvPr id="9" name="TextBox 8"/>
          <p:cNvSpPr txBox="1"/>
          <p:nvPr/>
        </p:nvSpPr>
        <p:spPr>
          <a:xfrm>
            <a:off x="8229600" y="1920240"/>
            <a:ext cx="2560320" cy="365760"/>
          </a:xfrm>
          <a:prstGeom prst="rect">
            <a:avLst/>
          </a:prstGeom>
          <a:noFill/>
        </p:spPr>
        <p:txBody>
          <a:bodyPr wrap="square">
            <a:spAutoFit/>
          </a:bodyPr>
          <a:lstStyle/>
          <a:p>
            <a:pPr algn="l"/>
            <a:r>
              <a:rPr sz="1100" b="1" i="0">
                <a:solidFill>
                  <a:srgbClr val="34D399"/>
                </a:solidFill>
                <a:latin typeface="Calibri"/>
              </a:rPr>
              <a:t>Match?</a:t>
            </a:r>
          </a:p>
        </p:txBody>
      </p:sp>
      <p:sp>
        <p:nvSpPr>
          <p:cNvPr id="10" name="Rectangle 9"/>
          <p:cNvSpPr/>
          <p:nvPr/>
        </p:nvSpPr>
        <p:spPr>
          <a:xfrm>
            <a:off x="457200" y="2304288"/>
            <a:ext cx="11247120" cy="2743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377440"/>
            <a:ext cx="11247120" cy="1005840"/>
          </a:xfrm>
          <a:prstGeom prst="rect">
            <a:avLst/>
          </a:prstGeom>
          <a:solidFill>
            <a:srgbClr val="16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651760"/>
            <a:ext cx="2286000" cy="457200"/>
          </a:xfrm>
          <a:prstGeom prst="rect">
            <a:avLst/>
          </a:prstGeom>
          <a:noFill/>
        </p:spPr>
        <p:txBody>
          <a:bodyPr wrap="square">
            <a:spAutoFit/>
          </a:bodyPr>
          <a:lstStyle/>
          <a:p>
            <a:pPr algn="l"/>
            <a:r>
              <a:rPr sz="1400" b="1" i="0">
                <a:solidFill>
                  <a:srgbClr val="FFFFFF"/>
                </a:solidFill>
                <a:latin typeface="Calibri"/>
              </a:rPr>
              <a:t>Premise</a:t>
            </a:r>
          </a:p>
        </p:txBody>
      </p:sp>
      <p:sp>
        <p:nvSpPr>
          <p:cNvPr id="13" name="TextBox 12"/>
          <p:cNvSpPr txBox="1"/>
          <p:nvPr/>
        </p:nvSpPr>
        <p:spPr>
          <a:xfrm>
            <a:off x="2743200" y="2651760"/>
            <a:ext cx="2286000" cy="457200"/>
          </a:xfrm>
          <a:prstGeom prst="rect">
            <a:avLst/>
          </a:prstGeom>
          <a:noFill/>
        </p:spPr>
        <p:txBody>
          <a:bodyPr wrap="square">
            <a:spAutoFit/>
          </a:bodyPr>
          <a:lstStyle/>
          <a:p>
            <a:pPr algn="l"/>
            <a:r>
              <a:rPr sz="1800" b="1" i="0">
                <a:solidFill>
                  <a:srgbClr val="06B6D4"/>
                </a:solidFill>
                <a:latin typeface="Calibri"/>
              </a:rPr>
              <a:t>~61.4%</a:t>
            </a:r>
          </a:p>
        </p:txBody>
      </p:sp>
      <p:sp>
        <p:nvSpPr>
          <p:cNvPr id="14" name="TextBox 13"/>
          <p:cNvSpPr txBox="1"/>
          <p:nvPr/>
        </p:nvSpPr>
        <p:spPr>
          <a:xfrm>
            <a:off x="5486400" y="2651760"/>
            <a:ext cx="2286000" cy="457200"/>
          </a:xfrm>
          <a:prstGeom prst="rect">
            <a:avLst/>
          </a:prstGeom>
          <a:noFill/>
        </p:spPr>
        <p:txBody>
          <a:bodyPr wrap="square">
            <a:spAutoFit/>
          </a:bodyPr>
          <a:lstStyle/>
          <a:p>
            <a:pPr algn="l"/>
            <a:r>
              <a:rPr sz="1800" b="1" i="0">
                <a:solidFill>
                  <a:srgbClr val="A78BFA"/>
                </a:solidFill>
                <a:latin typeface="Calibri"/>
              </a:rPr>
              <a:t>63.28%</a:t>
            </a:r>
          </a:p>
        </p:txBody>
      </p:sp>
      <p:sp>
        <p:nvSpPr>
          <p:cNvPr id="15" name="TextBox 14"/>
          <p:cNvSpPr txBox="1"/>
          <p:nvPr/>
        </p:nvSpPr>
        <p:spPr>
          <a:xfrm>
            <a:off x="8229600" y="2651760"/>
            <a:ext cx="3200400" cy="457200"/>
          </a:xfrm>
          <a:prstGeom prst="rect">
            <a:avLst/>
          </a:prstGeom>
          <a:noFill/>
        </p:spPr>
        <p:txBody>
          <a:bodyPr wrap="square">
            <a:spAutoFit/>
          </a:bodyPr>
          <a:lstStyle/>
          <a:p>
            <a:pPr algn="l"/>
            <a:r>
              <a:rPr sz="1400" b="1" i="0">
                <a:solidFill>
                  <a:srgbClr val="34D399"/>
                </a:solidFill>
                <a:latin typeface="Calibri"/>
              </a:rPr>
              <a:t>✅ Close</a:t>
            </a:r>
          </a:p>
        </p:txBody>
      </p:sp>
      <p:sp>
        <p:nvSpPr>
          <p:cNvPr id="16" name="Rectangle 15"/>
          <p:cNvSpPr/>
          <p:nvPr/>
        </p:nvSpPr>
        <p:spPr>
          <a:xfrm>
            <a:off x="457200" y="3520440"/>
            <a:ext cx="11247120" cy="1005840"/>
          </a:xfrm>
          <a:prstGeom prst="rect">
            <a:avLst/>
          </a:prstGeom>
          <a:solidFill>
            <a:srgbClr val="11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794760"/>
            <a:ext cx="2286000" cy="457200"/>
          </a:xfrm>
          <a:prstGeom prst="rect">
            <a:avLst/>
          </a:prstGeom>
          <a:noFill/>
        </p:spPr>
        <p:txBody>
          <a:bodyPr wrap="square">
            <a:spAutoFit/>
          </a:bodyPr>
          <a:lstStyle/>
          <a:p>
            <a:pPr algn="l"/>
            <a:r>
              <a:rPr sz="1400" b="1" i="0">
                <a:solidFill>
                  <a:srgbClr val="FFFFFF"/>
                </a:solidFill>
                <a:latin typeface="Calibri"/>
              </a:rPr>
              <a:t>Claim</a:t>
            </a:r>
          </a:p>
        </p:txBody>
      </p:sp>
      <p:sp>
        <p:nvSpPr>
          <p:cNvPr id="18" name="TextBox 17"/>
          <p:cNvSpPr txBox="1"/>
          <p:nvPr/>
        </p:nvSpPr>
        <p:spPr>
          <a:xfrm>
            <a:off x="2743200" y="3794760"/>
            <a:ext cx="2286000" cy="457200"/>
          </a:xfrm>
          <a:prstGeom prst="rect">
            <a:avLst/>
          </a:prstGeom>
          <a:noFill/>
        </p:spPr>
        <p:txBody>
          <a:bodyPr wrap="square">
            <a:spAutoFit/>
          </a:bodyPr>
          <a:lstStyle/>
          <a:p>
            <a:pPr algn="l"/>
            <a:r>
              <a:rPr sz="1800" b="1" i="0">
                <a:solidFill>
                  <a:srgbClr val="06B6D4"/>
                </a:solidFill>
                <a:latin typeface="Calibri"/>
              </a:rPr>
              <a:t>~32.9%</a:t>
            </a:r>
          </a:p>
        </p:txBody>
      </p:sp>
      <p:sp>
        <p:nvSpPr>
          <p:cNvPr id="19" name="TextBox 18"/>
          <p:cNvSpPr txBox="1"/>
          <p:nvPr/>
        </p:nvSpPr>
        <p:spPr>
          <a:xfrm>
            <a:off x="5486400" y="3794760"/>
            <a:ext cx="2286000" cy="457200"/>
          </a:xfrm>
          <a:prstGeom prst="rect">
            <a:avLst/>
          </a:prstGeom>
          <a:noFill/>
        </p:spPr>
        <p:txBody>
          <a:bodyPr wrap="square">
            <a:spAutoFit/>
          </a:bodyPr>
          <a:lstStyle/>
          <a:p>
            <a:pPr algn="l"/>
            <a:r>
              <a:rPr sz="1800" b="1" i="0">
                <a:solidFill>
                  <a:srgbClr val="A78BFA"/>
                </a:solidFill>
                <a:latin typeface="Calibri"/>
              </a:rPr>
              <a:t>30.97%</a:t>
            </a:r>
          </a:p>
        </p:txBody>
      </p:sp>
      <p:sp>
        <p:nvSpPr>
          <p:cNvPr id="20" name="TextBox 19"/>
          <p:cNvSpPr txBox="1"/>
          <p:nvPr/>
        </p:nvSpPr>
        <p:spPr>
          <a:xfrm>
            <a:off x="8229600" y="3794760"/>
            <a:ext cx="3200400" cy="457200"/>
          </a:xfrm>
          <a:prstGeom prst="rect">
            <a:avLst/>
          </a:prstGeom>
          <a:noFill/>
        </p:spPr>
        <p:txBody>
          <a:bodyPr wrap="square">
            <a:spAutoFit/>
          </a:bodyPr>
          <a:lstStyle/>
          <a:p>
            <a:pPr algn="l"/>
            <a:r>
              <a:rPr sz="1400" b="1" i="0">
                <a:solidFill>
                  <a:srgbClr val="34D399"/>
                </a:solidFill>
                <a:latin typeface="Calibri"/>
              </a:rPr>
              <a:t>✅ Close</a:t>
            </a:r>
          </a:p>
        </p:txBody>
      </p:sp>
      <p:sp>
        <p:nvSpPr>
          <p:cNvPr id="21" name="Rectangle 20"/>
          <p:cNvSpPr/>
          <p:nvPr/>
        </p:nvSpPr>
        <p:spPr>
          <a:xfrm>
            <a:off x="457200" y="4663440"/>
            <a:ext cx="11247120" cy="1005840"/>
          </a:xfrm>
          <a:prstGeom prst="rect">
            <a:avLst/>
          </a:prstGeom>
          <a:solidFill>
            <a:srgbClr val="16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937759"/>
            <a:ext cx="2286000" cy="457200"/>
          </a:xfrm>
          <a:prstGeom prst="rect">
            <a:avLst/>
          </a:prstGeom>
          <a:noFill/>
        </p:spPr>
        <p:txBody>
          <a:bodyPr wrap="square">
            <a:spAutoFit/>
          </a:bodyPr>
          <a:lstStyle/>
          <a:p>
            <a:pPr algn="l"/>
            <a:r>
              <a:rPr sz="1400" b="1" i="0">
                <a:solidFill>
                  <a:srgbClr val="FFFFFF"/>
                </a:solidFill>
                <a:latin typeface="Calibri"/>
              </a:rPr>
              <a:t>MajorClaim</a:t>
            </a:r>
          </a:p>
        </p:txBody>
      </p:sp>
      <p:sp>
        <p:nvSpPr>
          <p:cNvPr id="23" name="TextBox 22"/>
          <p:cNvSpPr txBox="1"/>
          <p:nvPr/>
        </p:nvSpPr>
        <p:spPr>
          <a:xfrm>
            <a:off x="2743200" y="4937759"/>
            <a:ext cx="2286000" cy="457200"/>
          </a:xfrm>
          <a:prstGeom prst="rect">
            <a:avLst/>
          </a:prstGeom>
          <a:noFill/>
        </p:spPr>
        <p:txBody>
          <a:bodyPr wrap="square">
            <a:spAutoFit/>
          </a:bodyPr>
          <a:lstStyle/>
          <a:p>
            <a:pPr algn="l"/>
            <a:r>
              <a:rPr sz="1800" b="1" i="0">
                <a:solidFill>
                  <a:srgbClr val="06B6D4"/>
                </a:solidFill>
                <a:latin typeface="Calibri"/>
              </a:rPr>
              <a:t>~5.7%</a:t>
            </a:r>
          </a:p>
        </p:txBody>
      </p:sp>
      <p:sp>
        <p:nvSpPr>
          <p:cNvPr id="24" name="TextBox 23"/>
          <p:cNvSpPr txBox="1"/>
          <p:nvPr/>
        </p:nvSpPr>
        <p:spPr>
          <a:xfrm>
            <a:off x="5486400" y="4937759"/>
            <a:ext cx="2286000" cy="457200"/>
          </a:xfrm>
          <a:prstGeom prst="rect">
            <a:avLst/>
          </a:prstGeom>
          <a:noFill/>
        </p:spPr>
        <p:txBody>
          <a:bodyPr wrap="square">
            <a:spAutoFit/>
          </a:bodyPr>
          <a:lstStyle/>
          <a:p>
            <a:pPr algn="l"/>
            <a:r>
              <a:rPr sz="1800" b="1" i="0">
                <a:solidFill>
                  <a:srgbClr val="A78BFA"/>
                </a:solidFill>
                <a:latin typeface="Calibri"/>
              </a:rPr>
              <a:t>5.75%</a:t>
            </a:r>
          </a:p>
        </p:txBody>
      </p:sp>
      <p:sp>
        <p:nvSpPr>
          <p:cNvPr id="25" name="TextBox 24"/>
          <p:cNvSpPr txBox="1"/>
          <p:nvPr/>
        </p:nvSpPr>
        <p:spPr>
          <a:xfrm>
            <a:off x="8229600" y="4937759"/>
            <a:ext cx="3200400" cy="457200"/>
          </a:xfrm>
          <a:prstGeom prst="rect">
            <a:avLst/>
          </a:prstGeom>
          <a:noFill/>
        </p:spPr>
        <p:txBody>
          <a:bodyPr wrap="square">
            <a:spAutoFit/>
          </a:bodyPr>
          <a:lstStyle/>
          <a:p>
            <a:pPr algn="l"/>
            <a:r>
              <a:rPr sz="1400" b="1" i="0">
                <a:solidFill>
                  <a:srgbClr val="34D399"/>
                </a:solidFill>
                <a:latin typeface="Calibri"/>
              </a:rPr>
              <a:t>✅ Exact</a:t>
            </a:r>
          </a:p>
        </p:txBody>
      </p:sp>
      <p:sp>
        <p:nvSpPr>
          <p:cNvPr id="26" name="Rectangle 25"/>
          <p:cNvSpPr/>
          <p:nvPr/>
        </p:nvSpPr>
        <p:spPr>
          <a:xfrm>
            <a:off x="457200" y="5806440"/>
            <a:ext cx="11247120" cy="658368"/>
          </a:xfrm>
          <a:prstGeom prst="rect">
            <a:avLst/>
          </a:prstGeom>
          <a:solidFill>
            <a:srgbClr val="0D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5870448"/>
            <a:ext cx="10972800" cy="430887"/>
          </a:xfrm>
          <a:prstGeom prst="rect">
            <a:avLst/>
          </a:prstGeom>
          <a:noFill/>
        </p:spPr>
        <p:txBody>
          <a:bodyPr wrap="square" lIns="91440" tIns="45720" rIns="91440" bIns="45720" anchor="t">
            <a:spAutoFit/>
          </a:bodyPr>
          <a:lstStyle/>
          <a:p>
            <a:pPr algn="l"/>
            <a:r>
              <a:rPr sz="1100" b="0" i="0" dirty="0">
                <a:solidFill>
                  <a:srgbClr val="94A3B8"/>
                </a:solidFill>
                <a:latin typeface="Calibri"/>
              </a:rPr>
              <a:t>  Premises removed most often (supporting evidence).  </a:t>
            </a:r>
            <a:r>
              <a:rPr sz="1100" b="0" i="0" dirty="0" err="1">
                <a:solidFill>
                  <a:srgbClr val="94A3B8"/>
                </a:solidFill>
                <a:latin typeface="Calibri"/>
              </a:rPr>
              <a:t>MajorClaims</a:t>
            </a:r>
            <a:r>
              <a:rPr sz="1100" b="0" i="0" dirty="0">
                <a:solidFill>
                  <a:srgbClr val="94A3B8"/>
                </a:solidFill>
                <a:latin typeface="Calibri"/>
              </a:rPr>
              <a:t> rarely removed (they form the essay core).  Distribution closely aligns with the original paper — confirming corpus validity.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34D399"/>
                </a:solidFill>
                <a:latin typeface="Calibri"/>
              </a:rPr>
              <a:t>TASK 1  ·  FINAL CORPUS AUDIT</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Corpus Audit Report — Task 1 Complete</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Detection corpus fully validated and split — ready for model training</a:t>
            </a:r>
          </a:p>
        </p:txBody>
      </p:sp>
      <p:sp>
        <p:nvSpPr>
          <p:cNvPr id="6" name="Rectangle 5"/>
          <p:cNvSpPr/>
          <p:nvPr/>
        </p:nvSpPr>
        <p:spPr>
          <a:xfrm>
            <a:off x="457200" y="1920240"/>
            <a:ext cx="2743200" cy="1463040"/>
          </a:xfrm>
          <a:prstGeom prst="rect">
            <a:avLst/>
          </a:prstGeom>
          <a:solidFill>
            <a:srgbClr val="162235"/>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057400"/>
            <a:ext cx="2468880" cy="777240"/>
          </a:xfrm>
          <a:prstGeom prst="rect">
            <a:avLst/>
          </a:prstGeom>
          <a:noFill/>
        </p:spPr>
        <p:txBody>
          <a:bodyPr wrap="square">
            <a:spAutoFit/>
          </a:bodyPr>
          <a:lstStyle/>
          <a:p>
            <a:pPr algn="l"/>
            <a:r>
              <a:rPr sz="2800" b="1" i="0">
                <a:solidFill>
                  <a:srgbClr val="7C3AED"/>
                </a:solidFill>
                <a:latin typeface="Calibri"/>
              </a:rPr>
              <a:t>12,903</a:t>
            </a:r>
          </a:p>
        </p:txBody>
      </p:sp>
      <p:sp>
        <p:nvSpPr>
          <p:cNvPr id="8" name="TextBox 7"/>
          <p:cNvSpPr txBox="1"/>
          <p:nvPr/>
        </p:nvSpPr>
        <p:spPr>
          <a:xfrm>
            <a:off x="594360" y="2788920"/>
            <a:ext cx="2468880" cy="457200"/>
          </a:xfrm>
          <a:prstGeom prst="rect">
            <a:avLst/>
          </a:prstGeom>
          <a:noFill/>
        </p:spPr>
        <p:txBody>
          <a:bodyPr wrap="square">
            <a:spAutoFit/>
          </a:bodyPr>
          <a:lstStyle/>
          <a:p>
            <a:pPr algn="l"/>
            <a:r>
              <a:rPr sz="1100" b="0" i="0">
                <a:solidFill>
                  <a:srgbClr val="94A3B8"/>
                </a:solidFill>
                <a:latin typeface="Calibri"/>
              </a:rPr>
              <a:t>Total Instances</a:t>
            </a:r>
          </a:p>
        </p:txBody>
      </p:sp>
      <p:sp>
        <p:nvSpPr>
          <p:cNvPr id="9" name="Rectangle 8"/>
          <p:cNvSpPr/>
          <p:nvPr/>
        </p:nvSpPr>
        <p:spPr>
          <a:xfrm>
            <a:off x="3383280" y="1920240"/>
            <a:ext cx="2743200" cy="1463040"/>
          </a:xfrm>
          <a:prstGeom prst="rect">
            <a:avLst/>
          </a:prstGeom>
          <a:solidFill>
            <a:srgbClr val="16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20440" y="2057400"/>
            <a:ext cx="2468880" cy="777240"/>
          </a:xfrm>
          <a:prstGeom prst="rect">
            <a:avLst/>
          </a:prstGeom>
          <a:noFill/>
        </p:spPr>
        <p:txBody>
          <a:bodyPr wrap="square">
            <a:spAutoFit/>
          </a:bodyPr>
          <a:lstStyle/>
          <a:p>
            <a:pPr algn="l"/>
            <a:r>
              <a:rPr sz="2800" b="1" i="0">
                <a:solidFill>
                  <a:srgbClr val="06B6D4"/>
                </a:solidFill>
                <a:latin typeface="Calibri"/>
              </a:rPr>
              <a:t>3,078</a:t>
            </a:r>
          </a:p>
        </p:txBody>
      </p:sp>
      <p:sp>
        <p:nvSpPr>
          <p:cNvPr id="11" name="TextBox 10"/>
          <p:cNvSpPr txBox="1"/>
          <p:nvPr/>
        </p:nvSpPr>
        <p:spPr>
          <a:xfrm>
            <a:off x="3520440" y="2788920"/>
            <a:ext cx="2468880" cy="457200"/>
          </a:xfrm>
          <a:prstGeom prst="rect">
            <a:avLst/>
          </a:prstGeom>
          <a:noFill/>
        </p:spPr>
        <p:txBody>
          <a:bodyPr wrap="square">
            <a:spAutoFit/>
          </a:bodyPr>
          <a:lstStyle/>
          <a:p>
            <a:pPr algn="l"/>
            <a:r>
              <a:rPr sz="1100" b="0" i="0">
                <a:solidFill>
                  <a:srgbClr val="94A3B8"/>
                </a:solidFill>
                <a:latin typeface="Calibri"/>
              </a:rPr>
              <a:t>Unique Essays</a:t>
            </a:r>
          </a:p>
        </p:txBody>
      </p:sp>
      <p:sp>
        <p:nvSpPr>
          <p:cNvPr id="12" name="Rectangle 11"/>
          <p:cNvSpPr/>
          <p:nvPr/>
        </p:nvSpPr>
        <p:spPr>
          <a:xfrm>
            <a:off x="6309360" y="1920240"/>
            <a:ext cx="2743200" cy="1463040"/>
          </a:xfrm>
          <a:prstGeom prst="rect">
            <a:avLst/>
          </a:prstGeom>
          <a:solidFill>
            <a:srgbClr val="162235"/>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2057400"/>
            <a:ext cx="2468880" cy="777240"/>
          </a:xfrm>
          <a:prstGeom prst="rect">
            <a:avLst/>
          </a:prstGeom>
          <a:noFill/>
        </p:spPr>
        <p:txBody>
          <a:bodyPr wrap="square">
            <a:spAutoFit/>
          </a:bodyPr>
          <a:lstStyle/>
          <a:p>
            <a:pPr algn="l"/>
            <a:r>
              <a:rPr sz="2800" b="1" i="0">
                <a:solidFill>
                  <a:srgbClr val="A78BFA"/>
                </a:solidFill>
                <a:latin typeface="Calibri"/>
              </a:rPr>
              <a:t>1 : 2</a:t>
            </a:r>
          </a:p>
        </p:txBody>
      </p:sp>
      <p:sp>
        <p:nvSpPr>
          <p:cNvPr id="14" name="TextBox 13"/>
          <p:cNvSpPr txBox="1"/>
          <p:nvPr/>
        </p:nvSpPr>
        <p:spPr>
          <a:xfrm>
            <a:off x="6446520" y="2788920"/>
            <a:ext cx="2468880" cy="457200"/>
          </a:xfrm>
          <a:prstGeom prst="rect">
            <a:avLst/>
          </a:prstGeom>
          <a:noFill/>
        </p:spPr>
        <p:txBody>
          <a:bodyPr wrap="square">
            <a:spAutoFit/>
          </a:bodyPr>
          <a:lstStyle/>
          <a:p>
            <a:pPr algn="l"/>
            <a:r>
              <a:rPr sz="1100" b="0" i="0">
                <a:solidFill>
                  <a:srgbClr val="94A3B8"/>
                </a:solidFill>
                <a:latin typeface="Calibri"/>
              </a:rPr>
              <a:t>Pos : Neg Ratio</a:t>
            </a:r>
          </a:p>
        </p:txBody>
      </p:sp>
      <p:sp>
        <p:nvSpPr>
          <p:cNvPr id="15" name="Rectangle 14"/>
          <p:cNvSpPr/>
          <p:nvPr/>
        </p:nvSpPr>
        <p:spPr>
          <a:xfrm>
            <a:off x="9235440" y="1920240"/>
            <a:ext cx="2743200" cy="1463040"/>
          </a:xfrm>
          <a:prstGeom prst="rect">
            <a:avLst/>
          </a:prstGeom>
          <a:solidFill>
            <a:srgbClr val="162235"/>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72600" y="2057400"/>
            <a:ext cx="2468880" cy="777240"/>
          </a:xfrm>
          <a:prstGeom prst="rect">
            <a:avLst/>
          </a:prstGeom>
          <a:noFill/>
        </p:spPr>
        <p:txBody>
          <a:bodyPr wrap="square">
            <a:spAutoFit/>
          </a:bodyPr>
          <a:lstStyle/>
          <a:p>
            <a:pPr algn="l"/>
            <a:r>
              <a:rPr sz="2800" b="1" i="0">
                <a:solidFill>
                  <a:srgbClr val="34D399"/>
                </a:solidFill>
                <a:latin typeface="Calibri"/>
              </a:rPr>
              <a:t>~2 min</a:t>
            </a:r>
          </a:p>
        </p:txBody>
      </p:sp>
      <p:sp>
        <p:nvSpPr>
          <p:cNvPr id="17" name="TextBox 16"/>
          <p:cNvSpPr txBox="1"/>
          <p:nvPr/>
        </p:nvSpPr>
        <p:spPr>
          <a:xfrm>
            <a:off x="9372600" y="2788920"/>
            <a:ext cx="2468880" cy="457200"/>
          </a:xfrm>
          <a:prstGeom prst="rect">
            <a:avLst/>
          </a:prstGeom>
          <a:noFill/>
        </p:spPr>
        <p:txBody>
          <a:bodyPr wrap="square">
            <a:spAutoFit/>
          </a:bodyPr>
          <a:lstStyle/>
          <a:p>
            <a:pPr algn="l"/>
            <a:r>
              <a:rPr sz="1100" b="0" i="0">
                <a:solidFill>
                  <a:srgbClr val="94A3B8"/>
                </a:solidFill>
                <a:latin typeface="Calibri"/>
              </a:rPr>
              <a:t>Pipeline Runtime</a:t>
            </a:r>
          </a:p>
        </p:txBody>
      </p:sp>
      <p:sp>
        <p:nvSpPr>
          <p:cNvPr id="18" name="TextBox 17"/>
          <p:cNvSpPr txBox="1"/>
          <p:nvPr/>
        </p:nvSpPr>
        <p:spPr>
          <a:xfrm>
            <a:off x="548640" y="3566160"/>
            <a:ext cx="10972800" cy="411480"/>
          </a:xfrm>
          <a:prstGeom prst="rect">
            <a:avLst/>
          </a:prstGeom>
          <a:noFill/>
        </p:spPr>
        <p:txBody>
          <a:bodyPr wrap="square">
            <a:spAutoFit/>
          </a:bodyPr>
          <a:lstStyle/>
          <a:p>
            <a:pPr algn="l"/>
            <a:r>
              <a:rPr sz="1400" b="1" i="0">
                <a:solidFill>
                  <a:srgbClr val="FFFFFF"/>
                </a:solidFill>
                <a:latin typeface="Calibri"/>
              </a:rPr>
              <a:t>Split Breakdown</a:t>
            </a:r>
          </a:p>
        </p:txBody>
      </p:sp>
      <p:sp>
        <p:nvSpPr>
          <p:cNvPr id="19" name="Rectangle 18"/>
          <p:cNvSpPr/>
          <p:nvPr/>
        </p:nvSpPr>
        <p:spPr>
          <a:xfrm>
            <a:off x="457200" y="3977639"/>
            <a:ext cx="11247120" cy="2743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4023360"/>
            <a:ext cx="11247120" cy="548640"/>
          </a:xfrm>
          <a:prstGeom prst="rect">
            <a:avLst/>
          </a:prstGeom>
          <a:solidFill>
            <a:srgbClr val="16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4114800"/>
            <a:ext cx="1371600" cy="384048"/>
          </a:xfrm>
          <a:prstGeom prst="rect">
            <a:avLst/>
          </a:prstGeom>
          <a:noFill/>
        </p:spPr>
        <p:txBody>
          <a:bodyPr wrap="square">
            <a:spAutoFit/>
          </a:bodyPr>
          <a:lstStyle/>
          <a:p>
            <a:pPr algn="l"/>
            <a:r>
              <a:rPr sz="1300" b="1" i="0">
                <a:solidFill>
                  <a:srgbClr val="FFFFFF"/>
                </a:solidFill>
                <a:latin typeface="Calibri"/>
              </a:rPr>
              <a:t>Train</a:t>
            </a:r>
          </a:p>
        </p:txBody>
      </p:sp>
      <p:sp>
        <p:nvSpPr>
          <p:cNvPr id="22" name="TextBox 21"/>
          <p:cNvSpPr txBox="1"/>
          <p:nvPr/>
        </p:nvSpPr>
        <p:spPr>
          <a:xfrm>
            <a:off x="2286000" y="4114800"/>
            <a:ext cx="1828800" cy="384048"/>
          </a:xfrm>
          <a:prstGeom prst="rect">
            <a:avLst/>
          </a:prstGeom>
          <a:noFill/>
        </p:spPr>
        <p:txBody>
          <a:bodyPr wrap="square">
            <a:spAutoFit/>
          </a:bodyPr>
          <a:lstStyle/>
          <a:p>
            <a:pPr algn="l"/>
            <a:r>
              <a:rPr sz="1300" b="1" i="0">
                <a:solidFill>
                  <a:srgbClr val="06B6D4"/>
                </a:solidFill>
                <a:latin typeface="Calibri"/>
              </a:rPr>
              <a:t>8,973</a:t>
            </a:r>
          </a:p>
        </p:txBody>
      </p:sp>
      <p:sp>
        <p:nvSpPr>
          <p:cNvPr id="23" name="TextBox 22"/>
          <p:cNvSpPr txBox="1"/>
          <p:nvPr/>
        </p:nvSpPr>
        <p:spPr>
          <a:xfrm>
            <a:off x="4389120" y="4114800"/>
            <a:ext cx="1371600" cy="384048"/>
          </a:xfrm>
          <a:prstGeom prst="rect">
            <a:avLst/>
          </a:prstGeom>
          <a:noFill/>
        </p:spPr>
        <p:txBody>
          <a:bodyPr wrap="square">
            <a:spAutoFit/>
          </a:bodyPr>
          <a:lstStyle/>
          <a:p>
            <a:pPr algn="l"/>
            <a:r>
              <a:rPr sz="1300" b="0" i="0">
                <a:solidFill>
                  <a:srgbClr val="94A3B8"/>
                </a:solidFill>
                <a:latin typeface="Calibri"/>
              </a:rPr>
              <a:t>69.5%</a:t>
            </a:r>
          </a:p>
        </p:txBody>
      </p:sp>
      <p:sp>
        <p:nvSpPr>
          <p:cNvPr id="24" name="TextBox 23"/>
          <p:cNvSpPr txBox="1"/>
          <p:nvPr/>
        </p:nvSpPr>
        <p:spPr>
          <a:xfrm>
            <a:off x="5943600" y="4114800"/>
            <a:ext cx="5486400" cy="384048"/>
          </a:xfrm>
          <a:prstGeom prst="rect">
            <a:avLst/>
          </a:prstGeom>
          <a:noFill/>
        </p:spPr>
        <p:txBody>
          <a:bodyPr wrap="square">
            <a:spAutoFit/>
          </a:bodyPr>
          <a:lstStyle/>
          <a:p>
            <a:pPr algn="l"/>
            <a:r>
              <a:rPr sz="1100" b="0" i="1">
                <a:solidFill>
                  <a:srgbClr val="475569"/>
                </a:solidFill>
                <a:latin typeface="Calibri"/>
              </a:rPr>
              <a:t>mtg_detection_train.csv</a:t>
            </a:r>
          </a:p>
        </p:txBody>
      </p:sp>
      <p:sp>
        <p:nvSpPr>
          <p:cNvPr id="25" name="Rectangle 24"/>
          <p:cNvSpPr/>
          <p:nvPr/>
        </p:nvSpPr>
        <p:spPr>
          <a:xfrm>
            <a:off x="457200" y="4617720"/>
            <a:ext cx="11247120" cy="548640"/>
          </a:xfrm>
          <a:prstGeom prst="rect">
            <a:avLst/>
          </a:prstGeom>
          <a:solidFill>
            <a:srgbClr val="11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4709160"/>
            <a:ext cx="1371600" cy="384048"/>
          </a:xfrm>
          <a:prstGeom prst="rect">
            <a:avLst/>
          </a:prstGeom>
          <a:noFill/>
        </p:spPr>
        <p:txBody>
          <a:bodyPr wrap="square">
            <a:spAutoFit/>
          </a:bodyPr>
          <a:lstStyle/>
          <a:p>
            <a:pPr algn="l"/>
            <a:r>
              <a:rPr sz="1300" b="1" i="0">
                <a:solidFill>
                  <a:srgbClr val="FFFFFF"/>
                </a:solidFill>
                <a:latin typeface="Calibri"/>
              </a:rPr>
              <a:t>Val</a:t>
            </a:r>
          </a:p>
        </p:txBody>
      </p:sp>
      <p:sp>
        <p:nvSpPr>
          <p:cNvPr id="27" name="TextBox 26"/>
          <p:cNvSpPr txBox="1"/>
          <p:nvPr/>
        </p:nvSpPr>
        <p:spPr>
          <a:xfrm>
            <a:off x="2286000" y="4709160"/>
            <a:ext cx="1828800" cy="384048"/>
          </a:xfrm>
          <a:prstGeom prst="rect">
            <a:avLst/>
          </a:prstGeom>
          <a:noFill/>
        </p:spPr>
        <p:txBody>
          <a:bodyPr wrap="square">
            <a:spAutoFit/>
          </a:bodyPr>
          <a:lstStyle/>
          <a:p>
            <a:pPr algn="l"/>
            <a:r>
              <a:rPr sz="1300" b="1" i="0">
                <a:solidFill>
                  <a:srgbClr val="06B6D4"/>
                </a:solidFill>
                <a:latin typeface="Calibri"/>
              </a:rPr>
              <a:t>1,302</a:t>
            </a:r>
          </a:p>
        </p:txBody>
      </p:sp>
      <p:sp>
        <p:nvSpPr>
          <p:cNvPr id="28" name="TextBox 27"/>
          <p:cNvSpPr txBox="1"/>
          <p:nvPr/>
        </p:nvSpPr>
        <p:spPr>
          <a:xfrm>
            <a:off x="4389120" y="4709160"/>
            <a:ext cx="1371600" cy="384048"/>
          </a:xfrm>
          <a:prstGeom prst="rect">
            <a:avLst/>
          </a:prstGeom>
          <a:noFill/>
        </p:spPr>
        <p:txBody>
          <a:bodyPr wrap="square">
            <a:spAutoFit/>
          </a:bodyPr>
          <a:lstStyle/>
          <a:p>
            <a:pPr algn="l"/>
            <a:r>
              <a:rPr sz="1300" b="0" i="0">
                <a:solidFill>
                  <a:srgbClr val="94A3B8"/>
                </a:solidFill>
                <a:latin typeface="Calibri"/>
              </a:rPr>
              <a:t>10.1%</a:t>
            </a:r>
          </a:p>
        </p:txBody>
      </p:sp>
      <p:sp>
        <p:nvSpPr>
          <p:cNvPr id="29" name="TextBox 28"/>
          <p:cNvSpPr txBox="1"/>
          <p:nvPr/>
        </p:nvSpPr>
        <p:spPr>
          <a:xfrm>
            <a:off x="5943600" y="4709160"/>
            <a:ext cx="5486400" cy="384048"/>
          </a:xfrm>
          <a:prstGeom prst="rect">
            <a:avLst/>
          </a:prstGeom>
          <a:noFill/>
        </p:spPr>
        <p:txBody>
          <a:bodyPr wrap="square">
            <a:spAutoFit/>
          </a:bodyPr>
          <a:lstStyle/>
          <a:p>
            <a:pPr algn="l"/>
            <a:r>
              <a:rPr sz="1100" b="0" i="1">
                <a:solidFill>
                  <a:srgbClr val="475569"/>
                </a:solidFill>
                <a:latin typeface="Calibri"/>
              </a:rPr>
              <a:t>mtg_detection_val.csv</a:t>
            </a:r>
          </a:p>
        </p:txBody>
      </p:sp>
      <p:sp>
        <p:nvSpPr>
          <p:cNvPr id="30" name="Rectangle 29"/>
          <p:cNvSpPr/>
          <p:nvPr/>
        </p:nvSpPr>
        <p:spPr>
          <a:xfrm>
            <a:off x="457200" y="5212080"/>
            <a:ext cx="11247120" cy="548640"/>
          </a:xfrm>
          <a:prstGeom prst="rect">
            <a:avLst/>
          </a:prstGeom>
          <a:solidFill>
            <a:srgbClr val="16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5303520"/>
            <a:ext cx="1371600" cy="384048"/>
          </a:xfrm>
          <a:prstGeom prst="rect">
            <a:avLst/>
          </a:prstGeom>
          <a:noFill/>
        </p:spPr>
        <p:txBody>
          <a:bodyPr wrap="square">
            <a:spAutoFit/>
          </a:bodyPr>
          <a:lstStyle/>
          <a:p>
            <a:pPr algn="l"/>
            <a:r>
              <a:rPr sz="1300" b="1" i="0">
                <a:solidFill>
                  <a:srgbClr val="FFFFFF"/>
                </a:solidFill>
                <a:latin typeface="Calibri"/>
              </a:rPr>
              <a:t>Test</a:t>
            </a:r>
          </a:p>
        </p:txBody>
      </p:sp>
      <p:sp>
        <p:nvSpPr>
          <p:cNvPr id="32" name="TextBox 31"/>
          <p:cNvSpPr txBox="1"/>
          <p:nvPr/>
        </p:nvSpPr>
        <p:spPr>
          <a:xfrm>
            <a:off x="2286000" y="5303520"/>
            <a:ext cx="1828800" cy="384048"/>
          </a:xfrm>
          <a:prstGeom prst="rect">
            <a:avLst/>
          </a:prstGeom>
          <a:noFill/>
        </p:spPr>
        <p:txBody>
          <a:bodyPr wrap="square">
            <a:spAutoFit/>
          </a:bodyPr>
          <a:lstStyle/>
          <a:p>
            <a:pPr algn="l"/>
            <a:r>
              <a:rPr sz="1300" b="1" i="0">
                <a:solidFill>
                  <a:srgbClr val="06B6D4"/>
                </a:solidFill>
                <a:latin typeface="Calibri"/>
              </a:rPr>
              <a:t>2,628</a:t>
            </a:r>
          </a:p>
        </p:txBody>
      </p:sp>
      <p:sp>
        <p:nvSpPr>
          <p:cNvPr id="33" name="TextBox 32"/>
          <p:cNvSpPr txBox="1"/>
          <p:nvPr/>
        </p:nvSpPr>
        <p:spPr>
          <a:xfrm>
            <a:off x="4389120" y="5303520"/>
            <a:ext cx="1371600" cy="384048"/>
          </a:xfrm>
          <a:prstGeom prst="rect">
            <a:avLst/>
          </a:prstGeom>
          <a:noFill/>
        </p:spPr>
        <p:txBody>
          <a:bodyPr wrap="square">
            <a:spAutoFit/>
          </a:bodyPr>
          <a:lstStyle/>
          <a:p>
            <a:pPr algn="l"/>
            <a:r>
              <a:rPr sz="1300" b="0" i="0">
                <a:solidFill>
                  <a:srgbClr val="94A3B8"/>
                </a:solidFill>
                <a:latin typeface="Calibri"/>
              </a:rPr>
              <a:t>20.4%</a:t>
            </a:r>
          </a:p>
        </p:txBody>
      </p:sp>
      <p:sp>
        <p:nvSpPr>
          <p:cNvPr id="34" name="TextBox 33"/>
          <p:cNvSpPr txBox="1"/>
          <p:nvPr/>
        </p:nvSpPr>
        <p:spPr>
          <a:xfrm>
            <a:off x="5943600" y="5303520"/>
            <a:ext cx="5486400" cy="384048"/>
          </a:xfrm>
          <a:prstGeom prst="rect">
            <a:avLst/>
          </a:prstGeom>
          <a:noFill/>
        </p:spPr>
        <p:txBody>
          <a:bodyPr wrap="square">
            <a:spAutoFit/>
          </a:bodyPr>
          <a:lstStyle/>
          <a:p>
            <a:pPr algn="l"/>
            <a:r>
              <a:rPr sz="1100" b="0" i="1">
                <a:solidFill>
                  <a:srgbClr val="475569"/>
                </a:solidFill>
                <a:latin typeface="Calibri"/>
              </a:rPr>
              <a:t>mtg_detection_test.csv</a:t>
            </a:r>
          </a:p>
        </p:txBody>
      </p:sp>
      <p:sp>
        <p:nvSpPr>
          <p:cNvPr id="35" name="Rectangle 34"/>
          <p:cNvSpPr/>
          <p:nvPr/>
        </p:nvSpPr>
        <p:spPr>
          <a:xfrm>
            <a:off x="457200" y="5833872"/>
            <a:ext cx="11247120" cy="658368"/>
          </a:xfrm>
          <a:prstGeom prst="rect">
            <a:avLst/>
          </a:prstGeom>
          <a:solidFill>
            <a:srgbClr val="081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5888736"/>
            <a:ext cx="10972800" cy="502920"/>
          </a:xfrm>
          <a:prstGeom prst="rect">
            <a:avLst/>
          </a:prstGeom>
          <a:noFill/>
        </p:spPr>
        <p:txBody>
          <a:bodyPr wrap="square">
            <a:spAutoFit/>
          </a:bodyPr>
          <a:lstStyle/>
          <a:p>
            <a:pPr algn="l"/>
            <a:r>
              <a:rPr sz="1100" b="1" i="0">
                <a:solidFill>
                  <a:srgbClr val="34D399"/>
                </a:solidFill>
                <a:latin typeface="Calibri"/>
              </a:rPr>
              <a:t>✅  Data Leakage Check PASSED:  Splits stratified by essay ID.  Train ∩ Val = ∅   Train ∩ Test = ∅   Val ∩ Test = ∅   (verified programmatically)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230832"/>
          </a:xfrm>
          <a:prstGeom prst="rect">
            <a:avLst/>
          </a:prstGeom>
          <a:noFill/>
        </p:spPr>
        <p:txBody>
          <a:bodyPr wrap="square" lIns="91440" tIns="45720" rIns="91440" bIns="45720" anchor="t">
            <a:spAutoFit/>
          </a:bodyPr>
          <a:lstStyle/>
          <a:p>
            <a:r>
              <a:rPr sz="900" b="1" i="0">
                <a:solidFill>
                  <a:srgbClr val="06B6D4"/>
                </a:solidFill>
                <a:latin typeface="Calibri"/>
              </a:rPr>
              <a:t>TASK </a:t>
            </a:r>
            <a:r>
              <a:rPr lang="en-US" sz="900" b="1">
                <a:solidFill>
                  <a:srgbClr val="06B6D4"/>
                </a:solidFill>
                <a:latin typeface="Calibri"/>
              </a:rPr>
              <a:t>2</a:t>
            </a:r>
            <a:r>
              <a:rPr lang="en-US" sz="900" b="1" dirty="0">
                <a:solidFill>
                  <a:srgbClr val="06B6D4"/>
                </a:solidFill>
                <a:latin typeface="Calibri"/>
              </a:rPr>
              <a:t> </a:t>
            </a:r>
            <a:r>
              <a:rPr sz="900" b="1" i="0" dirty="0">
                <a:solidFill>
                  <a:srgbClr val="06B6D4"/>
                </a:solidFill>
                <a:latin typeface="Calibri"/>
              </a:rPr>
              <a:t> ·  ENTHYMEME DETECTION</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Detection Model — Setup</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Binary classification: is the [SEP]-marked position the real enthymeme gap?</a:t>
            </a:r>
          </a:p>
        </p:txBody>
      </p:sp>
      <p:sp>
        <p:nvSpPr>
          <p:cNvPr id="6" name="TextBox 5"/>
          <p:cNvSpPr txBox="1"/>
          <p:nvPr/>
        </p:nvSpPr>
        <p:spPr>
          <a:xfrm>
            <a:off x="548640" y="1874519"/>
            <a:ext cx="5029200" cy="411480"/>
          </a:xfrm>
          <a:prstGeom prst="rect">
            <a:avLst/>
          </a:prstGeom>
          <a:noFill/>
        </p:spPr>
        <p:txBody>
          <a:bodyPr wrap="square">
            <a:spAutoFit/>
          </a:bodyPr>
          <a:lstStyle/>
          <a:p>
            <a:pPr algn="l"/>
            <a:r>
              <a:rPr sz="1300" b="1" i="0">
                <a:solidFill>
                  <a:srgbClr val="06B6D4"/>
                </a:solidFill>
                <a:latin typeface="Calibri"/>
              </a:rPr>
              <a:t>Model Configuration</a:t>
            </a:r>
          </a:p>
        </p:txBody>
      </p:sp>
      <p:sp>
        <p:nvSpPr>
          <p:cNvPr id="7" name="Rectangle 6"/>
          <p:cNvSpPr/>
          <p:nvPr/>
        </p:nvSpPr>
        <p:spPr>
          <a:xfrm>
            <a:off x="457200" y="2304288"/>
            <a:ext cx="5394960" cy="420624"/>
          </a:xfrm>
          <a:prstGeom prst="rect">
            <a:avLst/>
          </a:prstGeom>
          <a:solidFill>
            <a:srgbClr val="1A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368296"/>
            <a:ext cx="2011680" cy="310896"/>
          </a:xfrm>
          <a:prstGeom prst="rect">
            <a:avLst/>
          </a:prstGeom>
          <a:noFill/>
        </p:spPr>
        <p:txBody>
          <a:bodyPr wrap="square">
            <a:spAutoFit/>
          </a:bodyPr>
          <a:lstStyle/>
          <a:p>
            <a:pPr algn="l"/>
            <a:r>
              <a:rPr sz="1100" b="0" i="0">
                <a:solidFill>
                  <a:srgbClr val="94A3B8"/>
                </a:solidFill>
                <a:latin typeface="Calibri"/>
              </a:rPr>
              <a:t>Model</a:t>
            </a:r>
          </a:p>
        </p:txBody>
      </p:sp>
      <p:sp>
        <p:nvSpPr>
          <p:cNvPr id="9" name="TextBox 8"/>
          <p:cNvSpPr txBox="1"/>
          <p:nvPr/>
        </p:nvSpPr>
        <p:spPr>
          <a:xfrm>
            <a:off x="2697480" y="2368296"/>
            <a:ext cx="3017520" cy="310896"/>
          </a:xfrm>
          <a:prstGeom prst="rect">
            <a:avLst/>
          </a:prstGeom>
          <a:noFill/>
        </p:spPr>
        <p:txBody>
          <a:bodyPr wrap="square">
            <a:spAutoFit/>
          </a:bodyPr>
          <a:lstStyle/>
          <a:p>
            <a:pPr algn="l"/>
            <a:r>
              <a:rPr sz="1100" b="1" i="0">
                <a:solidFill>
                  <a:srgbClr val="A78BFA"/>
                </a:solidFill>
                <a:latin typeface="Calibri"/>
              </a:rPr>
              <a:t>microsoft/deberta-base</a:t>
            </a:r>
          </a:p>
        </p:txBody>
      </p:sp>
      <p:sp>
        <p:nvSpPr>
          <p:cNvPr id="10" name="Rectangle 9"/>
          <p:cNvSpPr/>
          <p:nvPr/>
        </p:nvSpPr>
        <p:spPr>
          <a:xfrm>
            <a:off x="457200" y="2779776"/>
            <a:ext cx="5394960" cy="420624"/>
          </a:xfrm>
          <a:prstGeom prst="rect">
            <a:avLst/>
          </a:prstGeom>
          <a:solidFill>
            <a:srgbClr val="14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2843784"/>
            <a:ext cx="2011680" cy="310896"/>
          </a:xfrm>
          <a:prstGeom prst="rect">
            <a:avLst/>
          </a:prstGeom>
          <a:noFill/>
        </p:spPr>
        <p:txBody>
          <a:bodyPr wrap="square">
            <a:spAutoFit/>
          </a:bodyPr>
          <a:lstStyle/>
          <a:p>
            <a:pPr algn="l"/>
            <a:r>
              <a:rPr sz="1100" b="0" i="0">
                <a:solidFill>
                  <a:srgbClr val="94A3B8"/>
                </a:solidFill>
                <a:latin typeface="Calibri"/>
              </a:rPr>
              <a:t>Max Token Len</a:t>
            </a:r>
          </a:p>
        </p:txBody>
      </p:sp>
      <p:sp>
        <p:nvSpPr>
          <p:cNvPr id="12" name="TextBox 11"/>
          <p:cNvSpPr txBox="1"/>
          <p:nvPr/>
        </p:nvSpPr>
        <p:spPr>
          <a:xfrm>
            <a:off x="2697480" y="2843784"/>
            <a:ext cx="3017520" cy="310896"/>
          </a:xfrm>
          <a:prstGeom prst="rect">
            <a:avLst/>
          </a:prstGeom>
          <a:noFill/>
        </p:spPr>
        <p:txBody>
          <a:bodyPr wrap="square">
            <a:spAutoFit/>
          </a:bodyPr>
          <a:lstStyle/>
          <a:p>
            <a:pPr algn="l"/>
            <a:r>
              <a:rPr sz="1100" b="1" i="0">
                <a:solidFill>
                  <a:srgbClr val="A78BFA"/>
                </a:solidFill>
                <a:latin typeface="Calibri"/>
              </a:rPr>
              <a:t>256</a:t>
            </a:r>
          </a:p>
        </p:txBody>
      </p:sp>
      <p:sp>
        <p:nvSpPr>
          <p:cNvPr id="13" name="Rectangle 12"/>
          <p:cNvSpPr/>
          <p:nvPr/>
        </p:nvSpPr>
        <p:spPr>
          <a:xfrm>
            <a:off x="457200" y="3255264"/>
            <a:ext cx="5394960" cy="420624"/>
          </a:xfrm>
          <a:prstGeom prst="rect">
            <a:avLst/>
          </a:prstGeom>
          <a:solidFill>
            <a:srgbClr val="1A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3319272"/>
            <a:ext cx="2011680" cy="310896"/>
          </a:xfrm>
          <a:prstGeom prst="rect">
            <a:avLst/>
          </a:prstGeom>
          <a:noFill/>
        </p:spPr>
        <p:txBody>
          <a:bodyPr wrap="square">
            <a:spAutoFit/>
          </a:bodyPr>
          <a:lstStyle/>
          <a:p>
            <a:pPr algn="l"/>
            <a:r>
              <a:rPr sz="1100" b="0" i="0">
                <a:solidFill>
                  <a:srgbClr val="94A3B8"/>
                </a:solidFill>
                <a:latin typeface="Calibri"/>
              </a:rPr>
              <a:t>Batch Size</a:t>
            </a:r>
          </a:p>
        </p:txBody>
      </p:sp>
      <p:sp>
        <p:nvSpPr>
          <p:cNvPr id="15" name="TextBox 14"/>
          <p:cNvSpPr txBox="1"/>
          <p:nvPr/>
        </p:nvSpPr>
        <p:spPr>
          <a:xfrm>
            <a:off x="2697480" y="3319272"/>
            <a:ext cx="3017520" cy="310896"/>
          </a:xfrm>
          <a:prstGeom prst="rect">
            <a:avLst/>
          </a:prstGeom>
          <a:noFill/>
        </p:spPr>
        <p:txBody>
          <a:bodyPr wrap="square">
            <a:spAutoFit/>
          </a:bodyPr>
          <a:lstStyle/>
          <a:p>
            <a:pPr algn="l"/>
            <a:r>
              <a:rPr sz="1100" b="1" i="0">
                <a:solidFill>
                  <a:srgbClr val="A78BFA"/>
                </a:solidFill>
                <a:latin typeface="Calibri"/>
              </a:rPr>
              <a:t>16</a:t>
            </a:r>
          </a:p>
        </p:txBody>
      </p:sp>
      <p:sp>
        <p:nvSpPr>
          <p:cNvPr id="16" name="Rectangle 15"/>
          <p:cNvSpPr/>
          <p:nvPr/>
        </p:nvSpPr>
        <p:spPr>
          <a:xfrm>
            <a:off x="457200" y="3730752"/>
            <a:ext cx="5394960" cy="420624"/>
          </a:xfrm>
          <a:prstGeom prst="rect">
            <a:avLst/>
          </a:prstGeom>
          <a:solidFill>
            <a:srgbClr val="14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3794760"/>
            <a:ext cx="2011680" cy="310896"/>
          </a:xfrm>
          <a:prstGeom prst="rect">
            <a:avLst/>
          </a:prstGeom>
          <a:noFill/>
        </p:spPr>
        <p:txBody>
          <a:bodyPr wrap="square">
            <a:spAutoFit/>
          </a:bodyPr>
          <a:lstStyle/>
          <a:p>
            <a:pPr algn="l"/>
            <a:r>
              <a:rPr sz="1100" b="0" i="0">
                <a:solidFill>
                  <a:srgbClr val="94A3B8"/>
                </a:solidFill>
                <a:latin typeface="Calibri"/>
              </a:rPr>
              <a:t>Learning Rate</a:t>
            </a:r>
          </a:p>
        </p:txBody>
      </p:sp>
      <p:sp>
        <p:nvSpPr>
          <p:cNvPr id="18" name="TextBox 17"/>
          <p:cNvSpPr txBox="1"/>
          <p:nvPr/>
        </p:nvSpPr>
        <p:spPr>
          <a:xfrm>
            <a:off x="2697480" y="3794760"/>
            <a:ext cx="3017520" cy="310896"/>
          </a:xfrm>
          <a:prstGeom prst="rect">
            <a:avLst/>
          </a:prstGeom>
          <a:noFill/>
        </p:spPr>
        <p:txBody>
          <a:bodyPr wrap="square">
            <a:spAutoFit/>
          </a:bodyPr>
          <a:lstStyle/>
          <a:p>
            <a:pPr algn="l"/>
            <a:r>
              <a:rPr sz="1100" b="1" i="0">
                <a:solidFill>
                  <a:srgbClr val="A78BFA"/>
                </a:solidFill>
                <a:latin typeface="Calibri"/>
              </a:rPr>
              <a:t>1e-05</a:t>
            </a:r>
          </a:p>
        </p:txBody>
      </p:sp>
      <p:sp>
        <p:nvSpPr>
          <p:cNvPr id="19" name="Rectangle 18"/>
          <p:cNvSpPr/>
          <p:nvPr/>
        </p:nvSpPr>
        <p:spPr>
          <a:xfrm>
            <a:off x="457200" y="4206240"/>
            <a:ext cx="5394960" cy="420624"/>
          </a:xfrm>
          <a:prstGeom prst="rect">
            <a:avLst/>
          </a:prstGeom>
          <a:solidFill>
            <a:srgbClr val="1A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4270248"/>
            <a:ext cx="2011680" cy="310896"/>
          </a:xfrm>
          <a:prstGeom prst="rect">
            <a:avLst/>
          </a:prstGeom>
          <a:noFill/>
        </p:spPr>
        <p:txBody>
          <a:bodyPr wrap="square">
            <a:spAutoFit/>
          </a:bodyPr>
          <a:lstStyle/>
          <a:p>
            <a:pPr algn="l"/>
            <a:r>
              <a:rPr sz="1100" b="0" i="0">
                <a:solidFill>
                  <a:srgbClr val="94A3B8"/>
                </a:solidFill>
                <a:latin typeface="Calibri"/>
              </a:rPr>
              <a:t>Epochs</a:t>
            </a:r>
          </a:p>
        </p:txBody>
      </p:sp>
      <p:sp>
        <p:nvSpPr>
          <p:cNvPr id="21" name="TextBox 20"/>
          <p:cNvSpPr txBox="1"/>
          <p:nvPr/>
        </p:nvSpPr>
        <p:spPr>
          <a:xfrm>
            <a:off x="2697480" y="4270248"/>
            <a:ext cx="3017520" cy="310896"/>
          </a:xfrm>
          <a:prstGeom prst="rect">
            <a:avLst/>
          </a:prstGeom>
          <a:noFill/>
        </p:spPr>
        <p:txBody>
          <a:bodyPr wrap="square">
            <a:spAutoFit/>
          </a:bodyPr>
          <a:lstStyle/>
          <a:p>
            <a:pPr algn="l"/>
            <a:r>
              <a:rPr sz="1100" b="1" i="0">
                <a:solidFill>
                  <a:srgbClr val="A78BFA"/>
                </a:solidFill>
                <a:latin typeface="Calibri"/>
              </a:rPr>
              <a:t>10  (best at epoch 8)</a:t>
            </a:r>
          </a:p>
        </p:txBody>
      </p:sp>
      <p:sp>
        <p:nvSpPr>
          <p:cNvPr id="22" name="Rectangle 21"/>
          <p:cNvSpPr/>
          <p:nvPr/>
        </p:nvSpPr>
        <p:spPr>
          <a:xfrm>
            <a:off x="457200" y="4681728"/>
            <a:ext cx="5394960" cy="420624"/>
          </a:xfrm>
          <a:prstGeom prst="rect">
            <a:avLst/>
          </a:prstGeom>
          <a:solidFill>
            <a:srgbClr val="14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4745736"/>
            <a:ext cx="2011680" cy="310896"/>
          </a:xfrm>
          <a:prstGeom prst="rect">
            <a:avLst/>
          </a:prstGeom>
          <a:noFill/>
        </p:spPr>
        <p:txBody>
          <a:bodyPr wrap="square">
            <a:spAutoFit/>
          </a:bodyPr>
          <a:lstStyle/>
          <a:p>
            <a:pPr algn="l"/>
            <a:r>
              <a:rPr sz="1100" b="0" i="0">
                <a:solidFill>
                  <a:srgbClr val="94A3B8"/>
                </a:solidFill>
                <a:latin typeface="Calibri"/>
              </a:rPr>
              <a:t>Warmup Ratio</a:t>
            </a:r>
          </a:p>
        </p:txBody>
      </p:sp>
      <p:sp>
        <p:nvSpPr>
          <p:cNvPr id="24" name="TextBox 23"/>
          <p:cNvSpPr txBox="1"/>
          <p:nvPr/>
        </p:nvSpPr>
        <p:spPr>
          <a:xfrm>
            <a:off x="2697480" y="4745736"/>
            <a:ext cx="3017520" cy="310896"/>
          </a:xfrm>
          <a:prstGeom prst="rect">
            <a:avLst/>
          </a:prstGeom>
          <a:noFill/>
        </p:spPr>
        <p:txBody>
          <a:bodyPr wrap="square">
            <a:spAutoFit/>
          </a:bodyPr>
          <a:lstStyle/>
          <a:p>
            <a:pPr algn="l"/>
            <a:r>
              <a:rPr sz="1100" b="1" i="0">
                <a:solidFill>
                  <a:srgbClr val="A78BFA"/>
                </a:solidFill>
                <a:latin typeface="Calibri"/>
              </a:rPr>
              <a:t>0.1</a:t>
            </a:r>
          </a:p>
        </p:txBody>
      </p:sp>
      <p:sp>
        <p:nvSpPr>
          <p:cNvPr id="25" name="Rectangle 24"/>
          <p:cNvSpPr/>
          <p:nvPr/>
        </p:nvSpPr>
        <p:spPr>
          <a:xfrm>
            <a:off x="457200" y="5157216"/>
            <a:ext cx="5394960" cy="420624"/>
          </a:xfrm>
          <a:prstGeom prst="rect">
            <a:avLst/>
          </a:prstGeom>
          <a:solidFill>
            <a:srgbClr val="1A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4360" y="5221224"/>
            <a:ext cx="2011680" cy="310896"/>
          </a:xfrm>
          <a:prstGeom prst="rect">
            <a:avLst/>
          </a:prstGeom>
          <a:noFill/>
        </p:spPr>
        <p:txBody>
          <a:bodyPr wrap="square">
            <a:spAutoFit/>
          </a:bodyPr>
          <a:lstStyle/>
          <a:p>
            <a:pPr algn="l"/>
            <a:r>
              <a:rPr sz="1100" b="0" i="0">
                <a:solidFill>
                  <a:srgbClr val="94A3B8"/>
                </a:solidFill>
                <a:latin typeface="Calibri"/>
              </a:rPr>
              <a:t>Weight Decay</a:t>
            </a:r>
          </a:p>
        </p:txBody>
      </p:sp>
      <p:sp>
        <p:nvSpPr>
          <p:cNvPr id="27" name="TextBox 26"/>
          <p:cNvSpPr txBox="1"/>
          <p:nvPr/>
        </p:nvSpPr>
        <p:spPr>
          <a:xfrm>
            <a:off x="2697480" y="5221224"/>
            <a:ext cx="3017520" cy="310896"/>
          </a:xfrm>
          <a:prstGeom prst="rect">
            <a:avLst/>
          </a:prstGeom>
          <a:noFill/>
        </p:spPr>
        <p:txBody>
          <a:bodyPr wrap="square">
            <a:spAutoFit/>
          </a:bodyPr>
          <a:lstStyle/>
          <a:p>
            <a:pPr algn="l"/>
            <a:r>
              <a:rPr sz="1100" b="1" i="0">
                <a:solidFill>
                  <a:srgbClr val="A78BFA"/>
                </a:solidFill>
                <a:latin typeface="Calibri"/>
              </a:rPr>
              <a:t>0.01</a:t>
            </a:r>
          </a:p>
        </p:txBody>
      </p:sp>
      <p:sp>
        <p:nvSpPr>
          <p:cNvPr id="28" name="Rectangle 27"/>
          <p:cNvSpPr/>
          <p:nvPr/>
        </p:nvSpPr>
        <p:spPr>
          <a:xfrm>
            <a:off x="457200" y="5632704"/>
            <a:ext cx="5394960" cy="420624"/>
          </a:xfrm>
          <a:prstGeom prst="rect">
            <a:avLst/>
          </a:prstGeom>
          <a:solidFill>
            <a:srgbClr val="14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5696712"/>
            <a:ext cx="2011680" cy="310896"/>
          </a:xfrm>
          <a:prstGeom prst="rect">
            <a:avLst/>
          </a:prstGeom>
          <a:noFill/>
        </p:spPr>
        <p:txBody>
          <a:bodyPr wrap="square">
            <a:spAutoFit/>
          </a:bodyPr>
          <a:lstStyle/>
          <a:p>
            <a:pPr algn="l"/>
            <a:r>
              <a:rPr sz="1100" b="0" i="0">
                <a:solidFill>
                  <a:srgbClr val="94A3B8"/>
                </a:solidFill>
                <a:latin typeface="Calibri"/>
              </a:rPr>
              <a:t>Class Weights</a:t>
            </a:r>
          </a:p>
        </p:txBody>
      </p:sp>
      <p:sp>
        <p:nvSpPr>
          <p:cNvPr id="30" name="TextBox 29"/>
          <p:cNvSpPr txBox="1"/>
          <p:nvPr/>
        </p:nvSpPr>
        <p:spPr>
          <a:xfrm>
            <a:off x="2697480" y="5696712"/>
            <a:ext cx="3017520" cy="310896"/>
          </a:xfrm>
          <a:prstGeom prst="rect">
            <a:avLst/>
          </a:prstGeom>
          <a:noFill/>
        </p:spPr>
        <p:txBody>
          <a:bodyPr wrap="square">
            <a:spAutoFit/>
          </a:bodyPr>
          <a:lstStyle/>
          <a:p>
            <a:pPr algn="l"/>
            <a:r>
              <a:rPr sz="1100" b="1" i="0">
                <a:solidFill>
                  <a:srgbClr val="A78BFA"/>
                </a:solidFill>
                <a:latin typeface="Calibri"/>
              </a:rPr>
              <a:t>[0.75, 1.5]  (handles 1:2 imbalance)</a:t>
            </a:r>
          </a:p>
        </p:txBody>
      </p:sp>
      <p:sp>
        <p:nvSpPr>
          <p:cNvPr id="31" name="TextBox 30"/>
          <p:cNvSpPr txBox="1"/>
          <p:nvPr/>
        </p:nvSpPr>
        <p:spPr>
          <a:xfrm>
            <a:off x="6400800" y="1874519"/>
            <a:ext cx="5303520" cy="411480"/>
          </a:xfrm>
          <a:prstGeom prst="rect">
            <a:avLst/>
          </a:prstGeom>
          <a:noFill/>
        </p:spPr>
        <p:txBody>
          <a:bodyPr wrap="square">
            <a:spAutoFit/>
          </a:bodyPr>
          <a:lstStyle/>
          <a:p>
            <a:pPr algn="l"/>
            <a:r>
              <a:rPr sz="1300" b="1" i="0">
                <a:solidFill>
                  <a:srgbClr val="06B6D4"/>
                </a:solidFill>
                <a:latin typeface="Calibri"/>
              </a:rPr>
              <a:t>Data Splits</a:t>
            </a:r>
          </a:p>
        </p:txBody>
      </p:sp>
      <p:sp>
        <p:nvSpPr>
          <p:cNvPr id="32" name="Rectangle 31"/>
          <p:cNvSpPr/>
          <p:nvPr/>
        </p:nvSpPr>
        <p:spPr>
          <a:xfrm>
            <a:off x="6309360" y="2304288"/>
            <a:ext cx="5394960" cy="594360"/>
          </a:xfrm>
          <a:prstGeom prst="rect">
            <a:avLst/>
          </a:prstGeom>
          <a:solidFill>
            <a:srgbClr val="1A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2395728"/>
            <a:ext cx="914400" cy="384048"/>
          </a:xfrm>
          <a:prstGeom prst="rect">
            <a:avLst/>
          </a:prstGeom>
          <a:noFill/>
        </p:spPr>
        <p:txBody>
          <a:bodyPr wrap="square">
            <a:spAutoFit/>
          </a:bodyPr>
          <a:lstStyle/>
          <a:p>
            <a:pPr algn="l"/>
            <a:r>
              <a:rPr sz="1300" b="1" i="0">
                <a:solidFill>
                  <a:srgbClr val="FFFFFF"/>
                </a:solidFill>
                <a:latin typeface="Calibri"/>
              </a:rPr>
              <a:t>Train</a:t>
            </a:r>
          </a:p>
        </p:txBody>
      </p:sp>
      <p:sp>
        <p:nvSpPr>
          <p:cNvPr id="34" name="TextBox 33"/>
          <p:cNvSpPr txBox="1"/>
          <p:nvPr/>
        </p:nvSpPr>
        <p:spPr>
          <a:xfrm>
            <a:off x="7452360" y="2395728"/>
            <a:ext cx="1371600" cy="384048"/>
          </a:xfrm>
          <a:prstGeom prst="rect">
            <a:avLst/>
          </a:prstGeom>
          <a:noFill/>
        </p:spPr>
        <p:txBody>
          <a:bodyPr wrap="square">
            <a:spAutoFit/>
          </a:bodyPr>
          <a:lstStyle/>
          <a:p>
            <a:pPr algn="l"/>
            <a:r>
              <a:rPr sz="1400" b="1" i="0">
                <a:solidFill>
                  <a:srgbClr val="06B6D4"/>
                </a:solidFill>
                <a:latin typeface="Calibri"/>
              </a:rPr>
              <a:t>8,973</a:t>
            </a:r>
          </a:p>
        </p:txBody>
      </p:sp>
      <p:sp>
        <p:nvSpPr>
          <p:cNvPr id="35" name="TextBox 34"/>
          <p:cNvSpPr txBox="1"/>
          <p:nvPr/>
        </p:nvSpPr>
        <p:spPr>
          <a:xfrm>
            <a:off x="9006840" y="2395728"/>
            <a:ext cx="2560320" cy="384048"/>
          </a:xfrm>
          <a:prstGeom prst="rect">
            <a:avLst/>
          </a:prstGeom>
          <a:noFill/>
        </p:spPr>
        <p:txBody>
          <a:bodyPr wrap="square">
            <a:spAutoFit/>
          </a:bodyPr>
          <a:lstStyle/>
          <a:p>
            <a:pPr algn="l"/>
            <a:r>
              <a:rPr sz="1000" b="0" i="0">
                <a:solidFill>
                  <a:srgbClr val="94A3B8"/>
                </a:solidFill>
                <a:latin typeface="Calibri"/>
              </a:rPr>
              <a:t>2,991 pos  ·  5,982 neg</a:t>
            </a:r>
          </a:p>
        </p:txBody>
      </p:sp>
      <p:sp>
        <p:nvSpPr>
          <p:cNvPr id="36" name="Rectangle 35"/>
          <p:cNvSpPr/>
          <p:nvPr/>
        </p:nvSpPr>
        <p:spPr>
          <a:xfrm>
            <a:off x="6309360" y="2962656"/>
            <a:ext cx="5394960" cy="594360"/>
          </a:xfrm>
          <a:prstGeom prst="rect">
            <a:avLst/>
          </a:prstGeom>
          <a:solidFill>
            <a:srgbClr val="14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46520" y="3054096"/>
            <a:ext cx="914400" cy="384048"/>
          </a:xfrm>
          <a:prstGeom prst="rect">
            <a:avLst/>
          </a:prstGeom>
          <a:noFill/>
        </p:spPr>
        <p:txBody>
          <a:bodyPr wrap="square">
            <a:spAutoFit/>
          </a:bodyPr>
          <a:lstStyle/>
          <a:p>
            <a:pPr algn="l"/>
            <a:r>
              <a:rPr sz="1300" b="1" i="0">
                <a:solidFill>
                  <a:srgbClr val="FFFFFF"/>
                </a:solidFill>
                <a:latin typeface="Calibri"/>
              </a:rPr>
              <a:t>Val</a:t>
            </a:r>
          </a:p>
        </p:txBody>
      </p:sp>
      <p:sp>
        <p:nvSpPr>
          <p:cNvPr id="38" name="TextBox 37"/>
          <p:cNvSpPr txBox="1"/>
          <p:nvPr/>
        </p:nvSpPr>
        <p:spPr>
          <a:xfrm>
            <a:off x="7452360" y="3054096"/>
            <a:ext cx="1371600" cy="384048"/>
          </a:xfrm>
          <a:prstGeom prst="rect">
            <a:avLst/>
          </a:prstGeom>
          <a:noFill/>
        </p:spPr>
        <p:txBody>
          <a:bodyPr wrap="square">
            <a:spAutoFit/>
          </a:bodyPr>
          <a:lstStyle/>
          <a:p>
            <a:pPr algn="l"/>
            <a:r>
              <a:rPr sz="1400" b="1" i="0">
                <a:solidFill>
                  <a:srgbClr val="06B6D4"/>
                </a:solidFill>
                <a:latin typeface="Calibri"/>
              </a:rPr>
              <a:t>1,302</a:t>
            </a:r>
          </a:p>
        </p:txBody>
      </p:sp>
      <p:sp>
        <p:nvSpPr>
          <p:cNvPr id="39" name="TextBox 38"/>
          <p:cNvSpPr txBox="1"/>
          <p:nvPr/>
        </p:nvSpPr>
        <p:spPr>
          <a:xfrm>
            <a:off x="9006840" y="3054096"/>
            <a:ext cx="2560320" cy="384048"/>
          </a:xfrm>
          <a:prstGeom prst="rect">
            <a:avLst/>
          </a:prstGeom>
          <a:noFill/>
        </p:spPr>
        <p:txBody>
          <a:bodyPr wrap="square">
            <a:spAutoFit/>
          </a:bodyPr>
          <a:lstStyle/>
          <a:p>
            <a:pPr algn="l"/>
            <a:r>
              <a:rPr sz="1000" b="0" i="0">
                <a:solidFill>
                  <a:srgbClr val="94A3B8"/>
                </a:solidFill>
                <a:latin typeface="Calibri"/>
              </a:rPr>
              <a:t>434 pos  ·  868 neg</a:t>
            </a:r>
          </a:p>
        </p:txBody>
      </p:sp>
      <p:sp>
        <p:nvSpPr>
          <p:cNvPr id="40" name="Rectangle 39"/>
          <p:cNvSpPr/>
          <p:nvPr/>
        </p:nvSpPr>
        <p:spPr>
          <a:xfrm>
            <a:off x="6309360" y="3621024"/>
            <a:ext cx="5394960" cy="594360"/>
          </a:xfrm>
          <a:prstGeom prst="rect">
            <a:avLst/>
          </a:prstGeom>
          <a:solidFill>
            <a:srgbClr val="1A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46520" y="3712463"/>
            <a:ext cx="914400" cy="384048"/>
          </a:xfrm>
          <a:prstGeom prst="rect">
            <a:avLst/>
          </a:prstGeom>
          <a:noFill/>
        </p:spPr>
        <p:txBody>
          <a:bodyPr wrap="square">
            <a:spAutoFit/>
          </a:bodyPr>
          <a:lstStyle/>
          <a:p>
            <a:pPr algn="l"/>
            <a:r>
              <a:rPr sz="1300" b="1" i="0">
                <a:solidFill>
                  <a:srgbClr val="FFFFFF"/>
                </a:solidFill>
                <a:latin typeface="Calibri"/>
              </a:rPr>
              <a:t>Test</a:t>
            </a:r>
          </a:p>
        </p:txBody>
      </p:sp>
      <p:sp>
        <p:nvSpPr>
          <p:cNvPr id="42" name="TextBox 41"/>
          <p:cNvSpPr txBox="1"/>
          <p:nvPr/>
        </p:nvSpPr>
        <p:spPr>
          <a:xfrm>
            <a:off x="7452360" y="3712463"/>
            <a:ext cx="1371600" cy="384048"/>
          </a:xfrm>
          <a:prstGeom prst="rect">
            <a:avLst/>
          </a:prstGeom>
          <a:noFill/>
        </p:spPr>
        <p:txBody>
          <a:bodyPr wrap="square">
            <a:spAutoFit/>
          </a:bodyPr>
          <a:lstStyle/>
          <a:p>
            <a:pPr algn="l"/>
            <a:r>
              <a:rPr sz="1400" b="1" i="0">
                <a:solidFill>
                  <a:srgbClr val="06B6D4"/>
                </a:solidFill>
                <a:latin typeface="Calibri"/>
              </a:rPr>
              <a:t>2,628</a:t>
            </a:r>
          </a:p>
        </p:txBody>
      </p:sp>
      <p:sp>
        <p:nvSpPr>
          <p:cNvPr id="43" name="TextBox 42"/>
          <p:cNvSpPr txBox="1"/>
          <p:nvPr/>
        </p:nvSpPr>
        <p:spPr>
          <a:xfrm>
            <a:off x="9006840" y="3712463"/>
            <a:ext cx="2560320" cy="384048"/>
          </a:xfrm>
          <a:prstGeom prst="rect">
            <a:avLst/>
          </a:prstGeom>
          <a:noFill/>
        </p:spPr>
        <p:txBody>
          <a:bodyPr wrap="square">
            <a:spAutoFit/>
          </a:bodyPr>
          <a:lstStyle/>
          <a:p>
            <a:pPr algn="l"/>
            <a:r>
              <a:rPr sz="1000" b="0" i="0">
                <a:solidFill>
                  <a:srgbClr val="94A3B8"/>
                </a:solidFill>
                <a:latin typeface="Calibri"/>
              </a:rPr>
              <a:t>876 pos  ·  1,752 neg</a:t>
            </a:r>
          </a:p>
        </p:txBody>
      </p:sp>
      <p:sp>
        <p:nvSpPr>
          <p:cNvPr id="44" name="Rectangle 43"/>
          <p:cNvSpPr/>
          <p:nvPr/>
        </p:nvSpPr>
        <p:spPr>
          <a:xfrm>
            <a:off x="6309360" y="4343400"/>
            <a:ext cx="5394960" cy="1783080"/>
          </a:xfrm>
          <a:prstGeom prst="rect">
            <a:avLst/>
          </a:prstGeom>
          <a:solidFill>
            <a:srgbClr val="0C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309360" y="4343400"/>
            <a:ext cx="5394960" cy="1783080"/>
          </a:xfrm>
          <a:prstGeom prst="rect">
            <a:avLst/>
          </a:prstGeom>
          <a:solidFill>
            <a:srgbClr val="0C1A2E"/>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46520" y="4407408"/>
            <a:ext cx="5120640" cy="365760"/>
          </a:xfrm>
          <a:prstGeom prst="rect">
            <a:avLst/>
          </a:prstGeom>
          <a:noFill/>
        </p:spPr>
        <p:txBody>
          <a:bodyPr wrap="square">
            <a:spAutoFit/>
          </a:bodyPr>
          <a:lstStyle/>
          <a:p>
            <a:pPr algn="l"/>
            <a:r>
              <a:rPr sz="1200" b="1" i="0">
                <a:solidFill>
                  <a:srgbClr val="7C3AED"/>
                </a:solidFill>
                <a:latin typeface="Calibri"/>
              </a:rPr>
              <a:t>Task Definition</a:t>
            </a:r>
          </a:p>
        </p:txBody>
      </p:sp>
      <p:sp>
        <p:nvSpPr>
          <p:cNvPr id="47" name="TextBox 46"/>
          <p:cNvSpPr txBox="1"/>
          <p:nvPr/>
        </p:nvSpPr>
        <p:spPr>
          <a:xfrm>
            <a:off x="6446520" y="4828032"/>
            <a:ext cx="5212080" cy="677108"/>
          </a:xfrm>
          <a:prstGeom prst="rect">
            <a:avLst/>
          </a:prstGeom>
          <a:noFill/>
        </p:spPr>
        <p:txBody>
          <a:bodyPr wrap="square" lIns="91440" tIns="45720" rIns="91440" bIns="45720" anchor="t">
            <a:spAutoFit/>
          </a:bodyPr>
          <a:lstStyle/>
          <a:p>
            <a:pPr>
              <a:spcBef>
                <a:spcPts val="300"/>
              </a:spcBef>
            </a:pPr>
            <a:r>
              <a:rPr sz="1100">
                <a:solidFill>
                  <a:srgbClr val="E2E8F0"/>
                </a:solidFill>
                <a:latin typeface="Calibri"/>
              </a:rPr>
              <a:t>Given: argument with [SEP] inserted at one sentence boundary</a:t>
            </a:r>
          </a:p>
          <a:p>
            <a:pPr>
              <a:spcBef>
                <a:spcPts val="300"/>
              </a:spcBef>
            </a:pPr>
            <a:r>
              <a:rPr sz="1100">
                <a:solidFill>
                  <a:srgbClr val="E2E8F0"/>
                </a:solidFill>
                <a:latin typeface="Calibri"/>
              </a:rPr>
              <a:t>Predict: Label 1 = real gap  |  Label 0 = distractor</a:t>
            </a:r>
          </a:p>
          <a:p>
            <a:pPr>
              <a:spcBef>
                <a:spcPts val="300"/>
              </a:spcBef>
            </a:pPr>
            <a:endParaRPr sz="1100" dirty="0">
              <a:solidFill>
                <a:srgbClr val="E2E8F0"/>
              </a:solidFill>
              <a:latin typeface="Calibri"/>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06B6D4"/>
                </a:solidFill>
                <a:latin typeface="Calibri"/>
              </a:rPr>
              <a:t>TASK 2  ·  DETECTION  ·  TRAINING CURVE</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Training Progress — DeBERTa-base</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Validation Macro-F1 per epoch  |  10 epochs total</a:t>
            </a:r>
          </a:p>
        </p:txBody>
      </p:sp>
      <p:sp>
        <p:nvSpPr>
          <p:cNvPr id="6" name="Rectangle 5"/>
          <p:cNvSpPr/>
          <p:nvPr/>
        </p:nvSpPr>
        <p:spPr>
          <a:xfrm>
            <a:off x="457200" y="1874519"/>
            <a:ext cx="7132320" cy="466344"/>
          </a:xfrm>
          <a:prstGeom prst="rect">
            <a:avLst/>
          </a:prstGeom>
          <a:solidFill>
            <a:srgbClr val="1622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911095"/>
            <a:ext cx="411480" cy="429768"/>
          </a:xfrm>
          <a:prstGeom prst="rect">
            <a:avLst/>
          </a:prstGeom>
          <a:noFill/>
        </p:spPr>
        <p:txBody>
          <a:bodyPr wrap="square">
            <a:spAutoFit/>
          </a:bodyPr>
          <a:lstStyle/>
          <a:p>
            <a:pPr algn="l"/>
            <a:r>
              <a:rPr sz="1000" b="0" i="0">
                <a:solidFill>
                  <a:srgbClr val="94A3B8"/>
                </a:solidFill>
                <a:latin typeface="Calibri"/>
              </a:rPr>
              <a:t>E01</a:t>
            </a:r>
          </a:p>
        </p:txBody>
      </p:sp>
      <p:sp>
        <p:nvSpPr>
          <p:cNvPr id="8" name="Rectangle 7"/>
          <p:cNvSpPr/>
          <p:nvPr/>
        </p:nvSpPr>
        <p:spPr>
          <a:xfrm>
            <a:off x="1645920" y="1920239"/>
            <a:ext cx="4299033" cy="1828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90673" y="1901951"/>
            <a:ext cx="731520" cy="201168"/>
          </a:xfrm>
          <a:prstGeom prst="rect">
            <a:avLst/>
          </a:prstGeom>
          <a:noFill/>
        </p:spPr>
        <p:txBody>
          <a:bodyPr wrap="square">
            <a:spAutoFit/>
          </a:bodyPr>
          <a:lstStyle/>
          <a:p>
            <a:pPr algn="l"/>
            <a:r>
              <a:rPr sz="900" b="0" i="0">
                <a:solidFill>
                  <a:srgbClr val="A78BFA"/>
                </a:solidFill>
                <a:latin typeface="Calibri"/>
              </a:rPr>
              <a:t>56.0%</a:t>
            </a:r>
          </a:p>
        </p:txBody>
      </p:sp>
      <p:sp>
        <p:nvSpPr>
          <p:cNvPr id="10" name="Rectangle 9"/>
          <p:cNvSpPr/>
          <p:nvPr/>
        </p:nvSpPr>
        <p:spPr>
          <a:xfrm>
            <a:off x="1645920" y="2139696"/>
            <a:ext cx="4607039" cy="1554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98679" y="2121408"/>
            <a:ext cx="731520" cy="182880"/>
          </a:xfrm>
          <a:prstGeom prst="rect">
            <a:avLst/>
          </a:prstGeom>
          <a:noFill/>
        </p:spPr>
        <p:txBody>
          <a:bodyPr wrap="square">
            <a:spAutoFit/>
          </a:bodyPr>
          <a:lstStyle/>
          <a:p>
            <a:pPr algn="l"/>
            <a:r>
              <a:rPr sz="800" b="0" i="0">
                <a:solidFill>
                  <a:srgbClr val="94A3B8"/>
                </a:solidFill>
                <a:latin typeface="Calibri"/>
              </a:rPr>
              <a:t>60.0%</a:t>
            </a:r>
          </a:p>
        </p:txBody>
      </p:sp>
      <p:sp>
        <p:nvSpPr>
          <p:cNvPr id="12" name="Rectangle 11"/>
          <p:cNvSpPr/>
          <p:nvPr/>
        </p:nvSpPr>
        <p:spPr>
          <a:xfrm>
            <a:off x="457200" y="2340863"/>
            <a:ext cx="7132320" cy="466344"/>
          </a:xfrm>
          <a:prstGeom prst="rect">
            <a:avLst/>
          </a:prstGeom>
          <a:solidFill>
            <a:srgbClr val="11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377439"/>
            <a:ext cx="411480" cy="429768"/>
          </a:xfrm>
          <a:prstGeom prst="rect">
            <a:avLst/>
          </a:prstGeom>
          <a:noFill/>
        </p:spPr>
        <p:txBody>
          <a:bodyPr wrap="square">
            <a:spAutoFit/>
          </a:bodyPr>
          <a:lstStyle/>
          <a:p>
            <a:pPr algn="l"/>
            <a:r>
              <a:rPr sz="1000" b="0" i="0">
                <a:solidFill>
                  <a:srgbClr val="94A3B8"/>
                </a:solidFill>
                <a:latin typeface="Calibri"/>
              </a:rPr>
              <a:t>E02</a:t>
            </a:r>
          </a:p>
        </p:txBody>
      </p:sp>
      <p:sp>
        <p:nvSpPr>
          <p:cNvPr id="14" name="Rectangle 13"/>
          <p:cNvSpPr/>
          <p:nvPr/>
        </p:nvSpPr>
        <p:spPr>
          <a:xfrm>
            <a:off x="1645920" y="2386583"/>
            <a:ext cx="4857439" cy="1828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49079" y="2368295"/>
            <a:ext cx="731520" cy="201168"/>
          </a:xfrm>
          <a:prstGeom prst="rect">
            <a:avLst/>
          </a:prstGeom>
          <a:noFill/>
        </p:spPr>
        <p:txBody>
          <a:bodyPr wrap="square">
            <a:spAutoFit/>
          </a:bodyPr>
          <a:lstStyle/>
          <a:p>
            <a:pPr algn="l"/>
            <a:r>
              <a:rPr sz="900" b="0" i="0">
                <a:solidFill>
                  <a:srgbClr val="A78BFA"/>
                </a:solidFill>
                <a:latin typeface="Calibri"/>
              </a:rPr>
              <a:t>63.2%</a:t>
            </a:r>
          </a:p>
        </p:txBody>
      </p:sp>
      <p:sp>
        <p:nvSpPr>
          <p:cNvPr id="16" name="Rectangle 15"/>
          <p:cNvSpPr/>
          <p:nvPr/>
        </p:nvSpPr>
        <p:spPr>
          <a:xfrm>
            <a:off x="1645920" y="2606039"/>
            <a:ext cx="5085563" cy="1554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77203" y="2587751"/>
            <a:ext cx="731520" cy="182880"/>
          </a:xfrm>
          <a:prstGeom prst="rect">
            <a:avLst/>
          </a:prstGeom>
          <a:noFill/>
        </p:spPr>
        <p:txBody>
          <a:bodyPr wrap="square">
            <a:spAutoFit/>
          </a:bodyPr>
          <a:lstStyle/>
          <a:p>
            <a:pPr algn="l"/>
            <a:r>
              <a:rPr sz="800" b="0" i="0">
                <a:solidFill>
                  <a:srgbClr val="94A3B8"/>
                </a:solidFill>
                <a:latin typeface="Calibri"/>
              </a:rPr>
              <a:t>66.2%</a:t>
            </a:r>
          </a:p>
        </p:txBody>
      </p:sp>
      <p:sp>
        <p:nvSpPr>
          <p:cNvPr id="18" name="Rectangle 17"/>
          <p:cNvSpPr/>
          <p:nvPr/>
        </p:nvSpPr>
        <p:spPr>
          <a:xfrm>
            <a:off x="457200" y="2807208"/>
            <a:ext cx="7132320" cy="466344"/>
          </a:xfrm>
          <a:prstGeom prst="rect">
            <a:avLst/>
          </a:prstGeom>
          <a:solidFill>
            <a:srgbClr val="1622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2843784"/>
            <a:ext cx="411480" cy="429768"/>
          </a:xfrm>
          <a:prstGeom prst="rect">
            <a:avLst/>
          </a:prstGeom>
          <a:noFill/>
        </p:spPr>
        <p:txBody>
          <a:bodyPr wrap="square">
            <a:spAutoFit/>
          </a:bodyPr>
          <a:lstStyle/>
          <a:p>
            <a:pPr algn="l"/>
            <a:r>
              <a:rPr sz="1000" b="0" i="0">
                <a:solidFill>
                  <a:srgbClr val="94A3B8"/>
                </a:solidFill>
                <a:latin typeface="Calibri"/>
              </a:rPr>
              <a:t>E03</a:t>
            </a:r>
          </a:p>
        </p:txBody>
      </p:sp>
      <p:sp>
        <p:nvSpPr>
          <p:cNvPr id="20" name="Rectangle 19"/>
          <p:cNvSpPr/>
          <p:nvPr/>
        </p:nvSpPr>
        <p:spPr>
          <a:xfrm>
            <a:off x="1645920" y="2852927"/>
            <a:ext cx="4235281" cy="1828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26921" y="2834639"/>
            <a:ext cx="731520" cy="201168"/>
          </a:xfrm>
          <a:prstGeom prst="rect">
            <a:avLst/>
          </a:prstGeom>
          <a:noFill/>
        </p:spPr>
        <p:txBody>
          <a:bodyPr wrap="square">
            <a:spAutoFit/>
          </a:bodyPr>
          <a:lstStyle/>
          <a:p>
            <a:pPr algn="l"/>
            <a:r>
              <a:rPr sz="900" b="0" i="0">
                <a:solidFill>
                  <a:srgbClr val="A78BFA"/>
                </a:solidFill>
                <a:latin typeface="Calibri"/>
              </a:rPr>
              <a:t>55.1%</a:t>
            </a:r>
          </a:p>
        </p:txBody>
      </p:sp>
      <p:sp>
        <p:nvSpPr>
          <p:cNvPr id="22" name="Rectangle 21"/>
          <p:cNvSpPr/>
          <p:nvPr/>
        </p:nvSpPr>
        <p:spPr>
          <a:xfrm>
            <a:off x="1645920" y="3072384"/>
            <a:ext cx="4236049" cy="1554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27689" y="3054096"/>
            <a:ext cx="731520" cy="182880"/>
          </a:xfrm>
          <a:prstGeom prst="rect">
            <a:avLst/>
          </a:prstGeom>
          <a:noFill/>
        </p:spPr>
        <p:txBody>
          <a:bodyPr wrap="square">
            <a:spAutoFit/>
          </a:bodyPr>
          <a:lstStyle/>
          <a:p>
            <a:pPr algn="l"/>
            <a:r>
              <a:rPr sz="800" b="0" i="0">
                <a:solidFill>
                  <a:srgbClr val="94A3B8"/>
                </a:solidFill>
                <a:latin typeface="Calibri"/>
              </a:rPr>
              <a:t>55.1%</a:t>
            </a:r>
          </a:p>
        </p:txBody>
      </p:sp>
      <p:sp>
        <p:nvSpPr>
          <p:cNvPr id="24" name="Rectangle 23"/>
          <p:cNvSpPr/>
          <p:nvPr/>
        </p:nvSpPr>
        <p:spPr>
          <a:xfrm>
            <a:off x="457200" y="3273552"/>
            <a:ext cx="7132320" cy="466344"/>
          </a:xfrm>
          <a:prstGeom prst="rect">
            <a:avLst/>
          </a:prstGeom>
          <a:solidFill>
            <a:srgbClr val="11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3310128"/>
            <a:ext cx="411480" cy="429768"/>
          </a:xfrm>
          <a:prstGeom prst="rect">
            <a:avLst/>
          </a:prstGeom>
          <a:noFill/>
        </p:spPr>
        <p:txBody>
          <a:bodyPr wrap="square">
            <a:spAutoFit/>
          </a:bodyPr>
          <a:lstStyle/>
          <a:p>
            <a:pPr algn="l"/>
            <a:r>
              <a:rPr sz="1000" b="0" i="0">
                <a:solidFill>
                  <a:srgbClr val="94A3B8"/>
                </a:solidFill>
                <a:latin typeface="Calibri"/>
              </a:rPr>
              <a:t>E04</a:t>
            </a:r>
          </a:p>
        </p:txBody>
      </p:sp>
      <p:sp>
        <p:nvSpPr>
          <p:cNvPr id="26" name="Rectangle 25"/>
          <p:cNvSpPr/>
          <p:nvPr/>
        </p:nvSpPr>
        <p:spPr>
          <a:xfrm>
            <a:off x="1645920" y="3319272"/>
            <a:ext cx="5221516" cy="1828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13156" y="3300984"/>
            <a:ext cx="731520" cy="201168"/>
          </a:xfrm>
          <a:prstGeom prst="rect">
            <a:avLst/>
          </a:prstGeom>
          <a:noFill/>
        </p:spPr>
        <p:txBody>
          <a:bodyPr wrap="square">
            <a:spAutoFit/>
          </a:bodyPr>
          <a:lstStyle/>
          <a:p>
            <a:pPr algn="l"/>
            <a:r>
              <a:rPr sz="900" b="0" i="0">
                <a:solidFill>
                  <a:srgbClr val="A78BFA"/>
                </a:solidFill>
                <a:latin typeface="Calibri"/>
              </a:rPr>
              <a:t>68.0%</a:t>
            </a:r>
          </a:p>
        </p:txBody>
      </p:sp>
      <p:sp>
        <p:nvSpPr>
          <p:cNvPr id="28" name="Rectangle 27"/>
          <p:cNvSpPr/>
          <p:nvPr/>
        </p:nvSpPr>
        <p:spPr>
          <a:xfrm>
            <a:off x="1645920" y="3538728"/>
            <a:ext cx="5680838" cy="1554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72478" y="3520440"/>
            <a:ext cx="731520" cy="182880"/>
          </a:xfrm>
          <a:prstGeom prst="rect">
            <a:avLst/>
          </a:prstGeom>
          <a:noFill/>
        </p:spPr>
        <p:txBody>
          <a:bodyPr wrap="square">
            <a:spAutoFit/>
          </a:bodyPr>
          <a:lstStyle/>
          <a:p>
            <a:pPr algn="l"/>
            <a:r>
              <a:rPr sz="800" b="0" i="0">
                <a:solidFill>
                  <a:srgbClr val="94A3B8"/>
                </a:solidFill>
                <a:latin typeface="Calibri"/>
              </a:rPr>
              <a:t>74.0%</a:t>
            </a:r>
          </a:p>
        </p:txBody>
      </p:sp>
      <p:sp>
        <p:nvSpPr>
          <p:cNvPr id="30" name="Rectangle 29"/>
          <p:cNvSpPr/>
          <p:nvPr/>
        </p:nvSpPr>
        <p:spPr>
          <a:xfrm>
            <a:off x="457200" y="3739896"/>
            <a:ext cx="7132320" cy="466344"/>
          </a:xfrm>
          <a:prstGeom prst="rect">
            <a:avLst/>
          </a:prstGeom>
          <a:solidFill>
            <a:srgbClr val="1622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3776472"/>
            <a:ext cx="411480" cy="429768"/>
          </a:xfrm>
          <a:prstGeom prst="rect">
            <a:avLst/>
          </a:prstGeom>
          <a:noFill/>
        </p:spPr>
        <p:txBody>
          <a:bodyPr wrap="square">
            <a:spAutoFit/>
          </a:bodyPr>
          <a:lstStyle/>
          <a:p>
            <a:pPr algn="l"/>
            <a:r>
              <a:rPr sz="1000" b="0" i="0">
                <a:solidFill>
                  <a:srgbClr val="94A3B8"/>
                </a:solidFill>
                <a:latin typeface="Calibri"/>
              </a:rPr>
              <a:t>E05</a:t>
            </a:r>
          </a:p>
        </p:txBody>
      </p:sp>
      <p:sp>
        <p:nvSpPr>
          <p:cNvPr id="32" name="Rectangle 31"/>
          <p:cNvSpPr/>
          <p:nvPr/>
        </p:nvSpPr>
        <p:spPr>
          <a:xfrm>
            <a:off x="1645920" y="3785615"/>
            <a:ext cx="5211531" cy="1828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903171" y="3767328"/>
            <a:ext cx="731520" cy="201168"/>
          </a:xfrm>
          <a:prstGeom prst="rect">
            <a:avLst/>
          </a:prstGeom>
          <a:noFill/>
        </p:spPr>
        <p:txBody>
          <a:bodyPr wrap="square">
            <a:spAutoFit/>
          </a:bodyPr>
          <a:lstStyle/>
          <a:p>
            <a:pPr algn="l"/>
            <a:r>
              <a:rPr sz="900" b="0" i="0">
                <a:solidFill>
                  <a:srgbClr val="A78BFA"/>
                </a:solidFill>
                <a:latin typeface="Calibri"/>
              </a:rPr>
              <a:t>67.8%</a:t>
            </a:r>
          </a:p>
        </p:txBody>
      </p:sp>
      <p:sp>
        <p:nvSpPr>
          <p:cNvPr id="34" name="Rectangle 33"/>
          <p:cNvSpPr/>
          <p:nvPr/>
        </p:nvSpPr>
        <p:spPr>
          <a:xfrm>
            <a:off x="1645920" y="4005072"/>
            <a:ext cx="5380512" cy="1554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072152" y="3986783"/>
            <a:ext cx="731520" cy="182880"/>
          </a:xfrm>
          <a:prstGeom prst="rect">
            <a:avLst/>
          </a:prstGeom>
          <a:noFill/>
        </p:spPr>
        <p:txBody>
          <a:bodyPr wrap="square">
            <a:spAutoFit/>
          </a:bodyPr>
          <a:lstStyle/>
          <a:p>
            <a:pPr algn="l"/>
            <a:r>
              <a:rPr sz="800" b="0" i="0">
                <a:solidFill>
                  <a:srgbClr val="94A3B8"/>
                </a:solidFill>
                <a:latin typeface="Calibri"/>
              </a:rPr>
              <a:t>70.0%</a:t>
            </a:r>
          </a:p>
        </p:txBody>
      </p:sp>
      <p:sp>
        <p:nvSpPr>
          <p:cNvPr id="36" name="Rectangle 35"/>
          <p:cNvSpPr/>
          <p:nvPr/>
        </p:nvSpPr>
        <p:spPr>
          <a:xfrm>
            <a:off x="457200" y="4206240"/>
            <a:ext cx="7132320" cy="466344"/>
          </a:xfrm>
          <a:prstGeom prst="rect">
            <a:avLst/>
          </a:prstGeom>
          <a:solidFill>
            <a:srgbClr val="11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4242816"/>
            <a:ext cx="411480" cy="429768"/>
          </a:xfrm>
          <a:prstGeom prst="rect">
            <a:avLst/>
          </a:prstGeom>
          <a:noFill/>
        </p:spPr>
        <p:txBody>
          <a:bodyPr wrap="square">
            <a:spAutoFit/>
          </a:bodyPr>
          <a:lstStyle/>
          <a:p>
            <a:pPr algn="l"/>
            <a:r>
              <a:rPr sz="1000" b="0" i="0">
                <a:solidFill>
                  <a:srgbClr val="94A3B8"/>
                </a:solidFill>
                <a:latin typeface="Calibri"/>
              </a:rPr>
              <a:t>E06</a:t>
            </a:r>
          </a:p>
        </p:txBody>
      </p:sp>
      <p:sp>
        <p:nvSpPr>
          <p:cNvPr id="38" name="Rectangle 37"/>
          <p:cNvSpPr/>
          <p:nvPr/>
        </p:nvSpPr>
        <p:spPr>
          <a:xfrm>
            <a:off x="1645920" y="4251959"/>
            <a:ext cx="5266066" cy="1828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957706" y="4233672"/>
            <a:ext cx="731520" cy="201168"/>
          </a:xfrm>
          <a:prstGeom prst="rect">
            <a:avLst/>
          </a:prstGeom>
          <a:noFill/>
        </p:spPr>
        <p:txBody>
          <a:bodyPr wrap="square">
            <a:spAutoFit/>
          </a:bodyPr>
          <a:lstStyle/>
          <a:p>
            <a:pPr algn="l"/>
            <a:r>
              <a:rPr sz="900" b="0" i="0">
                <a:solidFill>
                  <a:srgbClr val="A78BFA"/>
                </a:solidFill>
                <a:latin typeface="Calibri"/>
              </a:rPr>
              <a:t>68.6%</a:t>
            </a:r>
          </a:p>
        </p:txBody>
      </p:sp>
      <p:sp>
        <p:nvSpPr>
          <p:cNvPr id="40" name="Rectangle 39"/>
          <p:cNvSpPr/>
          <p:nvPr/>
        </p:nvSpPr>
        <p:spPr>
          <a:xfrm>
            <a:off x="1645920" y="4471416"/>
            <a:ext cx="5510320" cy="1554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201960" y="4453127"/>
            <a:ext cx="731520" cy="182880"/>
          </a:xfrm>
          <a:prstGeom prst="rect">
            <a:avLst/>
          </a:prstGeom>
          <a:noFill/>
        </p:spPr>
        <p:txBody>
          <a:bodyPr wrap="square">
            <a:spAutoFit/>
          </a:bodyPr>
          <a:lstStyle/>
          <a:p>
            <a:pPr algn="l"/>
            <a:r>
              <a:rPr sz="800" b="0" i="0">
                <a:solidFill>
                  <a:srgbClr val="94A3B8"/>
                </a:solidFill>
                <a:latin typeface="Calibri"/>
              </a:rPr>
              <a:t>71.7%</a:t>
            </a:r>
          </a:p>
        </p:txBody>
      </p:sp>
      <p:sp>
        <p:nvSpPr>
          <p:cNvPr id="42" name="Rectangle 41"/>
          <p:cNvSpPr/>
          <p:nvPr/>
        </p:nvSpPr>
        <p:spPr>
          <a:xfrm>
            <a:off x="457200" y="4672583"/>
            <a:ext cx="7132320" cy="466344"/>
          </a:xfrm>
          <a:prstGeom prst="rect">
            <a:avLst/>
          </a:prstGeom>
          <a:solidFill>
            <a:srgbClr val="1622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2920" y="4709159"/>
            <a:ext cx="411480" cy="429768"/>
          </a:xfrm>
          <a:prstGeom prst="rect">
            <a:avLst/>
          </a:prstGeom>
          <a:noFill/>
        </p:spPr>
        <p:txBody>
          <a:bodyPr wrap="square">
            <a:spAutoFit/>
          </a:bodyPr>
          <a:lstStyle/>
          <a:p>
            <a:pPr algn="l"/>
            <a:r>
              <a:rPr sz="1000" b="0" i="0">
                <a:solidFill>
                  <a:srgbClr val="94A3B8"/>
                </a:solidFill>
                <a:latin typeface="Calibri"/>
              </a:rPr>
              <a:t>E07</a:t>
            </a:r>
          </a:p>
        </p:txBody>
      </p:sp>
      <p:sp>
        <p:nvSpPr>
          <p:cNvPr id="44" name="Rectangle 43"/>
          <p:cNvSpPr/>
          <p:nvPr/>
        </p:nvSpPr>
        <p:spPr>
          <a:xfrm>
            <a:off x="1645920" y="4718303"/>
            <a:ext cx="5279891" cy="1828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971531" y="4700016"/>
            <a:ext cx="731520" cy="201168"/>
          </a:xfrm>
          <a:prstGeom prst="rect">
            <a:avLst/>
          </a:prstGeom>
          <a:noFill/>
        </p:spPr>
        <p:txBody>
          <a:bodyPr wrap="square">
            <a:spAutoFit/>
          </a:bodyPr>
          <a:lstStyle/>
          <a:p>
            <a:pPr algn="l"/>
            <a:r>
              <a:rPr sz="900" b="0" i="0">
                <a:solidFill>
                  <a:srgbClr val="A78BFA"/>
                </a:solidFill>
                <a:latin typeface="Calibri"/>
              </a:rPr>
              <a:t>68.7%</a:t>
            </a:r>
          </a:p>
        </p:txBody>
      </p:sp>
      <p:sp>
        <p:nvSpPr>
          <p:cNvPr id="46" name="Rectangle 45"/>
          <p:cNvSpPr/>
          <p:nvPr/>
        </p:nvSpPr>
        <p:spPr>
          <a:xfrm>
            <a:off x="1645920" y="4937759"/>
            <a:ext cx="5409700" cy="1554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101340" y="4919471"/>
            <a:ext cx="731520" cy="182880"/>
          </a:xfrm>
          <a:prstGeom prst="rect">
            <a:avLst/>
          </a:prstGeom>
          <a:noFill/>
        </p:spPr>
        <p:txBody>
          <a:bodyPr wrap="square">
            <a:spAutoFit/>
          </a:bodyPr>
          <a:lstStyle/>
          <a:p>
            <a:pPr algn="l"/>
            <a:r>
              <a:rPr sz="800" b="0" i="0">
                <a:solidFill>
                  <a:srgbClr val="94A3B8"/>
                </a:solidFill>
                <a:latin typeface="Calibri"/>
              </a:rPr>
              <a:t>70.4%</a:t>
            </a:r>
          </a:p>
        </p:txBody>
      </p:sp>
      <p:sp>
        <p:nvSpPr>
          <p:cNvPr id="48" name="Rectangle 47"/>
          <p:cNvSpPr/>
          <p:nvPr/>
        </p:nvSpPr>
        <p:spPr>
          <a:xfrm>
            <a:off x="457200" y="5138928"/>
            <a:ext cx="7132320" cy="466344"/>
          </a:xfrm>
          <a:prstGeom prst="rect">
            <a:avLst/>
          </a:prstGeom>
          <a:solidFill>
            <a:srgbClr val="1E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2920" y="5175504"/>
            <a:ext cx="411480" cy="429768"/>
          </a:xfrm>
          <a:prstGeom prst="rect">
            <a:avLst/>
          </a:prstGeom>
          <a:noFill/>
        </p:spPr>
        <p:txBody>
          <a:bodyPr wrap="square">
            <a:spAutoFit/>
          </a:bodyPr>
          <a:lstStyle/>
          <a:p>
            <a:pPr algn="l"/>
            <a:r>
              <a:rPr sz="1000" b="1" i="0">
                <a:solidFill>
                  <a:srgbClr val="FBBF24"/>
                </a:solidFill>
                <a:latin typeface="Calibri"/>
              </a:rPr>
              <a:t>E08</a:t>
            </a:r>
          </a:p>
        </p:txBody>
      </p:sp>
      <p:sp>
        <p:nvSpPr>
          <p:cNvPr id="50" name="Rectangle 49"/>
          <p:cNvSpPr/>
          <p:nvPr/>
        </p:nvSpPr>
        <p:spPr>
          <a:xfrm>
            <a:off x="932688" y="5193792"/>
            <a:ext cx="640080" cy="274320"/>
          </a:xfrm>
          <a:prstGeom prst="rect">
            <a:avLst/>
          </a:prstGeom>
          <a:solidFill>
            <a:srgbClr val="1A3A1A"/>
          </a:solidFill>
          <a:ln w="1016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50976" y="5212080"/>
            <a:ext cx="594360" cy="201168"/>
          </a:xfrm>
          <a:prstGeom prst="rect">
            <a:avLst/>
          </a:prstGeom>
          <a:noFill/>
        </p:spPr>
        <p:txBody>
          <a:bodyPr wrap="square">
            <a:spAutoFit/>
          </a:bodyPr>
          <a:lstStyle/>
          <a:p>
            <a:pPr algn="l"/>
            <a:r>
              <a:rPr sz="700" b="1" i="0">
                <a:solidFill>
                  <a:srgbClr val="34D399"/>
                </a:solidFill>
                <a:latin typeface="Calibri"/>
              </a:rPr>
              <a:t>BEST</a:t>
            </a:r>
          </a:p>
        </p:txBody>
      </p:sp>
      <p:sp>
        <p:nvSpPr>
          <p:cNvPr id="52" name="Rectangle 51"/>
          <p:cNvSpPr/>
          <p:nvPr/>
        </p:nvSpPr>
        <p:spPr>
          <a:xfrm>
            <a:off x="1645920" y="5184648"/>
            <a:ext cx="5413540" cy="1828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105180" y="5166360"/>
            <a:ext cx="731520" cy="201168"/>
          </a:xfrm>
          <a:prstGeom prst="rect">
            <a:avLst/>
          </a:prstGeom>
          <a:noFill/>
        </p:spPr>
        <p:txBody>
          <a:bodyPr wrap="square">
            <a:spAutoFit/>
          </a:bodyPr>
          <a:lstStyle/>
          <a:p>
            <a:pPr algn="l"/>
            <a:r>
              <a:rPr sz="900" b="0" i="0">
                <a:solidFill>
                  <a:srgbClr val="FBBF24"/>
                </a:solidFill>
                <a:latin typeface="Calibri"/>
              </a:rPr>
              <a:t>70.5%</a:t>
            </a:r>
          </a:p>
        </p:txBody>
      </p:sp>
      <p:sp>
        <p:nvSpPr>
          <p:cNvPr id="54" name="Rectangle 53"/>
          <p:cNvSpPr/>
          <p:nvPr/>
        </p:nvSpPr>
        <p:spPr>
          <a:xfrm>
            <a:off x="1645920" y="5404104"/>
            <a:ext cx="5669316" cy="15544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360956" y="5385816"/>
            <a:ext cx="731520" cy="182880"/>
          </a:xfrm>
          <a:prstGeom prst="rect">
            <a:avLst/>
          </a:prstGeom>
          <a:noFill/>
        </p:spPr>
        <p:txBody>
          <a:bodyPr wrap="square">
            <a:spAutoFit/>
          </a:bodyPr>
          <a:lstStyle/>
          <a:p>
            <a:pPr algn="l"/>
            <a:r>
              <a:rPr sz="800" b="0" i="0">
                <a:solidFill>
                  <a:srgbClr val="34D399"/>
                </a:solidFill>
                <a:latin typeface="Calibri"/>
              </a:rPr>
              <a:t>73.8%</a:t>
            </a:r>
          </a:p>
        </p:txBody>
      </p:sp>
      <p:sp>
        <p:nvSpPr>
          <p:cNvPr id="56" name="Rectangle 55"/>
          <p:cNvSpPr/>
          <p:nvPr/>
        </p:nvSpPr>
        <p:spPr>
          <a:xfrm>
            <a:off x="457200" y="5605272"/>
            <a:ext cx="7132320" cy="466344"/>
          </a:xfrm>
          <a:prstGeom prst="rect">
            <a:avLst/>
          </a:prstGeom>
          <a:solidFill>
            <a:srgbClr val="1622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02920" y="5641848"/>
            <a:ext cx="411480" cy="429768"/>
          </a:xfrm>
          <a:prstGeom prst="rect">
            <a:avLst/>
          </a:prstGeom>
          <a:noFill/>
        </p:spPr>
        <p:txBody>
          <a:bodyPr wrap="square">
            <a:spAutoFit/>
          </a:bodyPr>
          <a:lstStyle/>
          <a:p>
            <a:pPr algn="l"/>
            <a:r>
              <a:rPr sz="1000" b="0" i="0">
                <a:solidFill>
                  <a:srgbClr val="94A3B8"/>
                </a:solidFill>
                <a:latin typeface="Calibri"/>
              </a:rPr>
              <a:t>E09</a:t>
            </a:r>
          </a:p>
        </p:txBody>
      </p:sp>
      <p:sp>
        <p:nvSpPr>
          <p:cNvPr id="58" name="Rectangle 57"/>
          <p:cNvSpPr/>
          <p:nvPr/>
        </p:nvSpPr>
        <p:spPr>
          <a:xfrm>
            <a:off x="1645920" y="5650992"/>
            <a:ext cx="5302934" cy="1828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994574" y="5632704"/>
            <a:ext cx="731520" cy="201168"/>
          </a:xfrm>
          <a:prstGeom prst="rect">
            <a:avLst/>
          </a:prstGeom>
          <a:noFill/>
        </p:spPr>
        <p:txBody>
          <a:bodyPr wrap="square">
            <a:spAutoFit/>
          </a:bodyPr>
          <a:lstStyle/>
          <a:p>
            <a:pPr algn="l"/>
            <a:r>
              <a:rPr sz="900" b="0" i="0">
                <a:solidFill>
                  <a:srgbClr val="A78BFA"/>
                </a:solidFill>
                <a:latin typeface="Calibri"/>
              </a:rPr>
              <a:t>69.0%</a:t>
            </a:r>
          </a:p>
        </p:txBody>
      </p:sp>
      <p:sp>
        <p:nvSpPr>
          <p:cNvPr id="60" name="Rectangle 59"/>
          <p:cNvSpPr/>
          <p:nvPr/>
        </p:nvSpPr>
        <p:spPr>
          <a:xfrm>
            <a:off x="1645920" y="5870448"/>
            <a:ext cx="5551029" cy="1554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242669" y="5852160"/>
            <a:ext cx="731520" cy="182880"/>
          </a:xfrm>
          <a:prstGeom prst="rect">
            <a:avLst/>
          </a:prstGeom>
          <a:noFill/>
        </p:spPr>
        <p:txBody>
          <a:bodyPr wrap="square">
            <a:spAutoFit/>
          </a:bodyPr>
          <a:lstStyle/>
          <a:p>
            <a:pPr algn="l"/>
            <a:r>
              <a:rPr sz="800" b="0" i="0">
                <a:solidFill>
                  <a:srgbClr val="94A3B8"/>
                </a:solidFill>
                <a:latin typeface="Calibri"/>
              </a:rPr>
              <a:t>72.3%</a:t>
            </a:r>
          </a:p>
        </p:txBody>
      </p:sp>
      <p:sp>
        <p:nvSpPr>
          <p:cNvPr id="62" name="Rectangle 61"/>
          <p:cNvSpPr/>
          <p:nvPr/>
        </p:nvSpPr>
        <p:spPr>
          <a:xfrm>
            <a:off x="457200" y="6071616"/>
            <a:ext cx="7132320" cy="466344"/>
          </a:xfrm>
          <a:prstGeom prst="rect">
            <a:avLst/>
          </a:prstGeom>
          <a:solidFill>
            <a:srgbClr val="11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02920" y="6108192"/>
            <a:ext cx="411480" cy="429768"/>
          </a:xfrm>
          <a:prstGeom prst="rect">
            <a:avLst/>
          </a:prstGeom>
          <a:noFill/>
        </p:spPr>
        <p:txBody>
          <a:bodyPr wrap="square">
            <a:spAutoFit/>
          </a:bodyPr>
          <a:lstStyle/>
          <a:p>
            <a:pPr algn="l"/>
            <a:r>
              <a:rPr sz="1000" b="0" i="0">
                <a:solidFill>
                  <a:srgbClr val="94A3B8"/>
                </a:solidFill>
                <a:latin typeface="Calibri"/>
              </a:rPr>
              <a:t>E10</a:t>
            </a:r>
          </a:p>
        </p:txBody>
      </p:sp>
      <p:sp>
        <p:nvSpPr>
          <p:cNvPr id="64" name="Rectangle 63"/>
          <p:cNvSpPr/>
          <p:nvPr/>
        </p:nvSpPr>
        <p:spPr>
          <a:xfrm>
            <a:off x="1645920" y="6117336"/>
            <a:ext cx="5263761" cy="1828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955401" y="6099048"/>
            <a:ext cx="731520" cy="201168"/>
          </a:xfrm>
          <a:prstGeom prst="rect">
            <a:avLst/>
          </a:prstGeom>
          <a:noFill/>
        </p:spPr>
        <p:txBody>
          <a:bodyPr wrap="square">
            <a:spAutoFit/>
          </a:bodyPr>
          <a:lstStyle/>
          <a:p>
            <a:pPr algn="l"/>
            <a:r>
              <a:rPr sz="900" b="0" i="0">
                <a:solidFill>
                  <a:srgbClr val="A78BFA"/>
                </a:solidFill>
                <a:latin typeface="Calibri"/>
              </a:rPr>
              <a:t>68.5%</a:t>
            </a:r>
          </a:p>
        </p:txBody>
      </p:sp>
      <p:sp>
        <p:nvSpPr>
          <p:cNvPr id="66" name="Rectangle 65"/>
          <p:cNvSpPr/>
          <p:nvPr/>
        </p:nvSpPr>
        <p:spPr>
          <a:xfrm>
            <a:off x="1645920" y="6336792"/>
            <a:ext cx="5551029" cy="1554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42669" y="6318504"/>
            <a:ext cx="731520" cy="182880"/>
          </a:xfrm>
          <a:prstGeom prst="rect">
            <a:avLst/>
          </a:prstGeom>
          <a:noFill/>
        </p:spPr>
        <p:txBody>
          <a:bodyPr wrap="square">
            <a:spAutoFit/>
          </a:bodyPr>
          <a:lstStyle/>
          <a:p>
            <a:pPr algn="l"/>
            <a:r>
              <a:rPr sz="800" b="0" i="0">
                <a:solidFill>
                  <a:srgbClr val="94A3B8"/>
                </a:solidFill>
                <a:latin typeface="Calibri"/>
              </a:rPr>
              <a:t>72.3%</a:t>
            </a:r>
          </a:p>
        </p:txBody>
      </p:sp>
      <p:sp>
        <p:nvSpPr>
          <p:cNvPr id="68" name="TextBox 67"/>
          <p:cNvSpPr txBox="1"/>
          <p:nvPr/>
        </p:nvSpPr>
        <p:spPr>
          <a:xfrm>
            <a:off x="548640" y="6492240"/>
            <a:ext cx="1828800" cy="274320"/>
          </a:xfrm>
          <a:prstGeom prst="rect">
            <a:avLst/>
          </a:prstGeom>
          <a:noFill/>
        </p:spPr>
        <p:txBody>
          <a:bodyPr wrap="square">
            <a:spAutoFit/>
          </a:bodyPr>
          <a:lstStyle/>
          <a:p>
            <a:pPr algn="l"/>
            <a:r>
              <a:rPr sz="1000" b="1" i="0">
                <a:solidFill>
                  <a:srgbClr val="7C3AED"/>
                </a:solidFill>
                <a:latin typeface="Calibri"/>
              </a:rPr>
              <a:t>■ Macro-F1</a:t>
            </a:r>
          </a:p>
        </p:txBody>
      </p:sp>
      <p:sp>
        <p:nvSpPr>
          <p:cNvPr id="69" name="TextBox 68"/>
          <p:cNvSpPr txBox="1"/>
          <p:nvPr/>
        </p:nvSpPr>
        <p:spPr>
          <a:xfrm>
            <a:off x="2560320" y="6492240"/>
            <a:ext cx="1828800" cy="274320"/>
          </a:xfrm>
          <a:prstGeom prst="rect">
            <a:avLst/>
          </a:prstGeom>
          <a:noFill/>
        </p:spPr>
        <p:txBody>
          <a:bodyPr wrap="square">
            <a:spAutoFit/>
          </a:bodyPr>
          <a:lstStyle/>
          <a:p>
            <a:pPr algn="l"/>
            <a:r>
              <a:rPr sz="1000" b="1" i="0">
                <a:solidFill>
                  <a:srgbClr val="06B6D4"/>
                </a:solidFill>
                <a:latin typeface="Calibri"/>
              </a:rPr>
              <a:t>■ Accuracy</a:t>
            </a:r>
          </a:p>
        </p:txBody>
      </p:sp>
      <p:sp>
        <p:nvSpPr>
          <p:cNvPr id="70" name="TextBox 69"/>
          <p:cNvSpPr txBox="1"/>
          <p:nvPr/>
        </p:nvSpPr>
        <p:spPr>
          <a:xfrm>
            <a:off x="4663440" y="6492240"/>
            <a:ext cx="1828800" cy="274320"/>
          </a:xfrm>
          <a:prstGeom prst="rect">
            <a:avLst/>
          </a:prstGeom>
          <a:noFill/>
        </p:spPr>
        <p:txBody>
          <a:bodyPr wrap="square">
            <a:spAutoFit/>
          </a:bodyPr>
          <a:lstStyle/>
          <a:p>
            <a:pPr algn="l"/>
            <a:r>
              <a:rPr sz="900" b="0" i="0">
                <a:solidFill>
                  <a:srgbClr val="94A3B8"/>
                </a:solidFill>
                <a:latin typeface="Calibri"/>
              </a:rPr>
              <a:t>Scale: 0–75%</a:t>
            </a:r>
          </a:p>
        </p:txBody>
      </p:sp>
      <p:sp>
        <p:nvSpPr>
          <p:cNvPr id="71" name="Rectangle 70"/>
          <p:cNvSpPr/>
          <p:nvPr/>
        </p:nvSpPr>
        <p:spPr>
          <a:xfrm>
            <a:off x="7863840" y="1874519"/>
            <a:ext cx="4114800" cy="4663440"/>
          </a:xfrm>
          <a:prstGeom prst="rect">
            <a:avLst/>
          </a:prstGeom>
          <a:solidFill>
            <a:srgbClr val="111C2C"/>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001000" y="1965960"/>
            <a:ext cx="3840480" cy="4434840"/>
          </a:xfrm>
          <a:prstGeom prst="rect">
            <a:avLst/>
          </a:prstGeom>
          <a:noFill/>
        </p:spPr>
        <p:txBody>
          <a:bodyPr wrap="square">
            <a:spAutoFit/>
          </a:bodyPr>
          <a:lstStyle/>
          <a:p>
            <a:pPr>
              <a:spcBef>
                <a:spcPts val="600"/>
              </a:spcBef>
            </a:pPr>
            <a:r>
              <a:rPr sz="1500" b="1">
                <a:solidFill>
                  <a:srgbClr val="06B6D4"/>
                </a:solidFill>
                <a:latin typeface="Calibri"/>
              </a:rPr>
              <a:t>Key Observations</a:t>
            </a:r>
          </a:p>
          <a:p>
            <a:pPr>
              <a:spcBef>
                <a:spcPts val="300"/>
              </a:spcBef>
            </a:pPr>
            <a:r>
              <a:rPr sz="1100">
                <a:solidFill>
                  <a:srgbClr val="E2E8F0"/>
                </a:solidFill>
                <a:latin typeface="Calibri"/>
              </a:rPr>
              <a:t>Best checkpoint: Epoch 8</a:t>
            </a:r>
          </a:p>
          <a:p>
            <a:pPr>
              <a:spcBef>
                <a:spcPts val="100"/>
              </a:spcBef>
            </a:pPr>
            <a:r>
              <a:rPr sz="1150">
                <a:solidFill>
                  <a:srgbClr val="94A3B8"/>
                </a:solidFill>
                <a:latin typeface="Calibri"/>
              </a:rPr>
              <a:t>Macro-F1 = 70.48%</a:t>
            </a:r>
          </a:p>
          <a:p>
            <a:pPr>
              <a:spcBef>
                <a:spcPts val="100"/>
              </a:spcBef>
            </a:pPr>
            <a:r>
              <a:rPr sz="1150">
                <a:solidFill>
                  <a:srgbClr val="94A3B8"/>
                </a:solidFill>
                <a:latin typeface="Calibri"/>
              </a:rPr>
              <a:t>Accuracy  = 73.81%</a:t>
            </a:r>
          </a:p>
          <a:p>
            <a:endParaRPr sz="1150">
              <a:solidFill>
                <a:srgbClr val="94A3B8"/>
              </a:solidFill>
              <a:latin typeface="Calibri"/>
            </a:endParaRPr>
          </a:p>
          <a:p>
            <a:pPr>
              <a:spcBef>
                <a:spcPts val="600"/>
              </a:spcBef>
            </a:pPr>
            <a:r>
              <a:rPr sz="1500" b="1">
                <a:solidFill>
                  <a:srgbClr val="06B6D4"/>
                </a:solidFill>
                <a:latin typeface="Calibri"/>
              </a:rPr>
              <a:t>Train Loss Trend</a:t>
            </a:r>
          </a:p>
          <a:p>
            <a:pPr>
              <a:spcBef>
                <a:spcPts val="300"/>
              </a:spcBef>
            </a:pPr>
            <a:r>
              <a:rPr sz="1100">
                <a:solidFill>
                  <a:srgbClr val="E2E8F0"/>
                </a:solidFill>
                <a:latin typeface="Calibri"/>
              </a:rPr>
              <a:t>Epoch 1:  0.703  (high)</a:t>
            </a:r>
          </a:p>
          <a:p>
            <a:pPr>
              <a:spcBef>
                <a:spcPts val="300"/>
              </a:spcBef>
            </a:pPr>
            <a:r>
              <a:rPr sz="1100">
                <a:solidFill>
                  <a:srgbClr val="E2E8F0"/>
                </a:solidFill>
                <a:latin typeface="Calibri"/>
              </a:rPr>
              <a:t>Epoch 5:  ~0.41  (mid)</a:t>
            </a:r>
          </a:p>
          <a:p>
            <a:pPr>
              <a:spcBef>
                <a:spcPts val="300"/>
              </a:spcBef>
            </a:pPr>
            <a:r>
              <a:rPr sz="1100">
                <a:solidFill>
                  <a:srgbClr val="E2E8F0"/>
                </a:solidFill>
                <a:latin typeface="Calibri"/>
              </a:rPr>
              <a:t>Epoch 10: 0.134  (low)</a:t>
            </a:r>
          </a:p>
          <a:p>
            <a:pPr>
              <a:spcBef>
                <a:spcPts val="300"/>
              </a:spcBef>
            </a:pPr>
            <a:r>
              <a:rPr sz="1100">
                <a:solidFill>
                  <a:srgbClr val="E2E8F0"/>
                </a:solidFill>
                <a:latin typeface="Calibri"/>
              </a:rPr>
              <a:t>Eval loss rose post E5</a:t>
            </a:r>
          </a:p>
          <a:p>
            <a:r>
              <a:rPr sz="1100">
                <a:solidFill>
                  <a:srgbClr val="94A3B8"/>
                </a:solidFill>
                <a:latin typeface="Calibri"/>
              </a:rPr>
              <a:t>→ signs of overfitting</a:t>
            </a:r>
          </a:p>
          <a:p>
            <a:endParaRPr sz="1100">
              <a:solidFill>
                <a:srgbClr val="94A3B8"/>
              </a:solidFill>
              <a:latin typeface="Calibri"/>
            </a:endParaRPr>
          </a:p>
          <a:p>
            <a:pPr>
              <a:spcBef>
                <a:spcPts val="600"/>
              </a:spcBef>
            </a:pPr>
            <a:r>
              <a:rPr sz="1500" b="1">
                <a:solidFill>
                  <a:srgbClr val="06B6D4"/>
                </a:solidFill>
                <a:latin typeface="Calibri"/>
              </a:rPr>
              <a:t>Epoch 3 Anomaly</a:t>
            </a:r>
          </a:p>
          <a:p>
            <a:pPr>
              <a:spcBef>
                <a:spcPts val="300"/>
              </a:spcBef>
            </a:pPr>
            <a:r>
              <a:rPr sz="1100">
                <a:solidFill>
                  <a:srgbClr val="E2E8F0"/>
                </a:solidFill>
                <a:latin typeface="Calibri"/>
              </a:rPr>
              <a:t>Recall spiked to 84.3%</a:t>
            </a:r>
          </a:p>
          <a:p>
            <a:pPr>
              <a:spcBef>
                <a:spcPts val="300"/>
              </a:spcBef>
            </a:pPr>
            <a:r>
              <a:rPr sz="1100">
                <a:solidFill>
                  <a:srgbClr val="E2E8F0"/>
                </a:solidFill>
                <a:latin typeface="Calibri"/>
              </a:rPr>
              <a:t>Precision fell to 41.5%</a:t>
            </a:r>
          </a:p>
          <a:p>
            <a:pPr>
              <a:spcBef>
                <a:spcPts val="300"/>
              </a:spcBef>
            </a:pPr>
            <a:r>
              <a:rPr sz="1100">
                <a:solidFill>
                  <a:srgbClr val="E2E8F0"/>
                </a:solidFill>
                <a:latin typeface="Calibri"/>
              </a:rPr>
              <a:t>Mid-warmup imbalance</a:t>
            </a:r>
          </a:p>
          <a:p>
            <a:endParaRPr sz="1100">
              <a:solidFill>
                <a:srgbClr val="E2E8F0"/>
              </a:solidFill>
              <a:latin typeface="Calibri"/>
            </a:endParaRPr>
          </a:p>
          <a:p>
            <a:pPr>
              <a:spcBef>
                <a:spcPts val="600"/>
              </a:spcBef>
            </a:pPr>
            <a:r>
              <a:rPr sz="1500" b="1">
                <a:solidFill>
                  <a:srgbClr val="06B6D4"/>
                </a:solidFill>
                <a:latin typeface="Calibri"/>
              </a:rPr>
              <a:t>Runtime</a:t>
            </a:r>
          </a:p>
          <a:p>
            <a:pPr>
              <a:spcBef>
                <a:spcPts val="300"/>
              </a:spcBef>
            </a:pPr>
            <a:r>
              <a:rPr sz="1100">
                <a:solidFill>
                  <a:srgbClr val="E2E8F0"/>
                </a:solidFill>
                <a:latin typeface="Calibri"/>
              </a:rPr>
              <a:t>1,107 sec  (~18.5 min)</a:t>
            </a:r>
          </a:p>
          <a:p>
            <a:pPr>
              <a:spcBef>
                <a:spcPts val="300"/>
              </a:spcBef>
            </a:pPr>
            <a:r>
              <a:rPr sz="1100">
                <a:solidFill>
                  <a:srgbClr val="E2E8F0"/>
                </a:solidFill>
                <a:latin typeface="Calibri"/>
              </a:rPr>
              <a:t>194.5 samples / sec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34D399"/>
                </a:solidFill>
                <a:latin typeface="Calibri"/>
              </a:rPr>
              <a:t>TASK 2  ·  DETECTION  ·  FINAL RESULTS</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Detection Results — Best Checkpoint</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DeBERTa-base  ·  Epoch 8 best model  ·  Test set evaluation</a:t>
            </a:r>
          </a:p>
        </p:txBody>
      </p:sp>
      <p:sp>
        <p:nvSpPr>
          <p:cNvPr id="6" name="Rectangle 5"/>
          <p:cNvSpPr/>
          <p:nvPr/>
        </p:nvSpPr>
        <p:spPr>
          <a:xfrm>
            <a:off x="457200" y="1920240"/>
            <a:ext cx="2743200" cy="1371600"/>
          </a:xfrm>
          <a:prstGeom prst="rect">
            <a:avLst/>
          </a:prstGeom>
          <a:solidFill>
            <a:srgbClr val="162235"/>
          </a:solid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011680"/>
            <a:ext cx="2468880" cy="731520"/>
          </a:xfrm>
          <a:prstGeom prst="rect">
            <a:avLst/>
          </a:prstGeom>
          <a:noFill/>
        </p:spPr>
        <p:txBody>
          <a:bodyPr wrap="square">
            <a:spAutoFit/>
          </a:bodyPr>
          <a:lstStyle/>
          <a:p>
            <a:pPr algn="l"/>
            <a:r>
              <a:rPr sz="2600" b="1" i="0">
                <a:solidFill>
                  <a:srgbClr val="7C3AED"/>
                </a:solidFill>
                <a:latin typeface="Calibri"/>
              </a:rPr>
              <a:t>70.43%</a:t>
            </a:r>
          </a:p>
        </p:txBody>
      </p:sp>
      <p:sp>
        <p:nvSpPr>
          <p:cNvPr id="8" name="TextBox 7"/>
          <p:cNvSpPr txBox="1"/>
          <p:nvPr/>
        </p:nvSpPr>
        <p:spPr>
          <a:xfrm>
            <a:off x="594360" y="2743200"/>
            <a:ext cx="2468880" cy="411480"/>
          </a:xfrm>
          <a:prstGeom prst="rect">
            <a:avLst/>
          </a:prstGeom>
          <a:noFill/>
        </p:spPr>
        <p:txBody>
          <a:bodyPr wrap="square">
            <a:spAutoFit/>
          </a:bodyPr>
          <a:lstStyle/>
          <a:p>
            <a:pPr algn="l"/>
            <a:r>
              <a:rPr sz="1100" b="0" i="0">
                <a:solidFill>
                  <a:srgbClr val="94A3B8"/>
                </a:solidFill>
                <a:latin typeface="Calibri"/>
              </a:rPr>
              <a:t>Accuracy</a:t>
            </a:r>
          </a:p>
        </p:txBody>
      </p:sp>
      <p:sp>
        <p:nvSpPr>
          <p:cNvPr id="9" name="TextBox 8"/>
          <p:cNvSpPr txBox="1"/>
          <p:nvPr/>
        </p:nvSpPr>
        <p:spPr>
          <a:xfrm>
            <a:off x="594360" y="3108960"/>
            <a:ext cx="2468880" cy="228600"/>
          </a:xfrm>
          <a:prstGeom prst="rect">
            <a:avLst/>
          </a:prstGeom>
          <a:noFill/>
        </p:spPr>
        <p:txBody>
          <a:bodyPr wrap="square">
            <a:spAutoFit/>
          </a:bodyPr>
          <a:lstStyle/>
          <a:p>
            <a:pPr algn="l"/>
            <a:r>
              <a:rPr sz="900" b="0" i="0">
                <a:solidFill>
                  <a:srgbClr val="475569"/>
                </a:solidFill>
                <a:latin typeface="Calibri"/>
              </a:rPr>
              <a:t>Test Set</a:t>
            </a:r>
          </a:p>
        </p:txBody>
      </p:sp>
      <p:sp>
        <p:nvSpPr>
          <p:cNvPr id="10" name="Rectangle 9"/>
          <p:cNvSpPr/>
          <p:nvPr/>
        </p:nvSpPr>
        <p:spPr>
          <a:xfrm>
            <a:off x="3383280" y="1920240"/>
            <a:ext cx="2743200" cy="1371600"/>
          </a:xfrm>
          <a:prstGeom prst="rect">
            <a:avLst/>
          </a:prstGeom>
          <a:solidFill>
            <a:srgbClr val="162235"/>
          </a:solidFill>
          <a:ln w="228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20440" y="2011680"/>
            <a:ext cx="2468880" cy="731520"/>
          </a:xfrm>
          <a:prstGeom prst="rect">
            <a:avLst/>
          </a:prstGeom>
          <a:noFill/>
        </p:spPr>
        <p:txBody>
          <a:bodyPr wrap="square">
            <a:spAutoFit/>
          </a:bodyPr>
          <a:lstStyle/>
          <a:p>
            <a:pPr algn="l"/>
            <a:r>
              <a:rPr sz="2600" b="1" i="0">
                <a:solidFill>
                  <a:srgbClr val="06B6D4"/>
                </a:solidFill>
                <a:latin typeface="Calibri"/>
              </a:rPr>
              <a:t>54.83%</a:t>
            </a:r>
          </a:p>
        </p:txBody>
      </p:sp>
      <p:sp>
        <p:nvSpPr>
          <p:cNvPr id="12" name="TextBox 11"/>
          <p:cNvSpPr txBox="1"/>
          <p:nvPr/>
        </p:nvSpPr>
        <p:spPr>
          <a:xfrm>
            <a:off x="3520440" y="2743200"/>
            <a:ext cx="2468880" cy="411480"/>
          </a:xfrm>
          <a:prstGeom prst="rect">
            <a:avLst/>
          </a:prstGeom>
          <a:noFill/>
        </p:spPr>
        <p:txBody>
          <a:bodyPr wrap="square">
            <a:spAutoFit/>
          </a:bodyPr>
          <a:lstStyle/>
          <a:p>
            <a:pPr algn="l"/>
            <a:r>
              <a:rPr sz="1100" b="0" i="0">
                <a:solidFill>
                  <a:srgbClr val="94A3B8"/>
                </a:solidFill>
                <a:latin typeface="Calibri"/>
              </a:rPr>
              <a:t>Precision</a:t>
            </a:r>
          </a:p>
        </p:txBody>
      </p:sp>
      <p:sp>
        <p:nvSpPr>
          <p:cNvPr id="13" name="TextBox 12"/>
          <p:cNvSpPr txBox="1"/>
          <p:nvPr/>
        </p:nvSpPr>
        <p:spPr>
          <a:xfrm>
            <a:off x="3520440" y="3108960"/>
            <a:ext cx="2468880" cy="228600"/>
          </a:xfrm>
          <a:prstGeom prst="rect">
            <a:avLst/>
          </a:prstGeom>
          <a:noFill/>
        </p:spPr>
        <p:txBody>
          <a:bodyPr wrap="square">
            <a:spAutoFit/>
          </a:bodyPr>
          <a:lstStyle/>
          <a:p>
            <a:pPr algn="l"/>
            <a:r>
              <a:rPr sz="900" b="0" i="0">
                <a:solidFill>
                  <a:srgbClr val="475569"/>
                </a:solidFill>
                <a:latin typeface="Calibri"/>
              </a:rPr>
              <a:t>Test Set</a:t>
            </a:r>
          </a:p>
        </p:txBody>
      </p:sp>
      <p:sp>
        <p:nvSpPr>
          <p:cNvPr id="14" name="Rectangle 13"/>
          <p:cNvSpPr/>
          <p:nvPr/>
        </p:nvSpPr>
        <p:spPr>
          <a:xfrm>
            <a:off x="6309360" y="1920240"/>
            <a:ext cx="2743200" cy="1371600"/>
          </a:xfrm>
          <a:prstGeom prst="rect">
            <a:avLst/>
          </a:prstGeom>
          <a:solidFill>
            <a:srgbClr val="162235"/>
          </a:solidFill>
          <a:ln w="2286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2011680"/>
            <a:ext cx="2468880" cy="731520"/>
          </a:xfrm>
          <a:prstGeom prst="rect">
            <a:avLst/>
          </a:prstGeom>
          <a:noFill/>
        </p:spPr>
        <p:txBody>
          <a:bodyPr wrap="square">
            <a:spAutoFit/>
          </a:bodyPr>
          <a:lstStyle/>
          <a:p>
            <a:pPr algn="l"/>
            <a:r>
              <a:rPr sz="2600" b="1" i="0">
                <a:solidFill>
                  <a:srgbClr val="A78BFA"/>
                </a:solidFill>
                <a:latin typeface="Calibri"/>
              </a:rPr>
              <a:t>64.16%</a:t>
            </a:r>
          </a:p>
        </p:txBody>
      </p:sp>
      <p:sp>
        <p:nvSpPr>
          <p:cNvPr id="16" name="TextBox 15"/>
          <p:cNvSpPr txBox="1"/>
          <p:nvPr/>
        </p:nvSpPr>
        <p:spPr>
          <a:xfrm>
            <a:off x="6446520" y="2743200"/>
            <a:ext cx="2468880" cy="411480"/>
          </a:xfrm>
          <a:prstGeom prst="rect">
            <a:avLst/>
          </a:prstGeom>
          <a:noFill/>
        </p:spPr>
        <p:txBody>
          <a:bodyPr wrap="square">
            <a:spAutoFit/>
          </a:bodyPr>
          <a:lstStyle/>
          <a:p>
            <a:pPr algn="l"/>
            <a:r>
              <a:rPr sz="1100" b="0" i="0">
                <a:solidFill>
                  <a:srgbClr val="94A3B8"/>
                </a:solidFill>
                <a:latin typeface="Calibri"/>
              </a:rPr>
              <a:t>Recall</a:t>
            </a:r>
          </a:p>
        </p:txBody>
      </p:sp>
      <p:sp>
        <p:nvSpPr>
          <p:cNvPr id="17" name="TextBox 16"/>
          <p:cNvSpPr txBox="1"/>
          <p:nvPr/>
        </p:nvSpPr>
        <p:spPr>
          <a:xfrm>
            <a:off x="6446520" y="3108960"/>
            <a:ext cx="2468880" cy="228600"/>
          </a:xfrm>
          <a:prstGeom prst="rect">
            <a:avLst/>
          </a:prstGeom>
          <a:noFill/>
        </p:spPr>
        <p:txBody>
          <a:bodyPr wrap="square">
            <a:spAutoFit/>
          </a:bodyPr>
          <a:lstStyle/>
          <a:p>
            <a:pPr algn="l"/>
            <a:r>
              <a:rPr sz="900" b="0" i="0">
                <a:solidFill>
                  <a:srgbClr val="475569"/>
                </a:solidFill>
                <a:latin typeface="Calibri"/>
              </a:rPr>
              <a:t>Test Set</a:t>
            </a:r>
          </a:p>
        </p:txBody>
      </p:sp>
      <p:sp>
        <p:nvSpPr>
          <p:cNvPr id="18" name="Rectangle 17"/>
          <p:cNvSpPr/>
          <p:nvPr/>
        </p:nvSpPr>
        <p:spPr>
          <a:xfrm>
            <a:off x="9235440" y="1920240"/>
            <a:ext cx="2743200" cy="1371600"/>
          </a:xfrm>
          <a:prstGeom prst="rect">
            <a:avLst/>
          </a:prstGeom>
          <a:solidFill>
            <a:srgbClr val="162235"/>
          </a:solidFill>
          <a:ln w="2286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72600" y="2011680"/>
            <a:ext cx="2468880" cy="731520"/>
          </a:xfrm>
          <a:prstGeom prst="rect">
            <a:avLst/>
          </a:prstGeom>
          <a:noFill/>
        </p:spPr>
        <p:txBody>
          <a:bodyPr wrap="square">
            <a:spAutoFit/>
          </a:bodyPr>
          <a:lstStyle/>
          <a:p>
            <a:pPr algn="l"/>
            <a:r>
              <a:rPr sz="2600" b="1" i="0">
                <a:solidFill>
                  <a:srgbClr val="34D399"/>
                </a:solidFill>
                <a:latin typeface="Calibri"/>
              </a:rPr>
              <a:t>67.98%</a:t>
            </a:r>
          </a:p>
        </p:txBody>
      </p:sp>
      <p:sp>
        <p:nvSpPr>
          <p:cNvPr id="20" name="TextBox 19"/>
          <p:cNvSpPr txBox="1"/>
          <p:nvPr/>
        </p:nvSpPr>
        <p:spPr>
          <a:xfrm>
            <a:off x="9372600" y="2743200"/>
            <a:ext cx="2468880" cy="411480"/>
          </a:xfrm>
          <a:prstGeom prst="rect">
            <a:avLst/>
          </a:prstGeom>
          <a:noFill/>
        </p:spPr>
        <p:txBody>
          <a:bodyPr wrap="square">
            <a:spAutoFit/>
          </a:bodyPr>
          <a:lstStyle/>
          <a:p>
            <a:pPr algn="l"/>
            <a:r>
              <a:rPr sz="1100" b="0" i="0">
                <a:solidFill>
                  <a:srgbClr val="94A3B8"/>
                </a:solidFill>
                <a:latin typeface="Calibri"/>
              </a:rPr>
              <a:t>Macro-F1</a:t>
            </a:r>
          </a:p>
        </p:txBody>
      </p:sp>
      <p:sp>
        <p:nvSpPr>
          <p:cNvPr id="21" name="TextBox 20"/>
          <p:cNvSpPr txBox="1"/>
          <p:nvPr/>
        </p:nvSpPr>
        <p:spPr>
          <a:xfrm>
            <a:off x="9372600" y="3108960"/>
            <a:ext cx="2468880" cy="228600"/>
          </a:xfrm>
          <a:prstGeom prst="rect">
            <a:avLst/>
          </a:prstGeom>
          <a:noFill/>
        </p:spPr>
        <p:txBody>
          <a:bodyPr wrap="square">
            <a:spAutoFit/>
          </a:bodyPr>
          <a:lstStyle/>
          <a:p>
            <a:pPr algn="l"/>
            <a:r>
              <a:rPr sz="900" b="0" i="0">
                <a:solidFill>
                  <a:srgbClr val="475569"/>
                </a:solidFill>
                <a:latin typeface="Calibri"/>
              </a:rPr>
              <a:t>Test Set</a:t>
            </a:r>
          </a:p>
        </p:txBody>
      </p:sp>
      <p:sp>
        <p:nvSpPr>
          <p:cNvPr id="22" name="TextBox 21"/>
          <p:cNvSpPr txBox="1"/>
          <p:nvPr/>
        </p:nvSpPr>
        <p:spPr>
          <a:xfrm>
            <a:off x="548640" y="3520440"/>
            <a:ext cx="7772400" cy="411480"/>
          </a:xfrm>
          <a:prstGeom prst="rect">
            <a:avLst/>
          </a:prstGeom>
          <a:noFill/>
        </p:spPr>
        <p:txBody>
          <a:bodyPr wrap="square">
            <a:spAutoFit/>
          </a:bodyPr>
          <a:lstStyle/>
          <a:p>
            <a:pPr algn="l"/>
            <a:r>
              <a:rPr sz="1300" b="1" i="0">
                <a:solidFill>
                  <a:srgbClr val="FFFFFF"/>
                </a:solidFill>
                <a:latin typeface="Calibri"/>
              </a:rPr>
              <a:t>Validation vs Test — Metric Comparison</a:t>
            </a:r>
          </a:p>
        </p:txBody>
      </p:sp>
      <p:sp>
        <p:nvSpPr>
          <p:cNvPr id="23" name="TextBox 22"/>
          <p:cNvSpPr txBox="1"/>
          <p:nvPr/>
        </p:nvSpPr>
        <p:spPr>
          <a:xfrm>
            <a:off x="548640" y="3977639"/>
            <a:ext cx="2194560" cy="347472"/>
          </a:xfrm>
          <a:prstGeom prst="rect">
            <a:avLst/>
          </a:prstGeom>
          <a:noFill/>
        </p:spPr>
        <p:txBody>
          <a:bodyPr wrap="square">
            <a:spAutoFit/>
          </a:bodyPr>
          <a:lstStyle/>
          <a:p>
            <a:pPr algn="l"/>
            <a:r>
              <a:rPr sz="1100" b="1" i="0">
                <a:solidFill>
                  <a:srgbClr val="FFFFFF"/>
                </a:solidFill>
                <a:latin typeface="Calibri"/>
              </a:rPr>
              <a:t>Metric</a:t>
            </a:r>
          </a:p>
        </p:txBody>
      </p:sp>
      <p:sp>
        <p:nvSpPr>
          <p:cNvPr id="24" name="TextBox 23"/>
          <p:cNvSpPr txBox="1"/>
          <p:nvPr/>
        </p:nvSpPr>
        <p:spPr>
          <a:xfrm>
            <a:off x="2926080" y="3977639"/>
            <a:ext cx="2194560" cy="347472"/>
          </a:xfrm>
          <a:prstGeom prst="rect">
            <a:avLst/>
          </a:prstGeom>
          <a:noFill/>
        </p:spPr>
        <p:txBody>
          <a:bodyPr wrap="square">
            <a:spAutoFit/>
          </a:bodyPr>
          <a:lstStyle/>
          <a:p>
            <a:pPr algn="l"/>
            <a:r>
              <a:rPr sz="1100" b="1" i="0">
                <a:solidFill>
                  <a:srgbClr val="A78BFA"/>
                </a:solidFill>
                <a:latin typeface="Calibri"/>
              </a:rPr>
              <a:t>Validation</a:t>
            </a:r>
          </a:p>
        </p:txBody>
      </p:sp>
      <p:sp>
        <p:nvSpPr>
          <p:cNvPr id="25" name="TextBox 24"/>
          <p:cNvSpPr txBox="1"/>
          <p:nvPr/>
        </p:nvSpPr>
        <p:spPr>
          <a:xfrm>
            <a:off x="5303520" y="3977639"/>
            <a:ext cx="2194560" cy="347472"/>
          </a:xfrm>
          <a:prstGeom prst="rect">
            <a:avLst/>
          </a:prstGeom>
          <a:noFill/>
        </p:spPr>
        <p:txBody>
          <a:bodyPr wrap="square">
            <a:spAutoFit/>
          </a:bodyPr>
          <a:lstStyle/>
          <a:p>
            <a:pPr algn="l"/>
            <a:r>
              <a:rPr sz="1100" b="1" i="0">
                <a:solidFill>
                  <a:srgbClr val="06B6D4"/>
                </a:solidFill>
                <a:latin typeface="Calibri"/>
              </a:rPr>
              <a:t>Test Set</a:t>
            </a:r>
          </a:p>
        </p:txBody>
      </p:sp>
      <p:sp>
        <p:nvSpPr>
          <p:cNvPr id="26" name="TextBox 25"/>
          <p:cNvSpPr txBox="1"/>
          <p:nvPr/>
        </p:nvSpPr>
        <p:spPr>
          <a:xfrm>
            <a:off x="7772400" y="3977639"/>
            <a:ext cx="2194560" cy="347472"/>
          </a:xfrm>
          <a:prstGeom prst="rect">
            <a:avLst/>
          </a:prstGeom>
          <a:noFill/>
        </p:spPr>
        <p:txBody>
          <a:bodyPr wrap="square">
            <a:spAutoFit/>
          </a:bodyPr>
          <a:lstStyle/>
          <a:p>
            <a:pPr algn="l"/>
            <a:r>
              <a:rPr sz="1100" b="1" i="0">
                <a:solidFill>
                  <a:srgbClr val="94A3B8"/>
                </a:solidFill>
                <a:latin typeface="Calibri"/>
              </a:rPr>
              <a:t>Delta</a:t>
            </a:r>
          </a:p>
        </p:txBody>
      </p:sp>
      <p:sp>
        <p:nvSpPr>
          <p:cNvPr id="27" name="Rectangle 26"/>
          <p:cNvSpPr/>
          <p:nvPr/>
        </p:nvSpPr>
        <p:spPr>
          <a:xfrm>
            <a:off x="457200" y="4343400"/>
            <a:ext cx="8046720" cy="2743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4389120"/>
            <a:ext cx="8046720" cy="384048"/>
          </a:xfrm>
          <a:prstGeom prst="rect">
            <a:avLst/>
          </a:prstGeom>
          <a:solidFill>
            <a:srgbClr val="16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4453128"/>
            <a:ext cx="2194560" cy="274320"/>
          </a:xfrm>
          <a:prstGeom prst="rect">
            <a:avLst/>
          </a:prstGeom>
          <a:noFill/>
        </p:spPr>
        <p:txBody>
          <a:bodyPr wrap="square">
            <a:spAutoFit/>
          </a:bodyPr>
          <a:lstStyle/>
          <a:p>
            <a:pPr algn="l"/>
            <a:r>
              <a:rPr sz="1100" b="0" i="0">
                <a:solidFill>
                  <a:srgbClr val="94A3B8"/>
                </a:solidFill>
                <a:latin typeface="Calibri"/>
              </a:rPr>
              <a:t>Accuracy</a:t>
            </a:r>
          </a:p>
        </p:txBody>
      </p:sp>
      <p:sp>
        <p:nvSpPr>
          <p:cNvPr id="30" name="TextBox 29"/>
          <p:cNvSpPr txBox="1"/>
          <p:nvPr/>
        </p:nvSpPr>
        <p:spPr>
          <a:xfrm>
            <a:off x="2926080" y="4453128"/>
            <a:ext cx="2194560" cy="274320"/>
          </a:xfrm>
          <a:prstGeom prst="rect">
            <a:avLst/>
          </a:prstGeom>
          <a:noFill/>
        </p:spPr>
        <p:txBody>
          <a:bodyPr wrap="square">
            <a:spAutoFit/>
          </a:bodyPr>
          <a:lstStyle/>
          <a:p>
            <a:pPr algn="l"/>
            <a:r>
              <a:rPr sz="1100" b="1" i="0">
                <a:solidFill>
                  <a:srgbClr val="A78BFA"/>
                </a:solidFill>
                <a:latin typeface="Calibri"/>
              </a:rPr>
              <a:t>70.51%</a:t>
            </a:r>
          </a:p>
        </p:txBody>
      </p:sp>
      <p:sp>
        <p:nvSpPr>
          <p:cNvPr id="31" name="TextBox 30"/>
          <p:cNvSpPr txBox="1"/>
          <p:nvPr/>
        </p:nvSpPr>
        <p:spPr>
          <a:xfrm>
            <a:off x="5303520" y="4453128"/>
            <a:ext cx="2194560" cy="274320"/>
          </a:xfrm>
          <a:prstGeom prst="rect">
            <a:avLst/>
          </a:prstGeom>
          <a:noFill/>
        </p:spPr>
        <p:txBody>
          <a:bodyPr wrap="square">
            <a:spAutoFit/>
          </a:bodyPr>
          <a:lstStyle/>
          <a:p>
            <a:pPr algn="l"/>
            <a:r>
              <a:rPr sz="1100" b="1" i="0">
                <a:solidFill>
                  <a:srgbClr val="06B6D4"/>
                </a:solidFill>
                <a:latin typeface="Calibri"/>
              </a:rPr>
              <a:t>70.43%</a:t>
            </a:r>
          </a:p>
        </p:txBody>
      </p:sp>
      <p:sp>
        <p:nvSpPr>
          <p:cNvPr id="32" name="TextBox 31"/>
          <p:cNvSpPr txBox="1"/>
          <p:nvPr/>
        </p:nvSpPr>
        <p:spPr>
          <a:xfrm>
            <a:off x="7772400" y="4453128"/>
            <a:ext cx="1371600" cy="274320"/>
          </a:xfrm>
          <a:prstGeom prst="rect">
            <a:avLst/>
          </a:prstGeom>
          <a:noFill/>
        </p:spPr>
        <p:txBody>
          <a:bodyPr wrap="square">
            <a:spAutoFit/>
          </a:bodyPr>
          <a:lstStyle/>
          <a:p>
            <a:pPr algn="l"/>
            <a:r>
              <a:rPr sz="1100" b="0" i="0">
                <a:solidFill>
                  <a:srgbClr val="FB7185"/>
                </a:solidFill>
                <a:latin typeface="Calibri"/>
              </a:rPr>
              <a:t>−0.08</a:t>
            </a:r>
          </a:p>
        </p:txBody>
      </p:sp>
      <p:sp>
        <p:nvSpPr>
          <p:cNvPr id="33" name="Rectangle 32"/>
          <p:cNvSpPr/>
          <p:nvPr/>
        </p:nvSpPr>
        <p:spPr>
          <a:xfrm>
            <a:off x="457200" y="4818888"/>
            <a:ext cx="8046720" cy="384048"/>
          </a:xfrm>
          <a:prstGeom prst="rect">
            <a:avLst/>
          </a:prstGeom>
          <a:solidFill>
            <a:srgbClr val="11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8640" y="4882896"/>
            <a:ext cx="2194560" cy="274320"/>
          </a:xfrm>
          <a:prstGeom prst="rect">
            <a:avLst/>
          </a:prstGeom>
          <a:noFill/>
        </p:spPr>
        <p:txBody>
          <a:bodyPr wrap="square">
            <a:spAutoFit/>
          </a:bodyPr>
          <a:lstStyle/>
          <a:p>
            <a:pPr algn="l"/>
            <a:r>
              <a:rPr sz="1100" b="0" i="0">
                <a:solidFill>
                  <a:srgbClr val="94A3B8"/>
                </a:solidFill>
                <a:latin typeface="Calibri"/>
              </a:rPr>
              <a:t>Precision</a:t>
            </a:r>
          </a:p>
        </p:txBody>
      </p:sp>
      <p:sp>
        <p:nvSpPr>
          <p:cNvPr id="35" name="TextBox 34"/>
          <p:cNvSpPr txBox="1"/>
          <p:nvPr/>
        </p:nvSpPr>
        <p:spPr>
          <a:xfrm>
            <a:off x="2926080" y="4882896"/>
            <a:ext cx="2194560" cy="274320"/>
          </a:xfrm>
          <a:prstGeom prst="rect">
            <a:avLst/>
          </a:prstGeom>
          <a:noFill/>
        </p:spPr>
        <p:txBody>
          <a:bodyPr wrap="square">
            <a:spAutoFit/>
          </a:bodyPr>
          <a:lstStyle/>
          <a:p>
            <a:pPr algn="l"/>
            <a:r>
              <a:rPr sz="1100" b="1" i="0">
                <a:solidFill>
                  <a:srgbClr val="A78BFA"/>
                </a:solidFill>
                <a:latin typeface="Calibri"/>
              </a:rPr>
              <a:t>54.43%</a:t>
            </a:r>
          </a:p>
        </p:txBody>
      </p:sp>
      <p:sp>
        <p:nvSpPr>
          <p:cNvPr id="36" name="TextBox 35"/>
          <p:cNvSpPr txBox="1"/>
          <p:nvPr/>
        </p:nvSpPr>
        <p:spPr>
          <a:xfrm>
            <a:off x="5303520" y="4882896"/>
            <a:ext cx="2194560" cy="274320"/>
          </a:xfrm>
          <a:prstGeom prst="rect">
            <a:avLst/>
          </a:prstGeom>
          <a:noFill/>
        </p:spPr>
        <p:txBody>
          <a:bodyPr wrap="square">
            <a:spAutoFit/>
          </a:bodyPr>
          <a:lstStyle/>
          <a:p>
            <a:pPr algn="l"/>
            <a:r>
              <a:rPr sz="1100" b="1" i="0">
                <a:solidFill>
                  <a:srgbClr val="06B6D4"/>
                </a:solidFill>
                <a:latin typeface="Calibri"/>
              </a:rPr>
              <a:t>54.83%</a:t>
            </a:r>
          </a:p>
        </p:txBody>
      </p:sp>
      <p:sp>
        <p:nvSpPr>
          <p:cNvPr id="37" name="TextBox 36"/>
          <p:cNvSpPr txBox="1"/>
          <p:nvPr/>
        </p:nvSpPr>
        <p:spPr>
          <a:xfrm>
            <a:off x="7772400" y="4882896"/>
            <a:ext cx="1371600" cy="274320"/>
          </a:xfrm>
          <a:prstGeom prst="rect">
            <a:avLst/>
          </a:prstGeom>
          <a:noFill/>
        </p:spPr>
        <p:txBody>
          <a:bodyPr wrap="square">
            <a:spAutoFit/>
          </a:bodyPr>
          <a:lstStyle/>
          <a:p>
            <a:pPr algn="l"/>
            <a:r>
              <a:rPr sz="1100" b="0" i="0">
                <a:solidFill>
                  <a:srgbClr val="94A3B8"/>
                </a:solidFill>
                <a:latin typeface="Calibri"/>
              </a:rPr>
              <a:t>+0.40</a:t>
            </a:r>
          </a:p>
        </p:txBody>
      </p:sp>
      <p:sp>
        <p:nvSpPr>
          <p:cNvPr id="38" name="Rectangle 37"/>
          <p:cNvSpPr/>
          <p:nvPr/>
        </p:nvSpPr>
        <p:spPr>
          <a:xfrm>
            <a:off x="457200" y="5248656"/>
            <a:ext cx="8046720" cy="384048"/>
          </a:xfrm>
          <a:prstGeom prst="rect">
            <a:avLst/>
          </a:prstGeom>
          <a:solidFill>
            <a:srgbClr val="16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48640" y="5312664"/>
            <a:ext cx="2194560" cy="274320"/>
          </a:xfrm>
          <a:prstGeom prst="rect">
            <a:avLst/>
          </a:prstGeom>
          <a:noFill/>
        </p:spPr>
        <p:txBody>
          <a:bodyPr wrap="square">
            <a:spAutoFit/>
          </a:bodyPr>
          <a:lstStyle/>
          <a:p>
            <a:pPr algn="l"/>
            <a:r>
              <a:rPr sz="1100" b="0" i="0">
                <a:solidFill>
                  <a:srgbClr val="94A3B8"/>
                </a:solidFill>
                <a:latin typeface="Calibri"/>
              </a:rPr>
              <a:t>Recall</a:t>
            </a:r>
          </a:p>
        </p:txBody>
      </p:sp>
      <p:sp>
        <p:nvSpPr>
          <p:cNvPr id="40" name="TextBox 39"/>
          <p:cNvSpPr txBox="1"/>
          <p:nvPr/>
        </p:nvSpPr>
        <p:spPr>
          <a:xfrm>
            <a:off x="2926080" y="5312664"/>
            <a:ext cx="2194560" cy="274320"/>
          </a:xfrm>
          <a:prstGeom prst="rect">
            <a:avLst/>
          </a:prstGeom>
          <a:noFill/>
        </p:spPr>
        <p:txBody>
          <a:bodyPr wrap="square">
            <a:spAutoFit/>
          </a:bodyPr>
          <a:lstStyle/>
          <a:p>
            <a:pPr algn="l"/>
            <a:r>
              <a:rPr sz="1100" b="1" i="0">
                <a:solidFill>
                  <a:srgbClr val="A78BFA"/>
                </a:solidFill>
                <a:latin typeface="Calibri"/>
              </a:rPr>
              <a:t>70.74%</a:t>
            </a:r>
          </a:p>
        </p:txBody>
      </p:sp>
      <p:sp>
        <p:nvSpPr>
          <p:cNvPr id="41" name="TextBox 40"/>
          <p:cNvSpPr txBox="1"/>
          <p:nvPr/>
        </p:nvSpPr>
        <p:spPr>
          <a:xfrm>
            <a:off x="5303520" y="5312664"/>
            <a:ext cx="2194560" cy="274320"/>
          </a:xfrm>
          <a:prstGeom prst="rect">
            <a:avLst/>
          </a:prstGeom>
          <a:noFill/>
        </p:spPr>
        <p:txBody>
          <a:bodyPr wrap="square">
            <a:spAutoFit/>
          </a:bodyPr>
          <a:lstStyle/>
          <a:p>
            <a:pPr algn="l"/>
            <a:r>
              <a:rPr sz="1100" b="1" i="0">
                <a:solidFill>
                  <a:srgbClr val="06B6D4"/>
                </a:solidFill>
                <a:latin typeface="Calibri"/>
              </a:rPr>
              <a:t>64.16%</a:t>
            </a:r>
          </a:p>
        </p:txBody>
      </p:sp>
      <p:sp>
        <p:nvSpPr>
          <p:cNvPr id="42" name="TextBox 41"/>
          <p:cNvSpPr txBox="1"/>
          <p:nvPr/>
        </p:nvSpPr>
        <p:spPr>
          <a:xfrm>
            <a:off x="7772400" y="5312664"/>
            <a:ext cx="1371600" cy="274320"/>
          </a:xfrm>
          <a:prstGeom prst="rect">
            <a:avLst/>
          </a:prstGeom>
          <a:noFill/>
        </p:spPr>
        <p:txBody>
          <a:bodyPr wrap="square">
            <a:spAutoFit/>
          </a:bodyPr>
          <a:lstStyle/>
          <a:p>
            <a:pPr algn="l"/>
            <a:r>
              <a:rPr sz="1100" b="0" i="0">
                <a:solidFill>
                  <a:srgbClr val="FB7185"/>
                </a:solidFill>
                <a:latin typeface="Calibri"/>
              </a:rPr>
              <a:t>−6.58</a:t>
            </a:r>
          </a:p>
        </p:txBody>
      </p:sp>
      <p:sp>
        <p:nvSpPr>
          <p:cNvPr id="43" name="Rectangle 42"/>
          <p:cNvSpPr/>
          <p:nvPr/>
        </p:nvSpPr>
        <p:spPr>
          <a:xfrm>
            <a:off x="457200" y="5678424"/>
            <a:ext cx="8046720" cy="384048"/>
          </a:xfrm>
          <a:prstGeom prst="rect">
            <a:avLst/>
          </a:prstGeom>
          <a:solidFill>
            <a:srgbClr val="11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48640" y="5742432"/>
            <a:ext cx="2194560" cy="274320"/>
          </a:xfrm>
          <a:prstGeom prst="rect">
            <a:avLst/>
          </a:prstGeom>
          <a:noFill/>
        </p:spPr>
        <p:txBody>
          <a:bodyPr wrap="square">
            <a:spAutoFit/>
          </a:bodyPr>
          <a:lstStyle/>
          <a:p>
            <a:pPr algn="l"/>
            <a:r>
              <a:rPr sz="1100" b="0" i="0">
                <a:solidFill>
                  <a:srgbClr val="94A3B8"/>
                </a:solidFill>
                <a:latin typeface="Calibri"/>
              </a:rPr>
              <a:t>Binary F1</a:t>
            </a:r>
          </a:p>
        </p:txBody>
      </p:sp>
      <p:sp>
        <p:nvSpPr>
          <p:cNvPr id="45" name="TextBox 44"/>
          <p:cNvSpPr txBox="1"/>
          <p:nvPr/>
        </p:nvSpPr>
        <p:spPr>
          <a:xfrm>
            <a:off x="2926080" y="5742432"/>
            <a:ext cx="2194560" cy="274320"/>
          </a:xfrm>
          <a:prstGeom prst="rect">
            <a:avLst/>
          </a:prstGeom>
          <a:noFill/>
        </p:spPr>
        <p:txBody>
          <a:bodyPr wrap="square">
            <a:spAutoFit/>
          </a:bodyPr>
          <a:lstStyle/>
          <a:p>
            <a:pPr algn="l"/>
            <a:r>
              <a:rPr sz="1100" b="1" i="0">
                <a:solidFill>
                  <a:srgbClr val="A78BFA"/>
                </a:solidFill>
                <a:latin typeface="Calibri"/>
              </a:rPr>
              <a:t>61.52%</a:t>
            </a:r>
          </a:p>
        </p:txBody>
      </p:sp>
      <p:sp>
        <p:nvSpPr>
          <p:cNvPr id="46" name="TextBox 45"/>
          <p:cNvSpPr txBox="1"/>
          <p:nvPr/>
        </p:nvSpPr>
        <p:spPr>
          <a:xfrm>
            <a:off x="5303520" y="5742432"/>
            <a:ext cx="2194560" cy="274320"/>
          </a:xfrm>
          <a:prstGeom prst="rect">
            <a:avLst/>
          </a:prstGeom>
          <a:noFill/>
        </p:spPr>
        <p:txBody>
          <a:bodyPr wrap="square">
            <a:spAutoFit/>
          </a:bodyPr>
          <a:lstStyle/>
          <a:p>
            <a:pPr algn="l"/>
            <a:r>
              <a:rPr sz="1100" b="1" i="0">
                <a:solidFill>
                  <a:srgbClr val="06B6D4"/>
                </a:solidFill>
                <a:latin typeface="Calibri"/>
              </a:rPr>
              <a:t>59.13%</a:t>
            </a:r>
          </a:p>
        </p:txBody>
      </p:sp>
      <p:sp>
        <p:nvSpPr>
          <p:cNvPr id="47" name="TextBox 46"/>
          <p:cNvSpPr txBox="1"/>
          <p:nvPr/>
        </p:nvSpPr>
        <p:spPr>
          <a:xfrm>
            <a:off x="7772400" y="5742432"/>
            <a:ext cx="1371600" cy="274320"/>
          </a:xfrm>
          <a:prstGeom prst="rect">
            <a:avLst/>
          </a:prstGeom>
          <a:noFill/>
        </p:spPr>
        <p:txBody>
          <a:bodyPr wrap="square">
            <a:spAutoFit/>
          </a:bodyPr>
          <a:lstStyle/>
          <a:p>
            <a:pPr algn="l"/>
            <a:r>
              <a:rPr sz="1100" b="0" i="0">
                <a:solidFill>
                  <a:srgbClr val="FB7185"/>
                </a:solidFill>
                <a:latin typeface="Calibri"/>
              </a:rPr>
              <a:t>−2.39</a:t>
            </a:r>
          </a:p>
        </p:txBody>
      </p:sp>
      <p:sp>
        <p:nvSpPr>
          <p:cNvPr id="48" name="Rectangle 47"/>
          <p:cNvSpPr/>
          <p:nvPr/>
        </p:nvSpPr>
        <p:spPr>
          <a:xfrm>
            <a:off x="457200" y="6108192"/>
            <a:ext cx="8046720" cy="384048"/>
          </a:xfrm>
          <a:prstGeom prst="rect">
            <a:avLst/>
          </a:prstGeom>
          <a:solidFill>
            <a:srgbClr val="16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48640" y="6172200"/>
            <a:ext cx="2194560" cy="274320"/>
          </a:xfrm>
          <a:prstGeom prst="rect">
            <a:avLst/>
          </a:prstGeom>
          <a:noFill/>
        </p:spPr>
        <p:txBody>
          <a:bodyPr wrap="square">
            <a:spAutoFit/>
          </a:bodyPr>
          <a:lstStyle/>
          <a:p>
            <a:pPr algn="l"/>
            <a:r>
              <a:rPr sz="1100" b="0" i="0">
                <a:solidFill>
                  <a:srgbClr val="94A3B8"/>
                </a:solidFill>
                <a:latin typeface="Calibri"/>
              </a:rPr>
              <a:t>Macro-F1</a:t>
            </a:r>
          </a:p>
        </p:txBody>
      </p:sp>
      <p:sp>
        <p:nvSpPr>
          <p:cNvPr id="50" name="TextBox 49"/>
          <p:cNvSpPr txBox="1"/>
          <p:nvPr/>
        </p:nvSpPr>
        <p:spPr>
          <a:xfrm>
            <a:off x="2926080" y="6172200"/>
            <a:ext cx="2194560" cy="274320"/>
          </a:xfrm>
          <a:prstGeom prst="rect">
            <a:avLst/>
          </a:prstGeom>
          <a:noFill/>
        </p:spPr>
        <p:txBody>
          <a:bodyPr wrap="square">
            <a:spAutoFit/>
          </a:bodyPr>
          <a:lstStyle/>
          <a:p>
            <a:pPr algn="l"/>
            <a:r>
              <a:rPr sz="1100" b="1" i="0">
                <a:solidFill>
                  <a:srgbClr val="A78BFA"/>
                </a:solidFill>
                <a:latin typeface="Calibri"/>
              </a:rPr>
              <a:t>68.81%</a:t>
            </a:r>
          </a:p>
        </p:txBody>
      </p:sp>
      <p:sp>
        <p:nvSpPr>
          <p:cNvPr id="51" name="TextBox 50"/>
          <p:cNvSpPr txBox="1"/>
          <p:nvPr/>
        </p:nvSpPr>
        <p:spPr>
          <a:xfrm>
            <a:off x="5303520" y="6172200"/>
            <a:ext cx="2194560" cy="274320"/>
          </a:xfrm>
          <a:prstGeom prst="rect">
            <a:avLst/>
          </a:prstGeom>
          <a:noFill/>
        </p:spPr>
        <p:txBody>
          <a:bodyPr wrap="square">
            <a:spAutoFit/>
          </a:bodyPr>
          <a:lstStyle/>
          <a:p>
            <a:pPr algn="l"/>
            <a:r>
              <a:rPr sz="1100" b="1" i="0">
                <a:solidFill>
                  <a:srgbClr val="06B6D4"/>
                </a:solidFill>
                <a:latin typeface="Calibri"/>
              </a:rPr>
              <a:t>67.98%</a:t>
            </a:r>
          </a:p>
        </p:txBody>
      </p:sp>
      <p:sp>
        <p:nvSpPr>
          <p:cNvPr id="52" name="TextBox 51"/>
          <p:cNvSpPr txBox="1"/>
          <p:nvPr/>
        </p:nvSpPr>
        <p:spPr>
          <a:xfrm>
            <a:off x="7772400" y="6172200"/>
            <a:ext cx="1371600" cy="274320"/>
          </a:xfrm>
          <a:prstGeom prst="rect">
            <a:avLst/>
          </a:prstGeom>
          <a:noFill/>
        </p:spPr>
        <p:txBody>
          <a:bodyPr wrap="square">
            <a:spAutoFit/>
          </a:bodyPr>
          <a:lstStyle/>
          <a:p>
            <a:pPr algn="l"/>
            <a:r>
              <a:rPr sz="1100" b="0" i="0">
                <a:solidFill>
                  <a:srgbClr val="FB7185"/>
                </a:solidFill>
                <a:latin typeface="Calibri"/>
              </a:rPr>
              <a:t>−0.83</a:t>
            </a:r>
          </a:p>
        </p:txBody>
      </p:sp>
      <p:sp>
        <p:nvSpPr>
          <p:cNvPr id="53" name="Rectangle 52"/>
          <p:cNvSpPr/>
          <p:nvPr/>
        </p:nvSpPr>
        <p:spPr>
          <a:xfrm>
            <a:off x="8503920" y="3456432"/>
            <a:ext cx="3474720" cy="3172968"/>
          </a:xfrm>
          <a:prstGeom prst="rect">
            <a:avLst/>
          </a:prstGeom>
          <a:solidFill>
            <a:srgbClr val="0C1F1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641080" y="3520440"/>
            <a:ext cx="3200400" cy="365760"/>
          </a:xfrm>
          <a:prstGeom prst="rect">
            <a:avLst/>
          </a:prstGeom>
          <a:noFill/>
        </p:spPr>
        <p:txBody>
          <a:bodyPr wrap="square">
            <a:spAutoFit/>
          </a:bodyPr>
          <a:lstStyle/>
          <a:p>
            <a:pPr algn="l"/>
            <a:r>
              <a:rPr sz="1200" b="1" i="0">
                <a:solidFill>
                  <a:srgbClr val="34D399"/>
                </a:solidFill>
                <a:latin typeface="Calibri"/>
              </a:rPr>
              <a:t>✅  Sample Prediction</a:t>
            </a:r>
          </a:p>
        </p:txBody>
      </p:sp>
      <p:sp>
        <p:nvSpPr>
          <p:cNvPr id="55" name="TextBox 54"/>
          <p:cNvSpPr txBox="1"/>
          <p:nvPr/>
        </p:nvSpPr>
        <p:spPr>
          <a:xfrm>
            <a:off x="8641080" y="3913632"/>
            <a:ext cx="3246120" cy="2606040"/>
          </a:xfrm>
          <a:prstGeom prst="rect">
            <a:avLst/>
          </a:prstGeom>
          <a:noFill/>
        </p:spPr>
        <p:txBody>
          <a:bodyPr wrap="square">
            <a:spAutoFit/>
          </a:bodyPr>
          <a:lstStyle/>
          <a:p>
            <a:r>
              <a:rPr sz="1100">
                <a:solidFill>
                  <a:srgbClr val="94A3B8"/>
                </a:solidFill>
                <a:latin typeface="Calibri"/>
              </a:rPr>
              <a:t>Input (truncated):</a:t>
            </a:r>
          </a:p>
          <a:p>
            <a:r>
              <a:rPr sz="1100">
                <a:solidFill>
                  <a:srgbClr val="94A3B8"/>
                </a:solidFill>
                <a:latin typeface="Calibri"/>
              </a:rPr>
              <a:t>"...social media becomes</a:t>
            </a:r>
          </a:p>
          <a:p>
            <a:r>
              <a:rPr sz="1100">
                <a:solidFill>
                  <a:srgbClr val="94A3B8"/>
                </a:solidFill>
                <a:latin typeface="Calibri"/>
              </a:rPr>
              <a:t>a curse... [SEP] If you have</a:t>
            </a:r>
          </a:p>
          <a:p>
            <a:r>
              <a:rPr sz="1100">
                <a:solidFill>
                  <a:srgbClr val="94A3B8"/>
                </a:solidFill>
                <a:latin typeface="Calibri"/>
              </a:rPr>
              <a:t>been shopping online..."</a:t>
            </a:r>
          </a:p>
          <a:p>
            <a:endParaRPr sz="1100">
              <a:solidFill>
                <a:srgbClr val="94A3B8"/>
              </a:solidFill>
              <a:latin typeface="Calibri"/>
            </a:endParaRPr>
          </a:p>
          <a:p>
            <a:r>
              <a:rPr sz="1100">
                <a:solidFill>
                  <a:srgbClr val="94A3B8"/>
                </a:solidFill>
                <a:latin typeface="Calibri"/>
              </a:rPr>
              <a:t>True Label:    1</a:t>
            </a:r>
          </a:p>
          <a:p>
            <a:r>
              <a:rPr sz="1100">
                <a:solidFill>
                  <a:srgbClr val="94A3B8"/>
                </a:solidFill>
                <a:latin typeface="Calibri"/>
              </a:rPr>
              <a:t>Prediction:    1  ✓</a:t>
            </a:r>
          </a:p>
          <a:p>
            <a:r>
              <a:rPr sz="1100">
                <a:solidFill>
                  <a:srgbClr val="94A3B8"/>
                </a:solidFill>
                <a:latin typeface="Calibri"/>
              </a:rPr>
              <a:t>Confidence:  77.8%</a:t>
            </a:r>
          </a:p>
          <a:p>
            <a:r>
              <a:rPr sz="1100">
                <a:solidFill>
                  <a:srgbClr val="94A3B8"/>
                </a:solidFill>
                <a:latin typeface="Calibri"/>
              </a:rPr>
              <a:t>Result:  CORRECT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F97316"/>
                </a:solidFill>
                <a:latin typeface="Calibri"/>
              </a:rPr>
              <a:t>TASK 3  ·  RECONSTRUCTION DATA  ·  PIPELINE</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Reconstruction Data — Pipeline Overview</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Step 5 (v2 Optimized) — building leakage-free reconstruction instances</a:t>
            </a:r>
          </a:p>
        </p:txBody>
      </p:sp>
      <p:sp>
        <p:nvSpPr>
          <p:cNvPr id="6" name="TextBox 5"/>
          <p:cNvSpPr txBox="1"/>
          <p:nvPr/>
        </p:nvSpPr>
        <p:spPr>
          <a:xfrm>
            <a:off x="548640" y="1737360"/>
            <a:ext cx="10972800" cy="3901068"/>
          </a:xfrm>
          <a:prstGeom prst="rect">
            <a:avLst/>
          </a:prstGeom>
          <a:noFill/>
        </p:spPr>
        <p:txBody>
          <a:bodyPr wrap="square" lIns="91440" tIns="45720" rIns="91440" bIns="45720" anchor="t">
            <a:spAutoFit/>
          </a:bodyPr>
          <a:lstStyle/>
          <a:p>
            <a:pPr>
              <a:spcBef>
                <a:spcPts val="600"/>
              </a:spcBef>
            </a:pPr>
            <a:r>
              <a:rPr sz="1500" b="1">
                <a:solidFill>
                  <a:srgbClr val="06B6D4"/>
                </a:solidFill>
                <a:latin typeface="Calibri"/>
              </a:rPr>
              <a:t>Input Source</a:t>
            </a:r>
          </a:p>
          <a:p>
            <a:pPr>
              <a:spcBef>
                <a:spcPts val="300"/>
              </a:spcBef>
            </a:pPr>
            <a:r>
              <a:rPr sz="1250">
                <a:solidFill>
                  <a:srgbClr val="E2E8F0"/>
                </a:solidFill>
                <a:latin typeface="Calibri"/>
              </a:rPr>
              <a:t>File: mtg_step4b_final_enthymemes.csv  →  4,365 rows from Step 4 (PageRank)</a:t>
            </a:r>
          </a:p>
          <a:p>
            <a:pPr>
              <a:spcBef>
                <a:spcPts val="300"/>
              </a:spcBef>
            </a:pPr>
            <a:r>
              <a:rPr sz="1250" dirty="0">
                <a:solidFill>
                  <a:srgbClr val="E2E8F0"/>
                </a:solidFill>
                <a:latin typeface="Calibri"/>
              </a:rPr>
              <a:t>Each row contains: essay ID, full paragraph, removed sentence, </a:t>
            </a:r>
            <a:r>
              <a:rPr sz="1250" dirty="0" err="1">
                <a:solidFill>
                  <a:srgbClr val="E2E8F0"/>
                </a:solidFill>
                <a:latin typeface="Calibri"/>
              </a:rPr>
              <a:t>removed_idx</a:t>
            </a:r>
            <a:r>
              <a:rPr sz="1250" dirty="0">
                <a:solidFill>
                  <a:srgbClr val="E2E8F0"/>
                </a:solidFill>
                <a:latin typeface="Calibri"/>
              </a:rPr>
              <a:t>, </a:t>
            </a:r>
            <a:r>
              <a:rPr sz="1250" dirty="0" err="1">
                <a:solidFill>
                  <a:srgbClr val="E2E8F0"/>
                </a:solidFill>
                <a:latin typeface="Calibri"/>
              </a:rPr>
              <a:t>adu_label</a:t>
            </a:r>
            <a:endParaRPr sz="1250" dirty="0" err="1">
              <a:solidFill>
                <a:srgbClr val="E2E8F0"/>
              </a:solidFill>
              <a:latin typeface="Calibri"/>
              <a:ea typeface="Calibri"/>
              <a:cs typeface="Calibri"/>
            </a:endParaRPr>
          </a:p>
          <a:p>
            <a:endParaRPr sz="1250">
              <a:solidFill>
                <a:srgbClr val="E2E8F0"/>
              </a:solidFill>
              <a:latin typeface="Calibri"/>
            </a:endParaRPr>
          </a:p>
          <a:p>
            <a:pPr>
              <a:spcBef>
                <a:spcPts val="600"/>
              </a:spcBef>
            </a:pPr>
            <a:r>
              <a:rPr sz="1500" b="1">
                <a:solidFill>
                  <a:srgbClr val="06B6D4"/>
                </a:solidFill>
                <a:latin typeface="Calibri"/>
              </a:rPr>
              <a:t>Strict 1-Per-Essay Rule  (Key Design Decision)</a:t>
            </a:r>
          </a:p>
          <a:p>
            <a:pPr>
              <a:spcBef>
                <a:spcPts val="300"/>
              </a:spcBef>
            </a:pPr>
            <a:r>
              <a:rPr sz="1250" dirty="0">
                <a:solidFill>
                  <a:srgbClr val="E2E8F0"/>
                </a:solidFill>
                <a:latin typeface="Calibri"/>
              </a:rPr>
              <a:t>A </a:t>
            </a:r>
            <a:r>
              <a:rPr sz="1250" dirty="0" err="1">
                <a:solidFill>
                  <a:srgbClr val="E2E8F0"/>
                </a:solidFill>
                <a:latin typeface="Calibri"/>
              </a:rPr>
              <a:t>seen_ids</a:t>
            </a:r>
            <a:r>
              <a:rPr sz="1250" dirty="0">
                <a:solidFill>
                  <a:srgbClr val="E2E8F0"/>
                </a:solidFill>
                <a:latin typeface="Calibri"/>
              </a:rPr>
              <a:t> set tracks already-processed essays</a:t>
            </a:r>
            <a:endParaRPr sz="1250" dirty="0">
              <a:solidFill>
                <a:srgbClr val="E2E8F0"/>
              </a:solidFill>
              <a:latin typeface="Calibri"/>
              <a:ea typeface="Calibri"/>
              <a:cs typeface="Calibri"/>
            </a:endParaRPr>
          </a:p>
          <a:p>
            <a:pPr>
              <a:spcBef>
                <a:spcPts val="300"/>
              </a:spcBef>
            </a:pPr>
            <a:r>
              <a:rPr sz="1250">
                <a:solidFill>
                  <a:srgbClr val="E2E8F0"/>
                </a:solidFill>
                <a:latin typeface="Calibri"/>
              </a:rPr>
              <a:t>Each unique essay contributes EXACTLY one reconstruction instance</a:t>
            </a:r>
          </a:p>
          <a:p>
            <a:pPr>
              <a:spcBef>
                <a:spcPts val="300"/>
              </a:spcBef>
            </a:pPr>
            <a:r>
              <a:rPr sz="1250">
                <a:solidFill>
                  <a:srgbClr val="E2E8F0"/>
                </a:solidFill>
                <a:latin typeface="Calibri"/>
              </a:rPr>
              <a:t>Rationale: prevents same-essay bias from inflating reconstruction metrics</a:t>
            </a:r>
          </a:p>
          <a:p>
            <a:endParaRPr sz="1250">
              <a:solidFill>
                <a:srgbClr val="E2E8F0"/>
              </a:solidFill>
              <a:latin typeface="Calibri"/>
            </a:endParaRPr>
          </a:p>
          <a:p>
            <a:pPr>
              <a:spcBef>
                <a:spcPts val="600"/>
              </a:spcBef>
            </a:pPr>
            <a:r>
              <a:rPr sz="1500" b="1">
                <a:solidFill>
                  <a:srgbClr val="06B6D4"/>
                </a:solidFill>
                <a:latin typeface="Calibri"/>
              </a:rPr>
              <a:t>Processing Outcome</a:t>
            </a:r>
          </a:p>
          <a:p>
            <a:pPr>
              <a:spcBef>
                <a:spcPts val="300"/>
              </a:spcBef>
            </a:pPr>
            <a:r>
              <a:rPr sz="1250">
                <a:solidFill>
                  <a:srgbClr val="E2E8F0"/>
                </a:solidFill>
                <a:latin typeface="Calibri"/>
              </a:rPr>
              <a:t>Original rows loaded:          4,365</a:t>
            </a:r>
          </a:p>
          <a:p>
            <a:pPr>
              <a:spcBef>
                <a:spcPts val="300"/>
              </a:spcBef>
            </a:pPr>
            <a:r>
              <a:rPr sz="1250">
                <a:solidFill>
                  <a:srgbClr val="E2E8F0"/>
                </a:solidFill>
                <a:latin typeface="Calibri"/>
              </a:rPr>
              <a:t>Valid reconstruction rows:     3,110   (kept)</a:t>
            </a:r>
          </a:p>
          <a:p>
            <a:pPr>
              <a:spcBef>
                <a:spcPts val="300"/>
              </a:spcBef>
            </a:pPr>
            <a:r>
              <a:rPr sz="1250">
                <a:solidFill>
                  <a:srgbClr val="E2E8F0"/>
                </a:solidFill>
                <a:latin typeface="Calibri"/>
              </a:rPr>
              <a:t>Skipped (duplicates/errors):   1,255   (dropped)</a:t>
            </a:r>
          </a:p>
          <a:p>
            <a:pPr>
              <a:spcBef>
                <a:spcPts val="300"/>
              </a:spcBef>
            </a:pPr>
            <a:r>
              <a:rPr sz="1250" dirty="0">
                <a:solidFill>
                  <a:srgbClr val="E2E8F0"/>
                </a:solidFill>
                <a:latin typeface="Calibri"/>
              </a:rPr>
              <a:t>1 edge case error: Invalid </a:t>
            </a:r>
            <a:r>
              <a:rPr sz="1250" dirty="0" err="1">
                <a:solidFill>
                  <a:srgbClr val="E2E8F0"/>
                </a:solidFill>
                <a:latin typeface="Calibri"/>
              </a:rPr>
              <a:t>removed_idx</a:t>
            </a:r>
            <a:r>
              <a:rPr sz="1250" dirty="0">
                <a:solidFill>
                  <a:srgbClr val="E2E8F0"/>
                </a:solidFill>
                <a:latin typeface="Calibri"/>
              </a:rPr>
              <a:t>=4 for sentence count=4  (safely skipped)</a:t>
            </a:r>
            <a:endParaRPr sz="1250" dirty="0">
              <a:solidFill>
                <a:srgbClr val="E2E8F0"/>
              </a:solidFill>
              <a:latin typeface="Calibri"/>
              <a:ea typeface="Calibri"/>
              <a:cs typeface="Calibri"/>
            </a:endParaRPr>
          </a:p>
          <a:p>
            <a:endParaRPr sz="1250">
              <a:solidFill>
                <a:srgbClr val="E2E8F0"/>
              </a:solidFill>
              <a:latin typeface="Calibri"/>
            </a:endParaRPr>
          </a:p>
          <a:p>
            <a:pPr>
              <a:spcBef>
                <a:spcPts val="600"/>
              </a:spcBef>
            </a:pPr>
            <a:endParaRPr sz="1500" b="1" dirty="0">
              <a:solidFill>
                <a:srgbClr val="06B6D4"/>
              </a:solidFill>
              <a:latin typeface="Calibri"/>
              <a:ea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06B6D4"/>
                </a:solidFill>
                <a:latin typeface="Calibri"/>
              </a:rPr>
              <a:t>TASK 3  ·  RECONSTRUCTION  ·  INSTANCE FORMAT</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Instance Format — Input, Target &amp; Reference</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Three-column design: what the model sees vs. what it learns vs. how we evaluate</a:t>
            </a:r>
          </a:p>
        </p:txBody>
      </p:sp>
      <p:sp>
        <p:nvSpPr>
          <p:cNvPr id="6" name="Rectangle 5"/>
          <p:cNvSpPr/>
          <p:nvPr/>
        </p:nvSpPr>
        <p:spPr>
          <a:xfrm>
            <a:off x="411480" y="1920240"/>
            <a:ext cx="3703320" cy="4572000"/>
          </a:xfrm>
          <a:prstGeom prst="rect">
            <a:avLst/>
          </a:prstGeom>
          <a:solidFill>
            <a:srgbClr val="142032"/>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920240"/>
            <a:ext cx="3703320"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011680"/>
            <a:ext cx="548640" cy="502920"/>
          </a:xfrm>
          <a:prstGeom prst="rect">
            <a:avLst/>
          </a:prstGeom>
          <a:noFill/>
        </p:spPr>
        <p:txBody>
          <a:bodyPr wrap="square">
            <a:spAutoFit/>
          </a:bodyPr>
          <a:lstStyle/>
          <a:p>
            <a:pPr algn="l"/>
            <a:r>
              <a:rPr sz="2200" b="0" i="0">
                <a:solidFill>
                  <a:srgbClr val="FFFFFF"/>
                </a:solidFill>
                <a:latin typeface="Calibri"/>
              </a:rPr>
              <a:t>🔤</a:t>
            </a:r>
          </a:p>
        </p:txBody>
      </p:sp>
      <p:sp>
        <p:nvSpPr>
          <p:cNvPr id="9" name="TextBox 8"/>
          <p:cNvSpPr txBox="1"/>
          <p:nvPr/>
        </p:nvSpPr>
        <p:spPr>
          <a:xfrm>
            <a:off x="1097280" y="2057400"/>
            <a:ext cx="2834640" cy="411480"/>
          </a:xfrm>
          <a:prstGeom prst="rect">
            <a:avLst/>
          </a:prstGeom>
          <a:noFill/>
        </p:spPr>
        <p:txBody>
          <a:bodyPr wrap="square">
            <a:spAutoFit/>
          </a:bodyPr>
          <a:lstStyle/>
          <a:p>
            <a:pPr algn="l"/>
            <a:r>
              <a:rPr sz="1200" b="1" i="0">
                <a:solidFill>
                  <a:srgbClr val="06B6D4"/>
                </a:solidFill>
                <a:latin typeface="Calibri"/>
              </a:rPr>
              <a:t>INPUT TEXT</a:t>
            </a:r>
          </a:p>
        </p:txBody>
      </p:sp>
      <p:sp>
        <p:nvSpPr>
          <p:cNvPr id="10" name="TextBox 9"/>
          <p:cNvSpPr txBox="1"/>
          <p:nvPr/>
        </p:nvSpPr>
        <p:spPr>
          <a:xfrm>
            <a:off x="1097280" y="2423160"/>
            <a:ext cx="2834640" cy="274320"/>
          </a:xfrm>
          <a:prstGeom prst="rect">
            <a:avLst/>
          </a:prstGeom>
          <a:noFill/>
        </p:spPr>
        <p:txBody>
          <a:bodyPr wrap="square">
            <a:spAutoFit/>
          </a:bodyPr>
          <a:lstStyle/>
          <a:p>
            <a:pPr algn="l"/>
            <a:r>
              <a:rPr sz="900" b="0" i="0">
                <a:solidFill>
                  <a:srgbClr val="94A3B8"/>
                </a:solidFill>
                <a:latin typeface="Calibri"/>
              </a:rPr>
              <a:t>model_input</a:t>
            </a:r>
          </a:p>
        </p:txBody>
      </p:sp>
      <p:sp>
        <p:nvSpPr>
          <p:cNvPr id="11" name="TextBox 10"/>
          <p:cNvSpPr txBox="1"/>
          <p:nvPr/>
        </p:nvSpPr>
        <p:spPr>
          <a:xfrm>
            <a:off x="548640" y="2761488"/>
            <a:ext cx="3429000" cy="3566160"/>
          </a:xfrm>
          <a:prstGeom prst="rect">
            <a:avLst/>
          </a:prstGeom>
          <a:noFill/>
        </p:spPr>
        <p:txBody>
          <a:bodyPr wrap="square">
            <a:spAutoFit/>
          </a:bodyPr>
          <a:lstStyle/>
          <a:p>
            <a:r>
              <a:rPr sz="1150">
                <a:solidFill>
                  <a:srgbClr val="E2E8F0"/>
                </a:solidFill>
                <a:latin typeface="Calibri"/>
              </a:rPr>
              <a:t>Full paragraph with removed</a:t>
            </a:r>
          </a:p>
          <a:p>
            <a:r>
              <a:rPr sz="1150">
                <a:solidFill>
                  <a:srgbClr val="E2E8F0"/>
                </a:solidFill>
                <a:latin typeface="Calibri"/>
              </a:rPr>
              <a:t>sentence replaced by [MISSING]</a:t>
            </a:r>
          </a:p>
          <a:p>
            <a:r>
              <a:rPr sz="400">
                <a:solidFill>
                  <a:srgbClr val="0F172A"/>
                </a:solidFill>
                <a:latin typeface="Calibri"/>
              </a:rPr>
              <a:t> </a:t>
            </a:r>
          </a:p>
          <a:p>
            <a:r>
              <a:rPr sz="1150">
                <a:solidFill>
                  <a:srgbClr val="E2E8F0"/>
                </a:solidFill>
                <a:latin typeface="Calibri"/>
              </a:rPr>
              <a:t>Example:</a:t>
            </a:r>
          </a:p>
          <a:p>
            <a:r>
              <a:rPr sz="1050" i="1">
                <a:solidFill>
                  <a:srgbClr val="C4B5FD"/>
                </a:solidFill>
                <a:latin typeface="Calibri"/>
              </a:rPr>
              <a:t>"...compulsory practice in</a:t>
            </a:r>
          </a:p>
          <a:p>
            <a:r>
              <a:rPr sz="1150">
                <a:solidFill>
                  <a:srgbClr val="E2E8F0"/>
                </a:solidFill>
                <a:latin typeface="Calibri"/>
              </a:rPr>
              <a:t>teaching. [MISSING] This</a:t>
            </a:r>
          </a:p>
          <a:p>
            <a:r>
              <a:rPr sz="1150">
                <a:solidFill>
                  <a:srgbClr val="E2E8F0"/>
                </a:solidFill>
                <a:latin typeface="Calibri"/>
              </a:rPr>
              <a:t>practice is obviously..."</a:t>
            </a:r>
          </a:p>
          <a:p>
            <a:r>
              <a:rPr sz="400">
                <a:solidFill>
                  <a:srgbClr val="0F172A"/>
                </a:solidFill>
                <a:latin typeface="Calibri"/>
              </a:rPr>
              <a:t> </a:t>
            </a:r>
          </a:p>
          <a:p>
            <a:r>
              <a:rPr sz="1150">
                <a:solidFill>
                  <a:srgbClr val="E2E8F0"/>
                </a:solidFill>
                <a:latin typeface="Calibri"/>
              </a:rPr>
              <a:t>Why [MISSING] not [MASK]?</a:t>
            </a:r>
          </a:p>
          <a:p>
            <a:pPr>
              <a:spcBef>
                <a:spcPts val="300"/>
              </a:spcBef>
            </a:pPr>
            <a:r>
              <a:rPr sz="1100" b="1">
                <a:solidFill>
                  <a:srgbClr val="06B6D4"/>
                </a:solidFill>
                <a:latin typeface="Calibri"/>
              </a:rPr>
              <a:t>→ Avoids BART tokenizer</a:t>
            </a:r>
          </a:p>
          <a:p>
            <a:r>
              <a:rPr sz="1150">
                <a:solidFill>
                  <a:srgbClr val="E2E8F0"/>
                </a:solidFill>
                <a:latin typeface="Calibri"/>
              </a:rPr>
              <a:t>  vocab-resizing bug</a:t>
            </a:r>
          </a:p>
        </p:txBody>
      </p:sp>
      <p:sp>
        <p:nvSpPr>
          <p:cNvPr id="12" name="Rectangle 11"/>
          <p:cNvSpPr/>
          <p:nvPr/>
        </p:nvSpPr>
        <p:spPr>
          <a:xfrm>
            <a:off x="4325112" y="1920240"/>
            <a:ext cx="3703320" cy="4572000"/>
          </a:xfrm>
          <a:prstGeom prst="rect">
            <a:avLst/>
          </a:prstGeom>
          <a:solidFill>
            <a:srgbClr val="1420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25112" y="1920240"/>
            <a:ext cx="3703320" cy="6400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2011680"/>
            <a:ext cx="548640" cy="502920"/>
          </a:xfrm>
          <a:prstGeom prst="rect">
            <a:avLst/>
          </a:prstGeom>
          <a:noFill/>
        </p:spPr>
        <p:txBody>
          <a:bodyPr wrap="square">
            <a:spAutoFit/>
          </a:bodyPr>
          <a:lstStyle/>
          <a:p>
            <a:pPr algn="l"/>
            <a:r>
              <a:rPr sz="2200" b="0" i="0">
                <a:solidFill>
                  <a:srgbClr val="FFFFFF"/>
                </a:solidFill>
                <a:latin typeface="Calibri"/>
              </a:rPr>
              <a:t>🎯</a:t>
            </a:r>
          </a:p>
        </p:txBody>
      </p:sp>
      <p:sp>
        <p:nvSpPr>
          <p:cNvPr id="15" name="TextBox 14"/>
          <p:cNvSpPr txBox="1"/>
          <p:nvPr/>
        </p:nvSpPr>
        <p:spPr>
          <a:xfrm>
            <a:off x="5010912" y="2057400"/>
            <a:ext cx="2834640" cy="411480"/>
          </a:xfrm>
          <a:prstGeom prst="rect">
            <a:avLst/>
          </a:prstGeom>
          <a:noFill/>
        </p:spPr>
        <p:txBody>
          <a:bodyPr wrap="square">
            <a:spAutoFit/>
          </a:bodyPr>
          <a:lstStyle/>
          <a:p>
            <a:pPr algn="l"/>
            <a:r>
              <a:rPr sz="1200" b="1" i="0">
                <a:solidFill>
                  <a:srgbClr val="34D399"/>
                </a:solidFill>
                <a:latin typeface="Calibri"/>
              </a:rPr>
              <a:t>TARGET TEXT</a:t>
            </a:r>
          </a:p>
        </p:txBody>
      </p:sp>
      <p:sp>
        <p:nvSpPr>
          <p:cNvPr id="16" name="TextBox 15"/>
          <p:cNvSpPr txBox="1"/>
          <p:nvPr/>
        </p:nvSpPr>
        <p:spPr>
          <a:xfrm>
            <a:off x="5010912" y="2423160"/>
            <a:ext cx="2834640" cy="274320"/>
          </a:xfrm>
          <a:prstGeom prst="rect">
            <a:avLst/>
          </a:prstGeom>
          <a:noFill/>
        </p:spPr>
        <p:txBody>
          <a:bodyPr wrap="square">
            <a:spAutoFit/>
          </a:bodyPr>
          <a:lstStyle/>
          <a:p>
            <a:pPr algn="l"/>
            <a:r>
              <a:rPr sz="900" b="0" i="0">
                <a:solidFill>
                  <a:srgbClr val="94A3B8"/>
                </a:solidFill>
                <a:latin typeface="Calibri"/>
              </a:rPr>
              <a:t>training_signal</a:t>
            </a:r>
          </a:p>
        </p:txBody>
      </p:sp>
      <p:sp>
        <p:nvSpPr>
          <p:cNvPr id="17" name="TextBox 16"/>
          <p:cNvSpPr txBox="1"/>
          <p:nvPr/>
        </p:nvSpPr>
        <p:spPr>
          <a:xfrm>
            <a:off x="4462272" y="2761488"/>
            <a:ext cx="3429000" cy="3566160"/>
          </a:xfrm>
          <a:prstGeom prst="rect">
            <a:avLst/>
          </a:prstGeom>
          <a:noFill/>
        </p:spPr>
        <p:txBody>
          <a:bodyPr wrap="square">
            <a:spAutoFit/>
          </a:bodyPr>
          <a:lstStyle/>
          <a:p>
            <a:r>
              <a:rPr sz="1150">
                <a:solidFill>
                  <a:srgbClr val="E2E8F0"/>
                </a:solidFill>
                <a:latin typeface="Calibri"/>
              </a:rPr>
              <a:t>Full ORIGINAL paragraph</a:t>
            </a:r>
          </a:p>
          <a:p>
            <a:r>
              <a:rPr sz="1150">
                <a:solidFill>
                  <a:srgbClr val="E2E8F0"/>
                </a:solidFill>
                <a:latin typeface="Calibri"/>
              </a:rPr>
              <a:t>(not just the removed sentence)</a:t>
            </a:r>
          </a:p>
          <a:p>
            <a:r>
              <a:rPr sz="400">
                <a:solidFill>
                  <a:srgbClr val="0F172A"/>
                </a:solidFill>
                <a:latin typeface="Calibri"/>
              </a:rPr>
              <a:t> </a:t>
            </a:r>
          </a:p>
          <a:p>
            <a:r>
              <a:rPr sz="1150">
                <a:solidFill>
                  <a:srgbClr val="E2E8F0"/>
                </a:solidFill>
                <a:latin typeface="Calibri"/>
              </a:rPr>
              <a:t>Example:</a:t>
            </a:r>
          </a:p>
          <a:p>
            <a:r>
              <a:rPr sz="1050" i="1">
                <a:solidFill>
                  <a:srgbClr val="C4B5FD"/>
                </a:solidFill>
                <a:latin typeface="Calibri"/>
              </a:rPr>
              <a:t>"...compulsory practice in</a:t>
            </a:r>
          </a:p>
          <a:p>
            <a:r>
              <a:rPr sz="1150">
                <a:solidFill>
                  <a:srgbClr val="E2E8F0"/>
                </a:solidFill>
                <a:latin typeface="Calibri"/>
              </a:rPr>
              <a:t>teaching. This practice is</a:t>
            </a:r>
          </a:p>
          <a:p>
            <a:r>
              <a:rPr sz="1150">
                <a:solidFill>
                  <a:srgbClr val="E2E8F0"/>
                </a:solidFill>
                <a:latin typeface="Calibri"/>
              </a:rPr>
              <a:t>obviously of no importance</a:t>
            </a:r>
          </a:p>
          <a:p>
            <a:r>
              <a:rPr sz="1150">
                <a:solidFill>
                  <a:srgbClr val="E2E8F0"/>
                </a:solidFill>
                <a:latin typeface="Calibri"/>
              </a:rPr>
              <a:t>to students..."</a:t>
            </a:r>
          </a:p>
          <a:p>
            <a:r>
              <a:rPr sz="400">
                <a:solidFill>
                  <a:srgbClr val="0F172A"/>
                </a:solidFill>
                <a:latin typeface="Calibri"/>
              </a:rPr>
              <a:t> </a:t>
            </a:r>
          </a:p>
          <a:p>
            <a:pPr>
              <a:spcBef>
                <a:spcPts val="300"/>
              </a:spcBef>
            </a:pPr>
            <a:r>
              <a:rPr sz="1100" b="1">
                <a:solidFill>
                  <a:srgbClr val="34D399"/>
                </a:solidFill>
                <a:latin typeface="Calibri"/>
              </a:rPr>
              <a:t>→ Aligns with BART's</a:t>
            </a:r>
          </a:p>
          <a:p>
            <a:r>
              <a:rPr sz="1150">
                <a:solidFill>
                  <a:srgbClr val="E2E8F0"/>
                </a:solidFill>
                <a:latin typeface="Calibri"/>
              </a:rPr>
              <a:t>  auto-encoder pre-training</a:t>
            </a:r>
          </a:p>
        </p:txBody>
      </p:sp>
      <p:sp>
        <p:nvSpPr>
          <p:cNvPr id="18" name="Rectangle 17"/>
          <p:cNvSpPr/>
          <p:nvPr/>
        </p:nvSpPr>
        <p:spPr>
          <a:xfrm>
            <a:off x="8238744" y="1920240"/>
            <a:ext cx="3703320" cy="4572000"/>
          </a:xfrm>
          <a:prstGeom prst="rect">
            <a:avLst/>
          </a:prstGeom>
          <a:solidFill>
            <a:srgbClr val="142032"/>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38744" y="1920240"/>
            <a:ext cx="3703320" cy="6400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75904" y="2011680"/>
            <a:ext cx="548640" cy="502920"/>
          </a:xfrm>
          <a:prstGeom prst="rect">
            <a:avLst/>
          </a:prstGeom>
          <a:noFill/>
        </p:spPr>
        <p:txBody>
          <a:bodyPr wrap="square">
            <a:spAutoFit/>
          </a:bodyPr>
          <a:lstStyle/>
          <a:p>
            <a:pPr algn="l"/>
            <a:r>
              <a:rPr sz="2200" b="0" i="0">
                <a:solidFill>
                  <a:srgbClr val="FFFFFF"/>
                </a:solidFill>
                <a:latin typeface="Calibri"/>
              </a:rPr>
              <a:t>📏</a:t>
            </a:r>
          </a:p>
        </p:txBody>
      </p:sp>
      <p:sp>
        <p:nvSpPr>
          <p:cNvPr id="21" name="TextBox 20"/>
          <p:cNvSpPr txBox="1"/>
          <p:nvPr/>
        </p:nvSpPr>
        <p:spPr>
          <a:xfrm>
            <a:off x="8924544" y="2057400"/>
            <a:ext cx="2834640" cy="411480"/>
          </a:xfrm>
          <a:prstGeom prst="rect">
            <a:avLst/>
          </a:prstGeom>
          <a:noFill/>
        </p:spPr>
        <p:txBody>
          <a:bodyPr wrap="square">
            <a:spAutoFit/>
          </a:bodyPr>
          <a:lstStyle/>
          <a:p>
            <a:pPr algn="l"/>
            <a:r>
              <a:rPr sz="1200" b="1" i="0">
                <a:solidFill>
                  <a:srgbClr val="FBBF24"/>
                </a:solidFill>
                <a:latin typeface="Calibri"/>
              </a:rPr>
              <a:t>REMOVED SENTENCE</a:t>
            </a:r>
          </a:p>
        </p:txBody>
      </p:sp>
      <p:sp>
        <p:nvSpPr>
          <p:cNvPr id="22" name="TextBox 21"/>
          <p:cNvSpPr txBox="1"/>
          <p:nvPr/>
        </p:nvSpPr>
        <p:spPr>
          <a:xfrm>
            <a:off x="8924544" y="2423160"/>
            <a:ext cx="2834640" cy="274320"/>
          </a:xfrm>
          <a:prstGeom prst="rect">
            <a:avLst/>
          </a:prstGeom>
          <a:noFill/>
        </p:spPr>
        <p:txBody>
          <a:bodyPr wrap="square">
            <a:spAutoFit/>
          </a:bodyPr>
          <a:lstStyle/>
          <a:p>
            <a:pPr algn="l"/>
            <a:r>
              <a:rPr sz="900" b="0" i="0">
                <a:solidFill>
                  <a:srgbClr val="94A3B8"/>
                </a:solidFill>
                <a:latin typeface="Calibri"/>
              </a:rPr>
              <a:t>evaluation_reference</a:t>
            </a:r>
          </a:p>
        </p:txBody>
      </p:sp>
      <p:sp>
        <p:nvSpPr>
          <p:cNvPr id="23" name="TextBox 22"/>
          <p:cNvSpPr txBox="1"/>
          <p:nvPr/>
        </p:nvSpPr>
        <p:spPr>
          <a:xfrm>
            <a:off x="8375904" y="2761488"/>
            <a:ext cx="3429000" cy="3566160"/>
          </a:xfrm>
          <a:prstGeom prst="rect">
            <a:avLst/>
          </a:prstGeom>
          <a:noFill/>
        </p:spPr>
        <p:txBody>
          <a:bodyPr wrap="square">
            <a:spAutoFit/>
          </a:bodyPr>
          <a:lstStyle/>
          <a:p>
            <a:r>
              <a:rPr sz="1150">
                <a:solidFill>
                  <a:srgbClr val="E2E8F0"/>
                </a:solidFill>
                <a:latin typeface="Calibri"/>
              </a:rPr>
              <a:t>The exact sentence that</a:t>
            </a:r>
          </a:p>
          <a:p>
            <a:r>
              <a:rPr sz="1150">
                <a:solidFill>
                  <a:srgbClr val="E2E8F0"/>
                </a:solidFill>
                <a:latin typeface="Calibri"/>
              </a:rPr>
              <a:t>was removed (gold label)</a:t>
            </a:r>
          </a:p>
          <a:p>
            <a:r>
              <a:rPr sz="400">
                <a:solidFill>
                  <a:srgbClr val="0F172A"/>
                </a:solidFill>
                <a:latin typeface="Calibri"/>
              </a:rPr>
              <a:t> </a:t>
            </a:r>
          </a:p>
          <a:p>
            <a:r>
              <a:rPr sz="1150">
                <a:solidFill>
                  <a:srgbClr val="E2E8F0"/>
                </a:solidFill>
                <a:latin typeface="Calibri"/>
              </a:rPr>
              <a:t>Example:</a:t>
            </a:r>
          </a:p>
          <a:p>
            <a:r>
              <a:rPr sz="1050" i="1">
                <a:solidFill>
                  <a:srgbClr val="C4B5FD"/>
                </a:solidFill>
                <a:latin typeface="Calibri"/>
              </a:rPr>
              <a:t>"This practice is obviously</a:t>
            </a:r>
          </a:p>
          <a:p>
            <a:r>
              <a:rPr sz="1150">
                <a:solidFill>
                  <a:srgbClr val="E2E8F0"/>
                </a:solidFill>
                <a:latin typeface="Calibri"/>
              </a:rPr>
              <a:t>of no importance to students</a:t>
            </a:r>
          </a:p>
          <a:p>
            <a:r>
              <a:rPr sz="1150">
                <a:solidFill>
                  <a:srgbClr val="E2E8F0"/>
                </a:solidFill>
                <a:latin typeface="Calibri"/>
              </a:rPr>
              <a:t>who have no intention of</a:t>
            </a:r>
          </a:p>
          <a:p>
            <a:r>
              <a:rPr sz="1150">
                <a:solidFill>
                  <a:srgbClr val="E2E8F0"/>
                </a:solidFill>
                <a:latin typeface="Calibri"/>
              </a:rPr>
              <a:t>becoming teachers."</a:t>
            </a:r>
          </a:p>
          <a:p>
            <a:r>
              <a:rPr sz="400">
                <a:solidFill>
                  <a:srgbClr val="0F172A"/>
                </a:solidFill>
                <a:latin typeface="Calibri"/>
              </a:rPr>
              <a:t> </a:t>
            </a:r>
          </a:p>
          <a:p>
            <a:pPr>
              <a:spcBef>
                <a:spcPts val="300"/>
              </a:spcBef>
            </a:pPr>
            <a:r>
              <a:rPr sz="1100" b="1">
                <a:solidFill>
                  <a:srgbClr val="FBBF24"/>
                </a:solidFill>
                <a:latin typeface="Calibri"/>
              </a:rPr>
              <a:t>→ Used for ROUGE &amp;</a:t>
            </a:r>
          </a:p>
          <a:p>
            <a:r>
              <a:rPr sz="1150">
                <a:solidFill>
                  <a:srgbClr val="E2E8F0"/>
                </a:solidFill>
                <a:latin typeface="Calibri"/>
              </a:rPr>
              <a:t>  BERTScore evaluation</a:t>
            </a:r>
          </a:p>
        </p:txBody>
      </p:sp>
      <p:sp>
        <p:nvSpPr>
          <p:cNvPr id="24" name="TextBox 23"/>
          <p:cNvSpPr txBox="1"/>
          <p:nvPr/>
        </p:nvSpPr>
        <p:spPr>
          <a:xfrm>
            <a:off x="411480" y="6473952"/>
            <a:ext cx="11887200" cy="274320"/>
          </a:xfrm>
          <a:prstGeom prst="rect">
            <a:avLst/>
          </a:prstGeom>
          <a:noFill/>
        </p:spPr>
        <p:txBody>
          <a:bodyPr wrap="square">
            <a:spAutoFit/>
          </a:bodyPr>
          <a:lstStyle/>
          <a:p>
            <a:pPr algn="ctr"/>
            <a:r>
              <a:rPr sz="1000" b="0" i="0">
                <a:solidFill>
                  <a:srgbClr val="94A3B8"/>
                </a:solidFill>
                <a:latin typeface="Calibri"/>
              </a:rPr>
              <a:t>id  ·  topic  ·  adu_type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34D399"/>
                </a:solidFill>
                <a:latin typeface="Calibri"/>
              </a:rPr>
              <a:t>TASK 3  ·  RECONSTRUCTION  ·  SAMPLE INSTANCE</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Sample Instance — BRMG1193</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ADU Type: Claim   ·   Topic: Science, Technology &amp; Imagination</a:t>
            </a:r>
          </a:p>
        </p:txBody>
      </p:sp>
      <p:sp>
        <p:nvSpPr>
          <p:cNvPr id="6" name="Rectangle 5"/>
          <p:cNvSpPr/>
          <p:nvPr/>
        </p:nvSpPr>
        <p:spPr>
          <a:xfrm>
            <a:off x="457200" y="1783080"/>
            <a:ext cx="11247120" cy="347472"/>
          </a:xfrm>
          <a:prstGeom prst="rect">
            <a:avLst/>
          </a:prstGeom>
          <a:solidFill>
            <a:srgbClr val="162235"/>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828800"/>
            <a:ext cx="10789920" cy="274320"/>
          </a:xfrm>
          <a:prstGeom prst="rect">
            <a:avLst/>
          </a:prstGeom>
          <a:noFill/>
        </p:spPr>
        <p:txBody>
          <a:bodyPr wrap="square">
            <a:spAutoFit/>
          </a:bodyPr>
          <a:lstStyle/>
          <a:p>
            <a:pPr algn="l"/>
            <a:r>
              <a:rPr sz="1100" b="1" i="0">
                <a:solidFill>
                  <a:srgbClr val="06B6D4"/>
                </a:solidFill>
                <a:latin typeface="Calibri"/>
              </a:rPr>
              <a:t>🔤  INPUT TEXT  (fed to BART)</a:t>
            </a:r>
          </a:p>
        </p:txBody>
      </p:sp>
      <p:sp>
        <p:nvSpPr>
          <p:cNvPr id="8" name="Rectangle 7"/>
          <p:cNvSpPr/>
          <p:nvPr/>
        </p:nvSpPr>
        <p:spPr>
          <a:xfrm>
            <a:off x="457200" y="2139696"/>
            <a:ext cx="11247120" cy="1078992"/>
          </a:xfrm>
          <a:prstGeom prst="rect">
            <a:avLst/>
          </a:prstGeom>
          <a:solidFill>
            <a:srgbClr val="0C1626"/>
          </a:solidFill>
          <a:ln w="10160">
            <a:solidFill>
              <a:srgbClr val="22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2203704"/>
            <a:ext cx="10972800" cy="960120"/>
          </a:xfrm>
          <a:prstGeom prst="rect">
            <a:avLst/>
          </a:prstGeom>
          <a:noFill/>
        </p:spPr>
        <p:txBody>
          <a:bodyPr wrap="square">
            <a:spAutoFit/>
          </a:bodyPr>
          <a:lstStyle/>
          <a:p>
            <a:pPr algn="l"/>
            <a:r>
              <a:rPr sz="1100" b="0" i="1">
                <a:solidFill>
                  <a:srgbClr val="C4B5FD"/>
                </a:solidFill>
                <a:latin typeface="Calibri"/>
              </a:rPr>
              <a:t>"So, is the rational mind one and the creative mind other? Not always. The real aim of humanity must not be to separate science and technology from imagination, but to consider how they influence one another and work together. Technology and science do not jeopardize imagination, but instead give the imaginative mind more tools to work with. [MISSING] They coexist side by side in every man's heart and brain."</a:t>
            </a:r>
          </a:p>
        </p:txBody>
      </p:sp>
      <p:sp>
        <p:nvSpPr>
          <p:cNvPr id="10" name="Rectangle 9"/>
          <p:cNvSpPr/>
          <p:nvPr/>
        </p:nvSpPr>
        <p:spPr>
          <a:xfrm>
            <a:off x="5760720" y="3246120"/>
            <a:ext cx="640080" cy="2743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06440" y="3264408"/>
            <a:ext cx="548640" cy="228600"/>
          </a:xfrm>
          <a:prstGeom prst="rect">
            <a:avLst/>
          </a:prstGeom>
          <a:noFill/>
        </p:spPr>
        <p:txBody>
          <a:bodyPr wrap="square">
            <a:spAutoFit/>
          </a:bodyPr>
          <a:lstStyle/>
          <a:p>
            <a:pPr algn="ctr"/>
            <a:r>
              <a:rPr sz="1300" b="0" i="0">
                <a:solidFill>
                  <a:srgbClr val="06B6D4"/>
                </a:solidFill>
                <a:latin typeface="Calibri"/>
              </a:rPr>
              <a:t>▼</a:t>
            </a:r>
          </a:p>
        </p:txBody>
      </p:sp>
      <p:sp>
        <p:nvSpPr>
          <p:cNvPr id="12" name="Rectangle 11"/>
          <p:cNvSpPr/>
          <p:nvPr/>
        </p:nvSpPr>
        <p:spPr>
          <a:xfrm>
            <a:off x="457200" y="3291839"/>
            <a:ext cx="11247120" cy="347472"/>
          </a:xfrm>
          <a:prstGeom prst="rect">
            <a:avLst/>
          </a:prstGeom>
          <a:solidFill>
            <a:srgbClr val="16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37559"/>
            <a:ext cx="10789920" cy="274320"/>
          </a:xfrm>
          <a:prstGeom prst="rect">
            <a:avLst/>
          </a:prstGeom>
          <a:noFill/>
        </p:spPr>
        <p:txBody>
          <a:bodyPr wrap="square">
            <a:spAutoFit/>
          </a:bodyPr>
          <a:lstStyle/>
          <a:p>
            <a:pPr algn="l"/>
            <a:r>
              <a:rPr sz="1100" b="1" i="0">
                <a:solidFill>
                  <a:srgbClr val="34D399"/>
                </a:solidFill>
                <a:latin typeface="Calibri"/>
              </a:rPr>
              <a:t>🎯  TARGET TEXT  (training signal — full paragraph)</a:t>
            </a:r>
          </a:p>
        </p:txBody>
      </p:sp>
      <p:sp>
        <p:nvSpPr>
          <p:cNvPr id="14" name="Rectangle 13"/>
          <p:cNvSpPr/>
          <p:nvPr/>
        </p:nvSpPr>
        <p:spPr>
          <a:xfrm>
            <a:off x="457200" y="3648456"/>
            <a:ext cx="11247120" cy="1078992"/>
          </a:xfrm>
          <a:prstGeom prst="rect">
            <a:avLst/>
          </a:prstGeom>
          <a:solidFill>
            <a:srgbClr val="0C1626"/>
          </a:solidFill>
          <a:ln w="10160">
            <a:solidFill>
              <a:srgbClr val="22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3712463"/>
            <a:ext cx="10972800" cy="960120"/>
          </a:xfrm>
          <a:prstGeom prst="rect">
            <a:avLst/>
          </a:prstGeom>
          <a:noFill/>
        </p:spPr>
        <p:txBody>
          <a:bodyPr wrap="square">
            <a:spAutoFit/>
          </a:bodyPr>
          <a:lstStyle/>
          <a:p>
            <a:pPr algn="l"/>
            <a:r>
              <a:rPr sz="1100" b="0" i="1">
                <a:solidFill>
                  <a:srgbClr val="A7F3D0"/>
                </a:solidFill>
                <a:latin typeface="Calibri"/>
              </a:rPr>
              <a:t>"So, is the rational mind one and the creative mind other? Not always. The real aim of humanity must not be to separate science and technology from imagination, but to consider how they influence one another and work together. Technology and science do not jeopardize imagination, but instead give the imaginative mind more tools to work with. Imagination is not something unrelated to technology, science, or an analytical mind, but in fact a way of reassuring a more meaningful science and analysis. They coexist side by side in every man's heart and brain."</a:t>
            </a:r>
          </a:p>
        </p:txBody>
      </p:sp>
      <p:sp>
        <p:nvSpPr>
          <p:cNvPr id="16" name="Rectangle 15"/>
          <p:cNvSpPr/>
          <p:nvPr/>
        </p:nvSpPr>
        <p:spPr>
          <a:xfrm>
            <a:off x="5760720" y="4754879"/>
            <a:ext cx="640080" cy="2743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06440" y="4773167"/>
            <a:ext cx="548640" cy="228600"/>
          </a:xfrm>
          <a:prstGeom prst="rect">
            <a:avLst/>
          </a:prstGeom>
          <a:noFill/>
        </p:spPr>
        <p:txBody>
          <a:bodyPr wrap="square">
            <a:spAutoFit/>
          </a:bodyPr>
          <a:lstStyle/>
          <a:p>
            <a:pPr algn="ctr"/>
            <a:r>
              <a:rPr sz="1300" b="0" i="0">
                <a:solidFill>
                  <a:srgbClr val="34D399"/>
                </a:solidFill>
                <a:latin typeface="Calibri"/>
              </a:rPr>
              <a:t>▼</a:t>
            </a:r>
          </a:p>
        </p:txBody>
      </p:sp>
      <p:sp>
        <p:nvSpPr>
          <p:cNvPr id="18" name="Rectangle 17"/>
          <p:cNvSpPr/>
          <p:nvPr/>
        </p:nvSpPr>
        <p:spPr>
          <a:xfrm>
            <a:off x="457200" y="4800600"/>
            <a:ext cx="11247120" cy="347472"/>
          </a:xfrm>
          <a:prstGeom prst="rect">
            <a:avLst/>
          </a:prstGeom>
          <a:solidFill>
            <a:srgbClr val="162235"/>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4846320"/>
            <a:ext cx="10789920" cy="274320"/>
          </a:xfrm>
          <a:prstGeom prst="rect">
            <a:avLst/>
          </a:prstGeom>
          <a:noFill/>
        </p:spPr>
        <p:txBody>
          <a:bodyPr wrap="square">
            <a:spAutoFit/>
          </a:bodyPr>
          <a:lstStyle/>
          <a:p>
            <a:pPr algn="l"/>
            <a:r>
              <a:rPr sz="1100" b="1" i="0">
                <a:solidFill>
                  <a:srgbClr val="FBBF24"/>
                </a:solidFill>
                <a:latin typeface="Calibri"/>
              </a:rPr>
              <a:t>📏  REMOVED SENTENCE  (gold reference for ROUGE / BERTScore)</a:t>
            </a:r>
          </a:p>
        </p:txBody>
      </p:sp>
      <p:sp>
        <p:nvSpPr>
          <p:cNvPr id="20" name="Rectangle 19"/>
          <p:cNvSpPr/>
          <p:nvPr/>
        </p:nvSpPr>
        <p:spPr>
          <a:xfrm>
            <a:off x="457200" y="5157216"/>
            <a:ext cx="11247120" cy="1078992"/>
          </a:xfrm>
          <a:prstGeom prst="rect">
            <a:avLst/>
          </a:prstGeom>
          <a:solidFill>
            <a:srgbClr val="0C1626"/>
          </a:solidFill>
          <a:ln w="10160">
            <a:solidFill>
              <a:srgbClr val="22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5221224"/>
            <a:ext cx="10972800" cy="960120"/>
          </a:xfrm>
          <a:prstGeom prst="rect">
            <a:avLst/>
          </a:prstGeom>
          <a:noFill/>
        </p:spPr>
        <p:txBody>
          <a:bodyPr wrap="square">
            <a:spAutoFit/>
          </a:bodyPr>
          <a:lstStyle/>
          <a:p>
            <a:pPr algn="l"/>
            <a:r>
              <a:rPr sz="1100" b="0" i="1">
                <a:solidFill>
                  <a:srgbClr val="FDE68A"/>
                </a:solidFill>
                <a:latin typeface="Calibri"/>
              </a:rPr>
              <a:t>"Imagination is not something unrelated to technology, science, or an analytical mind, but in fact a way of reassuring a more meaningful science and analysis."</a:t>
            </a:r>
          </a:p>
        </p:txBody>
      </p:sp>
      <p:sp>
        <p:nvSpPr>
          <p:cNvPr id="22" name="Rectangle 21"/>
          <p:cNvSpPr/>
          <p:nvPr/>
        </p:nvSpPr>
        <p:spPr>
          <a:xfrm>
            <a:off x="457200" y="6355080"/>
            <a:ext cx="11247120" cy="384048"/>
          </a:xfrm>
          <a:prstGeom prst="rect">
            <a:avLst/>
          </a:prstGeom>
          <a:solidFill>
            <a:srgbClr val="0D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6391656"/>
            <a:ext cx="10972800" cy="274320"/>
          </a:xfrm>
          <a:prstGeom prst="rect">
            <a:avLst/>
          </a:prstGeom>
          <a:noFill/>
        </p:spPr>
        <p:txBody>
          <a:bodyPr wrap="square">
            <a:spAutoFit/>
          </a:bodyPr>
          <a:lstStyle/>
          <a:p>
            <a:pPr algn="ctr"/>
            <a:r>
              <a:rPr sz="1000" b="0" i="0">
                <a:solidFill>
                  <a:srgbClr val="94A3B8"/>
                </a:solidFill>
                <a:latin typeface="Calibri"/>
              </a:rPr>
              <a:t>ID: BRMG1193   ·   ADU Type: Claim   ·   Split: Train   ·   Topic: Science, Technology &amp; Imagination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06B6D4"/>
                </a:solidFill>
                <a:latin typeface="Calibri"/>
              </a:rPr>
              <a:t>TASK 3  ·  RECONSTRUCTION  ·  DATA SPLITS</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Reconstruction Data Splits &amp; Quality</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3,110 instances  ·  70/10/20 split by essay ID  ·  Zero data leakage</a:t>
            </a:r>
          </a:p>
        </p:txBody>
      </p:sp>
      <p:sp>
        <p:nvSpPr>
          <p:cNvPr id="6" name="Rectangle 5"/>
          <p:cNvSpPr/>
          <p:nvPr/>
        </p:nvSpPr>
        <p:spPr>
          <a:xfrm>
            <a:off x="457200" y="1920240"/>
            <a:ext cx="3657600" cy="1463040"/>
          </a:xfrm>
          <a:prstGeom prst="rect">
            <a:avLst/>
          </a:prstGeom>
          <a:solidFill>
            <a:srgbClr val="142032"/>
          </a:solid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993392"/>
            <a:ext cx="3291840" cy="384048"/>
          </a:xfrm>
          <a:prstGeom prst="rect">
            <a:avLst/>
          </a:prstGeom>
          <a:noFill/>
        </p:spPr>
        <p:txBody>
          <a:bodyPr wrap="square">
            <a:spAutoFit/>
          </a:bodyPr>
          <a:lstStyle/>
          <a:p>
            <a:pPr algn="l"/>
            <a:r>
              <a:rPr sz="1300" b="1" i="0">
                <a:solidFill>
                  <a:srgbClr val="94A3B8"/>
                </a:solidFill>
                <a:latin typeface="Calibri"/>
              </a:rPr>
              <a:t>Train</a:t>
            </a:r>
          </a:p>
        </p:txBody>
      </p:sp>
      <p:sp>
        <p:nvSpPr>
          <p:cNvPr id="8" name="TextBox 7"/>
          <p:cNvSpPr txBox="1"/>
          <p:nvPr/>
        </p:nvSpPr>
        <p:spPr>
          <a:xfrm>
            <a:off x="640080" y="2331720"/>
            <a:ext cx="3291840" cy="658368"/>
          </a:xfrm>
          <a:prstGeom prst="rect">
            <a:avLst/>
          </a:prstGeom>
          <a:noFill/>
        </p:spPr>
        <p:txBody>
          <a:bodyPr wrap="square">
            <a:spAutoFit/>
          </a:bodyPr>
          <a:lstStyle/>
          <a:p>
            <a:pPr algn="l"/>
            <a:r>
              <a:rPr sz="3400" b="1" i="0">
                <a:solidFill>
                  <a:srgbClr val="7C3AED"/>
                </a:solidFill>
                <a:latin typeface="Calibri"/>
              </a:rPr>
              <a:t>2,177</a:t>
            </a:r>
          </a:p>
        </p:txBody>
      </p:sp>
      <p:sp>
        <p:nvSpPr>
          <p:cNvPr id="9" name="TextBox 8"/>
          <p:cNvSpPr txBox="1"/>
          <p:nvPr/>
        </p:nvSpPr>
        <p:spPr>
          <a:xfrm>
            <a:off x="640080" y="3017520"/>
            <a:ext cx="3291840" cy="274320"/>
          </a:xfrm>
          <a:prstGeom prst="rect">
            <a:avLst/>
          </a:prstGeom>
          <a:noFill/>
        </p:spPr>
        <p:txBody>
          <a:bodyPr wrap="square">
            <a:spAutoFit/>
          </a:bodyPr>
          <a:lstStyle/>
          <a:p>
            <a:pPr algn="l"/>
            <a:r>
              <a:rPr sz="1100" b="0" i="0">
                <a:solidFill>
                  <a:srgbClr val="94A3B8"/>
                </a:solidFill>
                <a:latin typeface="Calibri"/>
              </a:rPr>
              <a:t>70.0% of corpus</a:t>
            </a:r>
          </a:p>
        </p:txBody>
      </p:sp>
      <p:sp>
        <p:nvSpPr>
          <p:cNvPr id="10" name="Rectangle 9"/>
          <p:cNvSpPr/>
          <p:nvPr/>
        </p:nvSpPr>
        <p:spPr>
          <a:xfrm>
            <a:off x="4370832" y="1920240"/>
            <a:ext cx="3657600" cy="1463040"/>
          </a:xfrm>
          <a:prstGeom prst="rect">
            <a:avLst/>
          </a:prstGeom>
          <a:solidFill>
            <a:srgbClr val="142032"/>
          </a:solidFill>
          <a:ln w="228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53712" y="1993392"/>
            <a:ext cx="3291840" cy="384048"/>
          </a:xfrm>
          <a:prstGeom prst="rect">
            <a:avLst/>
          </a:prstGeom>
          <a:noFill/>
        </p:spPr>
        <p:txBody>
          <a:bodyPr wrap="square">
            <a:spAutoFit/>
          </a:bodyPr>
          <a:lstStyle/>
          <a:p>
            <a:pPr algn="l"/>
            <a:r>
              <a:rPr sz="1300" b="1" i="0">
                <a:solidFill>
                  <a:srgbClr val="94A3B8"/>
                </a:solidFill>
                <a:latin typeface="Calibri"/>
              </a:rPr>
              <a:t>Validation</a:t>
            </a:r>
          </a:p>
        </p:txBody>
      </p:sp>
      <p:sp>
        <p:nvSpPr>
          <p:cNvPr id="12" name="TextBox 11"/>
          <p:cNvSpPr txBox="1"/>
          <p:nvPr/>
        </p:nvSpPr>
        <p:spPr>
          <a:xfrm>
            <a:off x="4553712" y="2331720"/>
            <a:ext cx="3291840" cy="658368"/>
          </a:xfrm>
          <a:prstGeom prst="rect">
            <a:avLst/>
          </a:prstGeom>
          <a:noFill/>
        </p:spPr>
        <p:txBody>
          <a:bodyPr wrap="square">
            <a:spAutoFit/>
          </a:bodyPr>
          <a:lstStyle/>
          <a:p>
            <a:pPr algn="l"/>
            <a:r>
              <a:rPr sz="3400" b="1" i="0">
                <a:solidFill>
                  <a:srgbClr val="06B6D4"/>
                </a:solidFill>
                <a:latin typeface="Calibri"/>
              </a:rPr>
              <a:t>311</a:t>
            </a:r>
          </a:p>
        </p:txBody>
      </p:sp>
      <p:sp>
        <p:nvSpPr>
          <p:cNvPr id="13" name="TextBox 12"/>
          <p:cNvSpPr txBox="1"/>
          <p:nvPr/>
        </p:nvSpPr>
        <p:spPr>
          <a:xfrm>
            <a:off x="4553712" y="3017520"/>
            <a:ext cx="3291840" cy="274320"/>
          </a:xfrm>
          <a:prstGeom prst="rect">
            <a:avLst/>
          </a:prstGeom>
          <a:noFill/>
        </p:spPr>
        <p:txBody>
          <a:bodyPr wrap="square">
            <a:spAutoFit/>
          </a:bodyPr>
          <a:lstStyle/>
          <a:p>
            <a:pPr algn="l"/>
            <a:r>
              <a:rPr sz="1100" b="0" i="0">
                <a:solidFill>
                  <a:srgbClr val="94A3B8"/>
                </a:solidFill>
                <a:latin typeface="Calibri"/>
              </a:rPr>
              <a:t>10.0% of corpus</a:t>
            </a:r>
          </a:p>
        </p:txBody>
      </p:sp>
      <p:sp>
        <p:nvSpPr>
          <p:cNvPr id="14" name="Rectangle 13"/>
          <p:cNvSpPr/>
          <p:nvPr/>
        </p:nvSpPr>
        <p:spPr>
          <a:xfrm>
            <a:off x="8284464" y="1920240"/>
            <a:ext cx="3657600" cy="1463040"/>
          </a:xfrm>
          <a:prstGeom prst="rect">
            <a:avLst/>
          </a:prstGeom>
          <a:solidFill>
            <a:srgbClr val="142032"/>
          </a:solidFill>
          <a:ln w="2286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67344" y="1993392"/>
            <a:ext cx="3291840" cy="384048"/>
          </a:xfrm>
          <a:prstGeom prst="rect">
            <a:avLst/>
          </a:prstGeom>
          <a:noFill/>
        </p:spPr>
        <p:txBody>
          <a:bodyPr wrap="square">
            <a:spAutoFit/>
          </a:bodyPr>
          <a:lstStyle/>
          <a:p>
            <a:pPr algn="l"/>
            <a:r>
              <a:rPr sz="1300" b="1" i="0">
                <a:solidFill>
                  <a:srgbClr val="94A3B8"/>
                </a:solidFill>
                <a:latin typeface="Calibri"/>
              </a:rPr>
              <a:t>Test</a:t>
            </a:r>
          </a:p>
        </p:txBody>
      </p:sp>
      <p:sp>
        <p:nvSpPr>
          <p:cNvPr id="16" name="TextBox 15"/>
          <p:cNvSpPr txBox="1"/>
          <p:nvPr/>
        </p:nvSpPr>
        <p:spPr>
          <a:xfrm>
            <a:off x="8467344" y="2331720"/>
            <a:ext cx="3291840" cy="658368"/>
          </a:xfrm>
          <a:prstGeom prst="rect">
            <a:avLst/>
          </a:prstGeom>
          <a:noFill/>
        </p:spPr>
        <p:txBody>
          <a:bodyPr wrap="square">
            <a:spAutoFit/>
          </a:bodyPr>
          <a:lstStyle/>
          <a:p>
            <a:pPr algn="l"/>
            <a:r>
              <a:rPr sz="3400" b="1" i="0">
                <a:solidFill>
                  <a:srgbClr val="34D399"/>
                </a:solidFill>
                <a:latin typeface="Calibri"/>
              </a:rPr>
              <a:t>622</a:t>
            </a:r>
          </a:p>
        </p:txBody>
      </p:sp>
      <p:sp>
        <p:nvSpPr>
          <p:cNvPr id="17" name="TextBox 16"/>
          <p:cNvSpPr txBox="1"/>
          <p:nvPr/>
        </p:nvSpPr>
        <p:spPr>
          <a:xfrm>
            <a:off x="8467344" y="3017520"/>
            <a:ext cx="3291840" cy="274320"/>
          </a:xfrm>
          <a:prstGeom prst="rect">
            <a:avLst/>
          </a:prstGeom>
          <a:noFill/>
        </p:spPr>
        <p:txBody>
          <a:bodyPr wrap="square">
            <a:spAutoFit/>
          </a:bodyPr>
          <a:lstStyle/>
          <a:p>
            <a:pPr algn="l"/>
            <a:r>
              <a:rPr sz="1100" b="0" i="0">
                <a:solidFill>
                  <a:srgbClr val="94A3B8"/>
                </a:solidFill>
                <a:latin typeface="Calibri"/>
              </a:rPr>
              <a:t>20.0% of corpus</a:t>
            </a:r>
          </a:p>
        </p:txBody>
      </p:sp>
      <p:sp>
        <p:nvSpPr>
          <p:cNvPr id="18" name="TextBox 17"/>
          <p:cNvSpPr txBox="1"/>
          <p:nvPr/>
        </p:nvSpPr>
        <p:spPr>
          <a:xfrm>
            <a:off x="457200" y="3566160"/>
            <a:ext cx="5760720" cy="384048"/>
          </a:xfrm>
          <a:prstGeom prst="rect">
            <a:avLst/>
          </a:prstGeom>
          <a:noFill/>
        </p:spPr>
        <p:txBody>
          <a:bodyPr wrap="square">
            <a:spAutoFit/>
          </a:bodyPr>
          <a:lstStyle/>
          <a:p>
            <a:pPr algn="l"/>
            <a:r>
              <a:rPr sz="1300" b="1" i="0">
                <a:solidFill>
                  <a:srgbClr val="FFFFFF"/>
                </a:solidFill>
                <a:latin typeface="Calibri"/>
              </a:rPr>
              <a:t>ADU Type Distribution</a:t>
            </a:r>
          </a:p>
        </p:txBody>
      </p:sp>
      <p:sp>
        <p:nvSpPr>
          <p:cNvPr id="19" name="Rectangle 18"/>
          <p:cNvSpPr/>
          <p:nvPr/>
        </p:nvSpPr>
        <p:spPr>
          <a:xfrm>
            <a:off x="457200" y="4005072"/>
            <a:ext cx="5760720" cy="594360"/>
          </a:xfrm>
          <a:prstGeom prst="rect">
            <a:avLst/>
          </a:prstGeom>
          <a:solidFill>
            <a:srgbClr val="16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4114800"/>
            <a:ext cx="1463040" cy="347472"/>
          </a:xfrm>
          <a:prstGeom prst="rect">
            <a:avLst/>
          </a:prstGeom>
          <a:noFill/>
        </p:spPr>
        <p:txBody>
          <a:bodyPr wrap="square">
            <a:spAutoFit/>
          </a:bodyPr>
          <a:lstStyle/>
          <a:p>
            <a:pPr algn="l"/>
            <a:r>
              <a:rPr sz="1200" b="1" i="0">
                <a:solidFill>
                  <a:srgbClr val="06B6D4"/>
                </a:solidFill>
                <a:latin typeface="Calibri"/>
              </a:rPr>
              <a:t>Premise</a:t>
            </a:r>
          </a:p>
        </p:txBody>
      </p:sp>
      <p:sp>
        <p:nvSpPr>
          <p:cNvPr id="21" name="TextBox 20"/>
          <p:cNvSpPr txBox="1"/>
          <p:nvPr/>
        </p:nvSpPr>
        <p:spPr>
          <a:xfrm>
            <a:off x="2194560" y="4114800"/>
            <a:ext cx="914400" cy="347472"/>
          </a:xfrm>
          <a:prstGeom prst="rect">
            <a:avLst/>
          </a:prstGeom>
          <a:noFill/>
        </p:spPr>
        <p:txBody>
          <a:bodyPr wrap="square">
            <a:spAutoFit/>
          </a:bodyPr>
          <a:lstStyle/>
          <a:p>
            <a:pPr algn="l"/>
            <a:r>
              <a:rPr sz="1400" b="1" i="0">
                <a:solidFill>
                  <a:srgbClr val="06B6D4"/>
                </a:solidFill>
                <a:latin typeface="Calibri"/>
              </a:rPr>
              <a:t>~61%</a:t>
            </a:r>
          </a:p>
        </p:txBody>
      </p:sp>
      <p:sp>
        <p:nvSpPr>
          <p:cNvPr id="22" name="TextBox 21"/>
          <p:cNvSpPr txBox="1"/>
          <p:nvPr/>
        </p:nvSpPr>
        <p:spPr>
          <a:xfrm>
            <a:off x="3246120" y="4114800"/>
            <a:ext cx="1371600" cy="347472"/>
          </a:xfrm>
          <a:prstGeom prst="rect">
            <a:avLst/>
          </a:prstGeom>
          <a:noFill/>
        </p:spPr>
        <p:txBody>
          <a:bodyPr wrap="square">
            <a:spAutoFit/>
          </a:bodyPr>
          <a:lstStyle/>
          <a:p>
            <a:pPr algn="l"/>
            <a:r>
              <a:rPr sz="1000" b="0" i="0">
                <a:solidFill>
                  <a:srgbClr val="94A3B8"/>
                </a:solidFill>
                <a:latin typeface="Calibri"/>
              </a:rPr>
              <a:t>Paper: 63.28%</a:t>
            </a:r>
          </a:p>
        </p:txBody>
      </p:sp>
      <p:sp>
        <p:nvSpPr>
          <p:cNvPr id="23" name="TextBox 22"/>
          <p:cNvSpPr txBox="1"/>
          <p:nvPr/>
        </p:nvSpPr>
        <p:spPr>
          <a:xfrm>
            <a:off x="4754880" y="4160520"/>
            <a:ext cx="1371600" cy="274320"/>
          </a:xfrm>
          <a:prstGeom prst="rect">
            <a:avLst/>
          </a:prstGeom>
          <a:noFill/>
        </p:spPr>
        <p:txBody>
          <a:bodyPr wrap="square">
            <a:spAutoFit/>
          </a:bodyPr>
          <a:lstStyle/>
          <a:p>
            <a:pPr algn="l"/>
            <a:r>
              <a:rPr sz="900" b="0" i="0">
                <a:solidFill>
                  <a:srgbClr val="475569"/>
                </a:solidFill>
                <a:latin typeface="Calibri"/>
              </a:rPr>
              <a:t>Supporting evidence</a:t>
            </a:r>
          </a:p>
        </p:txBody>
      </p:sp>
      <p:sp>
        <p:nvSpPr>
          <p:cNvPr id="24" name="Rectangle 23"/>
          <p:cNvSpPr/>
          <p:nvPr/>
        </p:nvSpPr>
        <p:spPr>
          <a:xfrm>
            <a:off x="457200" y="4663440"/>
            <a:ext cx="5760720" cy="594360"/>
          </a:xfrm>
          <a:prstGeom prst="rect">
            <a:avLst/>
          </a:prstGeom>
          <a:solidFill>
            <a:srgbClr val="11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4360" y="4773168"/>
            <a:ext cx="1463040" cy="347472"/>
          </a:xfrm>
          <a:prstGeom prst="rect">
            <a:avLst/>
          </a:prstGeom>
          <a:noFill/>
        </p:spPr>
        <p:txBody>
          <a:bodyPr wrap="square">
            <a:spAutoFit/>
          </a:bodyPr>
          <a:lstStyle/>
          <a:p>
            <a:pPr algn="l"/>
            <a:r>
              <a:rPr sz="1200" b="1" i="0">
                <a:solidFill>
                  <a:srgbClr val="A78BFA"/>
                </a:solidFill>
                <a:latin typeface="Calibri"/>
              </a:rPr>
              <a:t>Claim</a:t>
            </a:r>
          </a:p>
        </p:txBody>
      </p:sp>
      <p:sp>
        <p:nvSpPr>
          <p:cNvPr id="26" name="TextBox 25"/>
          <p:cNvSpPr txBox="1"/>
          <p:nvPr/>
        </p:nvSpPr>
        <p:spPr>
          <a:xfrm>
            <a:off x="2194560" y="4773168"/>
            <a:ext cx="914400" cy="347472"/>
          </a:xfrm>
          <a:prstGeom prst="rect">
            <a:avLst/>
          </a:prstGeom>
          <a:noFill/>
        </p:spPr>
        <p:txBody>
          <a:bodyPr wrap="square">
            <a:spAutoFit/>
          </a:bodyPr>
          <a:lstStyle/>
          <a:p>
            <a:pPr algn="l"/>
            <a:r>
              <a:rPr sz="1400" b="1" i="0">
                <a:solidFill>
                  <a:srgbClr val="A78BFA"/>
                </a:solidFill>
                <a:latin typeface="Calibri"/>
              </a:rPr>
              <a:t>~33%</a:t>
            </a:r>
          </a:p>
        </p:txBody>
      </p:sp>
      <p:sp>
        <p:nvSpPr>
          <p:cNvPr id="27" name="TextBox 26"/>
          <p:cNvSpPr txBox="1"/>
          <p:nvPr/>
        </p:nvSpPr>
        <p:spPr>
          <a:xfrm>
            <a:off x="3246120" y="4773168"/>
            <a:ext cx="1371600" cy="347472"/>
          </a:xfrm>
          <a:prstGeom prst="rect">
            <a:avLst/>
          </a:prstGeom>
          <a:noFill/>
        </p:spPr>
        <p:txBody>
          <a:bodyPr wrap="square">
            <a:spAutoFit/>
          </a:bodyPr>
          <a:lstStyle/>
          <a:p>
            <a:pPr algn="l"/>
            <a:r>
              <a:rPr sz="1000" b="0" i="0">
                <a:solidFill>
                  <a:srgbClr val="94A3B8"/>
                </a:solidFill>
                <a:latin typeface="Calibri"/>
              </a:rPr>
              <a:t>Paper: 30.97%</a:t>
            </a:r>
          </a:p>
        </p:txBody>
      </p:sp>
      <p:sp>
        <p:nvSpPr>
          <p:cNvPr id="28" name="TextBox 27"/>
          <p:cNvSpPr txBox="1"/>
          <p:nvPr/>
        </p:nvSpPr>
        <p:spPr>
          <a:xfrm>
            <a:off x="4754880" y="4818888"/>
            <a:ext cx="1371600" cy="274320"/>
          </a:xfrm>
          <a:prstGeom prst="rect">
            <a:avLst/>
          </a:prstGeom>
          <a:noFill/>
        </p:spPr>
        <p:txBody>
          <a:bodyPr wrap="square">
            <a:spAutoFit/>
          </a:bodyPr>
          <a:lstStyle/>
          <a:p>
            <a:pPr algn="l"/>
            <a:r>
              <a:rPr sz="900" b="0" i="0">
                <a:solidFill>
                  <a:srgbClr val="475569"/>
                </a:solidFill>
                <a:latin typeface="Calibri"/>
              </a:rPr>
              <a:t>Core argument statement</a:t>
            </a:r>
          </a:p>
        </p:txBody>
      </p:sp>
      <p:sp>
        <p:nvSpPr>
          <p:cNvPr id="29" name="Rectangle 28"/>
          <p:cNvSpPr/>
          <p:nvPr/>
        </p:nvSpPr>
        <p:spPr>
          <a:xfrm>
            <a:off x="457200" y="5321808"/>
            <a:ext cx="5760720" cy="594360"/>
          </a:xfrm>
          <a:prstGeom prst="rect">
            <a:avLst/>
          </a:prstGeom>
          <a:solidFill>
            <a:srgbClr val="16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 y="5431536"/>
            <a:ext cx="1463040" cy="347472"/>
          </a:xfrm>
          <a:prstGeom prst="rect">
            <a:avLst/>
          </a:prstGeom>
          <a:noFill/>
        </p:spPr>
        <p:txBody>
          <a:bodyPr wrap="square">
            <a:spAutoFit/>
          </a:bodyPr>
          <a:lstStyle/>
          <a:p>
            <a:pPr algn="l"/>
            <a:r>
              <a:rPr sz="1200" b="1" i="0">
                <a:solidFill>
                  <a:srgbClr val="FBBF24"/>
                </a:solidFill>
                <a:latin typeface="Calibri"/>
              </a:rPr>
              <a:t>MajorClaim</a:t>
            </a:r>
          </a:p>
        </p:txBody>
      </p:sp>
      <p:sp>
        <p:nvSpPr>
          <p:cNvPr id="31" name="TextBox 30"/>
          <p:cNvSpPr txBox="1"/>
          <p:nvPr/>
        </p:nvSpPr>
        <p:spPr>
          <a:xfrm>
            <a:off x="2194560" y="5431536"/>
            <a:ext cx="914400" cy="347472"/>
          </a:xfrm>
          <a:prstGeom prst="rect">
            <a:avLst/>
          </a:prstGeom>
          <a:noFill/>
        </p:spPr>
        <p:txBody>
          <a:bodyPr wrap="square">
            <a:spAutoFit/>
          </a:bodyPr>
          <a:lstStyle/>
          <a:p>
            <a:pPr algn="l"/>
            <a:r>
              <a:rPr sz="1400" b="1" i="0">
                <a:solidFill>
                  <a:srgbClr val="FBBF24"/>
                </a:solidFill>
                <a:latin typeface="Calibri"/>
              </a:rPr>
              <a:t> ~6%</a:t>
            </a:r>
          </a:p>
        </p:txBody>
      </p:sp>
      <p:sp>
        <p:nvSpPr>
          <p:cNvPr id="32" name="TextBox 31"/>
          <p:cNvSpPr txBox="1"/>
          <p:nvPr/>
        </p:nvSpPr>
        <p:spPr>
          <a:xfrm>
            <a:off x="3246120" y="5431536"/>
            <a:ext cx="1371600" cy="347472"/>
          </a:xfrm>
          <a:prstGeom prst="rect">
            <a:avLst/>
          </a:prstGeom>
          <a:noFill/>
        </p:spPr>
        <p:txBody>
          <a:bodyPr wrap="square">
            <a:spAutoFit/>
          </a:bodyPr>
          <a:lstStyle/>
          <a:p>
            <a:pPr algn="l"/>
            <a:r>
              <a:rPr sz="1000" b="0" i="0">
                <a:solidFill>
                  <a:srgbClr val="94A3B8"/>
                </a:solidFill>
                <a:latin typeface="Calibri"/>
              </a:rPr>
              <a:t>Paper:  5.75%</a:t>
            </a:r>
          </a:p>
        </p:txBody>
      </p:sp>
      <p:sp>
        <p:nvSpPr>
          <p:cNvPr id="33" name="TextBox 32"/>
          <p:cNvSpPr txBox="1"/>
          <p:nvPr/>
        </p:nvSpPr>
        <p:spPr>
          <a:xfrm>
            <a:off x="4754880" y="5477256"/>
            <a:ext cx="1371600" cy="274320"/>
          </a:xfrm>
          <a:prstGeom prst="rect">
            <a:avLst/>
          </a:prstGeom>
          <a:noFill/>
        </p:spPr>
        <p:txBody>
          <a:bodyPr wrap="square">
            <a:spAutoFit/>
          </a:bodyPr>
          <a:lstStyle/>
          <a:p>
            <a:pPr algn="l"/>
            <a:r>
              <a:rPr sz="900" b="0" i="0">
                <a:solidFill>
                  <a:srgbClr val="475569"/>
                </a:solidFill>
                <a:latin typeface="Calibri"/>
              </a:rPr>
              <a:t>Essay main thesis (rare)</a:t>
            </a:r>
          </a:p>
        </p:txBody>
      </p:sp>
      <p:sp>
        <p:nvSpPr>
          <p:cNvPr id="34" name="Rectangle 33"/>
          <p:cNvSpPr/>
          <p:nvPr/>
        </p:nvSpPr>
        <p:spPr>
          <a:xfrm>
            <a:off x="6492240" y="3493008"/>
            <a:ext cx="5486400" cy="3154680"/>
          </a:xfrm>
          <a:prstGeom prst="rect">
            <a:avLst/>
          </a:prstGeom>
          <a:solidFill>
            <a:srgbClr val="081C12"/>
          </a:solidFill>
          <a:ln w="1651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29400" y="3566160"/>
            <a:ext cx="5212080" cy="384048"/>
          </a:xfrm>
          <a:prstGeom prst="rect">
            <a:avLst/>
          </a:prstGeom>
          <a:noFill/>
        </p:spPr>
        <p:txBody>
          <a:bodyPr wrap="square">
            <a:spAutoFit/>
          </a:bodyPr>
          <a:lstStyle/>
          <a:p>
            <a:pPr algn="l"/>
            <a:r>
              <a:rPr sz="1200" b="1" i="0">
                <a:solidFill>
                  <a:srgbClr val="34D399"/>
                </a:solidFill>
                <a:latin typeface="Calibri"/>
              </a:rPr>
              <a:t>✅  Data Leakage Prevention</a:t>
            </a:r>
          </a:p>
        </p:txBody>
      </p:sp>
      <p:sp>
        <p:nvSpPr>
          <p:cNvPr id="36" name="TextBox 35"/>
          <p:cNvSpPr txBox="1"/>
          <p:nvPr/>
        </p:nvSpPr>
        <p:spPr>
          <a:xfrm>
            <a:off x="6629400" y="4005072"/>
            <a:ext cx="5212080" cy="2514600"/>
          </a:xfrm>
          <a:prstGeom prst="rect">
            <a:avLst/>
          </a:prstGeom>
          <a:noFill/>
        </p:spPr>
        <p:txBody>
          <a:bodyPr wrap="square">
            <a:spAutoFit/>
          </a:bodyPr>
          <a:lstStyle/>
          <a:p>
            <a:pPr>
              <a:spcBef>
                <a:spcPts val="300"/>
              </a:spcBef>
            </a:pPr>
            <a:r>
              <a:rPr sz="1100">
                <a:solidFill>
                  <a:srgbClr val="E2E8F0"/>
                </a:solidFill>
                <a:latin typeface="Calibri"/>
              </a:rPr>
              <a:t>Split by essay ID — same essay never in two splits</a:t>
            </a:r>
          </a:p>
          <a:p>
            <a:pPr>
              <a:spcBef>
                <a:spcPts val="300"/>
              </a:spcBef>
            </a:pPr>
            <a:r>
              <a:rPr sz="1100">
                <a:solidFill>
                  <a:srgbClr val="E2E8F0"/>
                </a:solidFill>
                <a:latin typeface="Calibri"/>
              </a:rPr>
              <a:t>Verified: Train∩Val=∅  Train∩Test=∅  Val∩Test=∅</a:t>
            </a:r>
          </a:p>
          <a:p>
            <a:pPr>
              <a:spcBef>
                <a:spcPts val="300"/>
              </a:spcBef>
            </a:pPr>
            <a:r>
              <a:rPr sz="1100">
                <a:solidFill>
                  <a:srgbClr val="E2E8F0"/>
                </a:solidFill>
                <a:latin typeface="Calibri"/>
              </a:rPr>
              <a:t>Raises ValueError + halts if overlap detected</a:t>
            </a:r>
          </a:p>
          <a:p>
            <a:endParaRPr sz="1100">
              <a:solidFill>
                <a:srgbClr val="E2E8F0"/>
              </a:solidFill>
              <a:latin typeface="Calibri"/>
            </a:endParaRPr>
          </a:p>
          <a:p>
            <a:r>
              <a:rPr sz="1100">
                <a:solidFill>
                  <a:srgbClr val="94A3B8"/>
                </a:solidFill>
                <a:latin typeface="Calibri"/>
              </a:rPr>
              <a:t>Output Files Generated:</a:t>
            </a:r>
          </a:p>
          <a:p>
            <a:pPr>
              <a:spcBef>
                <a:spcPts val="300"/>
              </a:spcBef>
            </a:pPr>
            <a:r>
              <a:rPr sz="1100">
                <a:solidFill>
                  <a:srgbClr val="E2E8F0"/>
                </a:solidFill>
                <a:latin typeface="Calibri"/>
              </a:rPr>
              <a:t>mtg_reconstruction_train.csv    2,177 rows</a:t>
            </a:r>
          </a:p>
          <a:p>
            <a:pPr>
              <a:spcBef>
                <a:spcPts val="300"/>
              </a:spcBef>
            </a:pPr>
            <a:r>
              <a:rPr sz="1100">
                <a:solidFill>
                  <a:srgbClr val="E2E8F0"/>
                </a:solidFill>
                <a:latin typeface="Calibri"/>
              </a:rPr>
              <a:t>mtg_reconstruction_val.csv        311 rows</a:t>
            </a:r>
          </a:p>
          <a:p>
            <a:pPr>
              <a:spcBef>
                <a:spcPts val="300"/>
              </a:spcBef>
            </a:pPr>
            <a:r>
              <a:rPr sz="1100">
                <a:solidFill>
                  <a:srgbClr val="E2E8F0"/>
                </a:solidFill>
                <a:latin typeface="Calibri"/>
              </a:rPr>
              <a:t>mtg_reconstruction_test.csv       622 rows</a:t>
            </a:r>
          </a:p>
          <a:p>
            <a:pPr>
              <a:spcBef>
                <a:spcPts val="300"/>
              </a:spcBef>
            </a:pPr>
            <a:r>
              <a:rPr sz="1100">
                <a:solidFill>
                  <a:srgbClr val="E2E8F0"/>
                </a:solidFill>
                <a:latin typeface="Calibri"/>
              </a:rPr>
              <a:t>mtg_reconstruction_overall.csv  3,110 rows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F97316"/>
                </a:solidFill>
                <a:latin typeface="Calibri"/>
              </a:rPr>
              <a:t>TASK 3  ·  ENTHYMEME RECONSTRUCTION  ·  MODEL SETUP</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Reconstruction Model — BART Setup</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Seq2seq generative model fine-tuned to restore the missing argumentative sentence</a:t>
            </a:r>
          </a:p>
        </p:txBody>
      </p:sp>
      <p:sp>
        <p:nvSpPr>
          <p:cNvPr id="6" name="Rectangle 5"/>
          <p:cNvSpPr/>
          <p:nvPr/>
        </p:nvSpPr>
        <p:spPr>
          <a:xfrm>
            <a:off x="457200" y="1901952"/>
            <a:ext cx="5394960" cy="4617720"/>
          </a:xfrm>
          <a:prstGeom prst="rect">
            <a:avLst/>
          </a:prstGeom>
          <a:solidFill>
            <a:srgbClr val="142032"/>
          </a:solidFill>
          <a:ln w="1778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901952"/>
            <a:ext cx="5394960" cy="6400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965960"/>
            <a:ext cx="5120640" cy="411480"/>
          </a:xfrm>
          <a:prstGeom prst="rect">
            <a:avLst/>
          </a:prstGeom>
          <a:noFill/>
        </p:spPr>
        <p:txBody>
          <a:bodyPr wrap="square">
            <a:spAutoFit/>
          </a:bodyPr>
          <a:lstStyle/>
          <a:p>
            <a:pPr algn="l"/>
            <a:r>
              <a:rPr sz="1400" b="1" i="0">
                <a:solidFill>
                  <a:srgbClr val="F97316"/>
                </a:solidFill>
                <a:latin typeface="Calibri"/>
              </a:rPr>
              <a:t>⚙️  Model Configuration</a:t>
            </a:r>
          </a:p>
        </p:txBody>
      </p:sp>
      <p:sp>
        <p:nvSpPr>
          <p:cNvPr id="9" name="Rectangle 8"/>
          <p:cNvSpPr/>
          <p:nvPr/>
        </p:nvSpPr>
        <p:spPr>
          <a:xfrm>
            <a:off x="502920" y="2423160"/>
            <a:ext cx="5303520" cy="484632"/>
          </a:xfrm>
          <a:prstGeom prst="rect">
            <a:avLst/>
          </a:prstGeom>
          <a:solidFill>
            <a:srgbClr val="1A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514600"/>
            <a:ext cx="2103120" cy="292608"/>
          </a:xfrm>
          <a:prstGeom prst="rect">
            <a:avLst/>
          </a:prstGeom>
          <a:noFill/>
        </p:spPr>
        <p:txBody>
          <a:bodyPr wrap="square">
            <a:spAutoFit/>
          </a:bodyPr>
          <a:lstStyle/>
          <a:p>
            <a:pPr algn="l"/>
            <a:r>
              <a:rPr sz="1100" b="0" i="0">
                <a:solidFill>
                  <a:srgbClr val="94A3B8"/>
                </a:solidFill>
                <a:latin typeface="Calibri"/>
              </a:rPr>
              <a:t>Model</a:t>
            </a:r>
          </a:p>
        </p:txBody>
      </p:sp>
      <p:sp>
        <p:nvSpPr>
          <p:cNvPr id="11" name="TextBox 10"/>
          <p:cNvSpPr txBox="1"/>
          <p:nvPr/>
        </p:nvSpPr>
        <p:spPr>
          <a:xfrm>
            <a:off x="2834640" y="2514600"/>
            <a:ext cx="2834640" cy="292608"/>
          </a:xfrm>
          <a:prstGeom prst="rect">
            <a:avLst/>
          </a:prstGeom>
          <a:noFill/>
        </p:spPr>
        <p:txBody>
          <a:bodyPr wrap="square">
            <a:spAutoFit/>
          </a:bodyPr>
          <a:lstStyle/>
          <a:p>
            <a:pPr algn="l"/>
            <a:r>
              <a:rPr sz="1100" b="1" i="0">
                <a:solidFill>
                  <a:srgbClr val="F97316"/>
                </a:solidFill>
                <a:latin typeface="Calibri"/>
              </a:rPr>
              <a:t>facebook/bart-base</a:t>
            </a:r>
          </a:p>
        </p:txBody>
      </p:sp>
      <p:sp>
        <p:nvSpPr>
          <p:cNvPr id="12" name="Rectangle 11"/>
          <p:cNvSpPr/>
          <p:nvPr/>
        </p:nvSpPr>
        <p:spPr>
          <a:xfrm>
            <a:off x="502920" y="2962656"/>
            <a:ext cx="5303520" cy="484632"/>
          </a:xfrm>
          <a:prstGeom prst="rect">
            <a:avLst/>
          </a:prstGeom>
          <a:solidFill>
            <a:srgbClr val="13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054096"/>
            <a:ext cx="2103120" cy="292608"/>
          </a:xfrm>
          <a:prstGeom prst="rect">
            <a:avLst/>
          </a:prstGeom>
          <a:noFill/>
        </p:spPr>
        <p:txBody>
          <a:bodyPr wrap="square">
            <a:spAutoFit/>
          </a:bodyPr>
          <a:lstStyle/>
          <a:p>
            <a:pPr algn="l"/>
            <a:r>
              <a:rPr sz="1100" b="0" i="0">
                <a:solidFill>
                  <a:srgbClr val="94A3B8"/>
                </a:solidFill>
                <a:latin typeface="Calibri"/>
              </a:rPr>
              <a:t>Task Type</a:t>
            </a:r>
          </a:p>
        </p:txBody>
      </p:sp>
      <p:sp>
        <p:nvSpPr>
          <p:cNvPr id="14" name="TextBox 13"/>
          <p:cNvSpPr txBox="1"/>
          <p:nvPr/>
        </p:nvSpPr>
        <p:spPr>
          <a:xfrm>
            <a:off x="2834640" y="3054096"/>
            <a:ext cx="2834640" cy="292608"/>
          </a:xfrm>
          <a:prstGeom prst="rect">
            <a:avLst/>
          </a:prstGeom>
          <a:noFill/>
        </p:spPr>
        <p:txBody>
          <a:bodyPr wrap="square">
            <a:spAutoFit/>
          </a:bodyPr>
          <a:lstStyle/>
          <a:p>
            <a:pPr algn="l"/>
            <a:r>
              <a:rPr sz="1100" b="1" i="0">
                <a:solidFill>
                  <a:srgbClr val="F97316"/>
                </a:solidFill>
                <a:latin typeface="Calibri"/>
              </a:rPr>
              <a:t>Seq2Seq Generation</a:t>
            </a:r>
          </a:p>
        </p:txBody>
      </p:sp>
      <p:sp>
        <p:nvSpPr>
          <p:cNvPr id="15" name="Rectangle 14"/>
          <p:cNvSpPr/>
          <p:nvPr/>
        </p:nvSpPr>
        <p:spPr>
          <a:xfrm>
            <a:off x="502920" y="3502152"/>
            <a:ext cx="5303520" cy="484632"/>
          </a:xfrm>
          <a:prstGeom prst="rect">
            <a:avLst/>
          </a:prstGeom>
          <a:solidFill>
            <a:srgbClr val="1A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593592"/>
            <a:ext cx="2103120" cy="292608"/>
          </a:xfrm>
          <a:prstGeom prst="rect">
            <a:avLst/>
          </a:prstGeom>
          <a:noFill/>
        </p:spPr>
        <p:txBody>
          <a:bodyPr wrap="square">
            <a:spAutoFit/>
          </a:bodyPr>
          <a:lstStyle/>
          <a:p>
            <a:pPr algn="l"/>
            <a:r>
              <a:rPr sz="1100" b="0" i="0">
                <a:solidFill>
                  <a:srgbClr val="94A3B8"/>
                </a:solidFill>
                <a:latin typeface="Calibri"/>
              </a:rPr>
              <a:t>Epochs</a:t>
            </a:r>
          </a:p>
        </p:txBody>
      </p:sp>
      <p:sp>
        <p:nvSpPr>
          <p:cNvPr id="17" name="TextBox 16"/>
          <p:cNvSpPr txBox="1"/>
          <p:nvPr/>
        </p:nvSpPr>
        <p:spPr>
          <a:xfrm>
            <a:off x="2834640" y="3593592"/>
            <a:ext cx="2834640" cy="292608"/>
          </a:xfrm>
          <a:prstGeom prst="rect">
            <a:avLst/>
          </a:prstGeom>
          <a:noFill/>
        </p:spPr>
        <p:txBody>
          <a:bodyPr wrap="square">
            <a:spAutoFit/>
          </a:bodyPr>
          <a:lstStyle/>
          <a:p>
            <a:pPr algn="l"/>
            <a:r>
              <a:rPr sz="1100" b="1" i="0">
                <a:solidFill>
                  <a:srgbClr val="F97316"/>
                </a:solidFill>
                <a:latin typeface="Calibri"/>
              </a:rPr>
              <a:t>5</a:t>
            </a:r>
          </a:p>
        </p:txBody>
      </p:sp>
      <p:sp>
        <p:nvSpPr>
          <p:cNvPr id="18" name="Rectangle 17"/>
          <p:cNvSpPr/>
          <p:nvPr/>
        </p:nvSpPr>
        <p:spPr>
          <a:xfrm>
            <a:off x="502920" y="4041648"/>
            <a:ext cx="5303520" cy="484632"/>
          </a:xfrm>
          <a:prstGeom prst="rect">
            <a:avLst/>
          </a:prstGeom>
          <a:solidFill>
            <a:srgbClr val="13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4133087"/>
            <a:ext cx="2103120" cy="292608"/>
          </a:xfrm>
          <a:prstGeom prst="rect">
            <a:avLst/>
          </a:prstGeom>
          <a:noFill/>
        </p:spPr>
        <p:txBody>
          <a:bodyPr wrap="square">
            <a:spAutoFit/>
          </a:bodyPr>
          <a:lstStyle/>
          <a:p>
            <a:pPr algn="l"/>
            <a:r>
              <a:rPr sz="1100" b="0" i="0">
                <a:solidFill>
                  <a:srgbClr val="94A3B8"/>
                </a:solidFill>
                <a:latin typeface="Calibri"/>
              </a:rPr>
              <a:t>Train Loss</a:t>
            </a:r>
          </a:p>
        </p:txBody>
      </p:sp>
      <p:sp>
        <p:nvSpPr>
          <p:cNvPr id="20" name="TextBox 19"/>
          <p:cNvSpPr txBox="1"/>
          <p:nvPr/>
        </p:nvSpPr>
        <p:spPr>
          <a:xfrm>
            <a:off x="2834640" y="4133087"/>
            <a:ext cx="2834640" cy="292608"/>
          </a:xfrm>
          <a:prstGeom prst="rect">
            <a:avLst/>
          </a:prstGeom>
          <a:noFill/>
        </p:spPr>
        <p:txBody>
          <a:bodyPr wrap="square">
            <a:spAutoFit/>
          </a:bodyPr>
          <a:lstStyle/>
          <a:p>
            <a:pPr algn="l"/>
            <a:r>
              <a:rPr sz="1100" b="1" i="0">
                <a:solidFill>
                  <a:srgbClr val="F97316"/>
                </a:solidFill>
                <a:latin typeface="Calibri"/>
              </a:rPr>
              <a:t>2.5233</a:t>
            </a:r>
          </a:p>
        </p:txBody>
      </p:sp>
      <p:sp>
        <p:nvSpPr>
          <p:cNvPr id="21" name="Rectangle 20"/>
          <p:cNvSpPr/>
          <p:nvPr/>
        </p:nvSpPr>
        <p:spPr>
          <a:xfrm>
            <a:off x="502920" y="4581144"/>
            <a:ext cx="5303520" cy="484632"/>
          </a:xfrm>
          <a:prstGeom prst="rect">
            <a:avLst/>
          </a:prstGeom>
          <a:solidFill>
            <a:srgbClr val="1A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672583"/>
            <a:ext cx="2103120" cy="292608"/>
          </a:xfrm>
          <a:prstGeom prst="rect">
            <a:avLst/>
          </a:prstGeom>
          <a:noFill/>
        </p:spPr>
        <p:txBody>
          <a:bodyPr wrap="square">
            <a:spAutoFit/>
          </a:bodyPr>
          <a:lstStyle/>
          <a:p>
            <a:pPr algn="l"/>
            <a:r>
              <a:rPr sz="1100" b="0" i="0">
                <a:solidFill>
                  <a:srgbClr val="94A3B8"/>
                </a:solidFill>
                <a:latin typeface="Calibri"/>
              </a:rPr>
              <a:t>Runtime</a:t>
            </a:r>
          </a:p>
        </p:txBody>
      </p:sp>
      <p:sp>
        <p:nvSpPr>
          <p:cNvPr id="23" name="TextBox 22"/>
          <p:cNvSpPr txBox="1"/>
          <p:nvPr/>
        </p:nvSpPr>
        <p:spPr>
          <a:xfrm>
            <a:off x="2834640" y="4672583"/>
            <a:ext cx="2834640" cy="292608"/>
          </a:xfrm>
          <a:prstGeom prst="rect">
            <a:avLst/>
          </a:prstGeom>
          <a:noFill/>
        </p:spPr>
        <p:txBody>
          <a:bodyPr wrap="square">
            <a:spAutoFit/>
          </a:bodyPr>
          <a:lstStyle/>
          <a:p>
            <a:pPr algn="l"/>
            <a:r>
              <a:rPr sz="1100" b="1" i="0">
                <a:solidFill>
                  <a:srgbClr val="F97316"/>
                </a:solidFill>
                <a:latin typeface="Calibri"/>
              </a:rPr>
              <a:t>961.6 sec  (~16 min)</a:t>
            </a:r>
          </a:p>
        </p:txBody>
      </p:sp>
      <p:sp>
        <p:nvSpPr>
          <p:cNvPr id="24" name="Rectangle 23"/>
          <p:cNvSpPr/>
          <p:nvPr/>
        </p:nvSpPr>
        <p:spPr>
          <a:xfrm>
            <a:off x="502920" y="5120640"/>
            <a:ext cx="5303520" cy="484632"/>
          </a:xfrm>
          <a:prstGeom prst="rect">
            <a:avLst/>
          </a:prstGeom>
          <a:solidFill>
            <a:srgbClr val="13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5212079"/>
            <a:ext cx="2103120" cy="292608"/>
          </a:xfrm>
          <a:prstGeom prst="rect">
            <a:avLst/>
          </a:prstGeom>
          <a:noFill/>
        </p:spPr>
        <p:txBody>
          <a:bodyPr wrap="square">
            <a:spAutoFit/>
          </a:bodyPr>
          <a:lstStyle/>
          <a:p>
            <a:pPr algn="l"/>
            <a:r>
              <a:rPr sz="1100" b="0" i="0">
                <a:solidFill>
                  <a:srgbClr val="94A3B8"/>
                </a:solidFill>
                <a:latin typeface="Calibri"/>
              </a:rPr>
              <a:t>Samples/sec</a:t>
            </a:r>
          </a:p>
        </p:txBody>
      </p:sp>
      <p:sp>
        <p:nvSpPr>
          <p:cNvPr id="26" name="TextBox 25"/>
          <p:cNvSpPr txBox="1"/>
          <p:nvPr/>
        </p:nvSpPr>
        <p:spPr>
          <a:xfrm>
            <a:off x="2834640" y="5212079"/>
            <a:ext cx="2834640" cy="292608"/>
          </a:xfrm>
          <a:prstGeom prst="rect">
            <a:avLst/>
          </a:prstGeom>
          <a:noFill/>
        </p:spPr>
        <p:txBody>
          <a:bodyPr wrap="square">
            <a:spAutoFit/>
          </a:bodyPr>
          <a:lstStyle/>
          <a:p>
            <a:pPr algn="l"/>
            <a:r>
              <a:rPr sz="1100" b="1" i="0">
                <a:solidFill>
                  <a:srgbClr val="F97316"/>
                </a:solidFill>
                <a:latin typeface="Calibri"/>
              </a:rPr>
              <a:t>11.32</a:t>
            </a:r>
          </a:p>
        </p:txBody>
      </p:sp>
      <p:sp>
        <p:nvSpPr>
          <p:cNvPr id="27" name="Rectangle 26"/>
          <p:cNvSpPr/>
          <p:nvPr/>
        </p:nvSpPr>
        <p:spPr>
          <a:xfrm>
            <a:off x="502920" y="5660136"/>
            <a:ext cx="5303520" cy="484632"/>
          </a:xfrm>
          <a:prstGeom prst="rect">
            <a:avLst/>
          </a:prstGeom>
          <a:solidFill>
            <a:srgbClr val="1A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5751575"/>
            <a:ext cx="2103120" cy="292608"/>
          </a:xfrm>
          <a:prstGeom prst="rect">
            <a:avLst/>
          </a:prstGeom>
          <a:noFill/>
        </p:spPr>
        <p:txBody>
          <a:bodyPr wrap="square">
            <a:spAutoFit/>
          </a:bodyPr>
          <a:lstStyle/>
          <a:p>
            <a:pPr algn="l"/>
            <a:r>
              <a:rPr sz="1100" b="0" i="0">
                <a:solidFill>
                  <a:srgbClr val="94A3B8"/>
                </a:solidFill>
                <a:latin typeface="Calibri"/>
              </a:rPr>
              <a:t>Total FLOPs</a:t>
            </a:r>
          </a:p>
        </p:txBody>
      </p:sp>
      <p:sp>
        <p:nvSpPr>
          <p:cNvPr id="29" name="TextBox 28"/>
          <p:cNvSpPr txBox="1"/>
          <p:nvPr/>
        </p:nvSpPr>
        <p:spPr>
          <a:xfrm>
            <a:off x="2834640" y="5751575"/>
            <a:ext cx="2834640" cy="292608"/>
          </a:xfrm>
          <a:prstGeom prst="rect">
            <a:avLst/>
          </a:prstGeom>
          <a:noFill/>
        </p:spPr>
        <p:txBody>
          <a:bodyPr wrap="square">
            <a:spAutoFit/>
          </a:bodyPr>
          <a:lstStyle/>
          <a:p>
            <a:pPr algn="l"/>
            <a:r>
              <a:rPr sz="1100" b="1" i="0">
                <a:solidFill>
                  <a:srgbClr val="F97316"/>
                </a:solidFill>
                <a:latin typeface="Calibri"/>
              </a:rPr>
              <a:t>5.92 × 10¹⁵</a:t>
            </a:r>
          </a:p>
        </p:txBody>
      </p:sp>
      <p:sp>
        <p:nvSpPr>
          <p:cNvPr id="30" name="Rectangle 29"/>
          <p:cNvSpPr/>
          <p:nvPr/>
        </p:nvSpPr>
        <p:spPr>
          <a:xfrm>
            <a:off x="6217920" y="1901952"/>
            <a:ext cx="5760720" cy="2148840"/>
          </a:xfrm>
          <a:prstGeom prst="rect">
            <a:avLst/>
          </a:prstGeom>
          <a:solidFill>
            <a:srgbClr val="0C1A2E"/>
          </a:solidFill>
          <a:ln w="1778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80" y="1965960"/>
            <a:ext cx="5486400" cy="411480"/>
          </a:xfrm>
          <a:prstGeom prst="rect">
            <a:avLst/>
          </a:prstGeom>
          <a:noFill/>
        </p:spPr>
        <p:txBody>
          <a:bodyPr wrap="square">
            <a:spAutoFit/>
          </a:bodyPr>
          <a:lstStyle/>
          <a:p>
            <a:pPr algn="l"/>
            <a:r>
              <a:rPr sz="1300" b="1" i="0">
                <a:solidFill>
                  <a:srgbClr val="06B6D4"/>
                </a:solidFill>
                <a:latin typeface="Calibri"/>
              </a:rPr>
              <a:t>🔤  Augmented Input Format  (key design choice)</a:t>
            </a:r>
          </a:p>
        </p:txBody>
      </p:sp>
      <p:sp>
        <p:nvSpPr>
          <p:cNvPr id="32" name="TextBox 31"/>
          <p:cNvSpPr txBox="1"/>
          <p:nvPr/>
        </p:nvSpPr>
        <p:spPr>
          <a:xfrm>
            <a:off x="6355080" y="2423160"/>
            <a:ext cx="5577840" cy="502920"/>
          </a:xfrm>
          <a:prstGeom prst="rect">
            <a:avLst/>
          </a:prstGeom>
          <a:noFill/>
        </p:spPr>
        <p:txBody>
          <a:bodyPr wrap="square">
            <a:spAutoFit/>
          </a:bodyPr>
          <a:lstStyle/>
          <a:p>
            <a:pPr algn="l"/>
            <a:r>
              <a:rPr sz="1000" b="0" i="1">
                <a:solidFill>
                  <a:srgbClr val="67E8F9"/>
                </a:solidFill>
                <a:latin typeface="Calibri"/>
              </a:rPr>
              <a:t>"Topic: [essay prompt] | Missing ADU: [Claim/Premise/MajorClaim] | Argument: [text with [MISSING]]"</a:t>
            </a:r>
          </a:p>
        </p:txBody>
      </p:sp>
      <p:sp>
        <p:nvSpPr>
          <p:cNvPr id="33" name="TextBox 32"/>
          <p:cNvSpPr txBox="1"/>
          <p:nvPr/>
        </p:nvSpPr>
        <p:spPr>
          <a:xfrm>
            <a:off x="6355080" y="2944368"/>
            <a:ext cx="5577840" cy="960120"/>
          </a:xfrm>
          <a:prstGeom prst="rect">
            <a:avLst/>
          </a:prstGeom>
          <a:noFill/>
        </p:spPr>
        <p:txBody>
          <a:bodyPr wrap="square">
            <a:spAutoFit/>
          </a:bodyPr>
          <a:lstStyle/>
          <a:p>
            <a:pPr>
              <a:spcBef>
                <a:spcPts val="300"/>
              </a:spcBef>
            </a:pPr>
            <a:r>
              <a:rPr sz="1100">
                <a:solidFill>
                  <a:srgbClr val="E2E8F0"/>
                </a:solidFill>
                <a:latin typeface="Calibri"/>
              </a:rPr>
              <a:t>Prefix includes essay topic + ADU type → richer context for BART</a:t>
            </a:r>
          </a:p>
          <a:p>
            <a:pPr>
              <a:spcBef>
                <a:spcPts val="300"/>
              </a:spcBef>
            </a:pPr>
            <a:r>
              <a:rPr sz="1100">
                <a:solidFill>
                  <a:srgbClr val="E2E8F0"/>
                </a:solidFill>
                <a:latin typeface="Calibri"/>
              </a:rPr>
              <a:t>Goes beyond original Stahl et al. 2023 design</a:t>
            </a:r>
          </a:p>
          <a:p>
            <a:pPr>
              <a:spcBef>
                <a:spcPts val="300"/>
              </a:spcBef>
            </a:pPr>
            <a:r>
              <a:rPr sz="1100">
                <a:solidFill>
                  <a:srgbClr val="E2E8F0"/>
                </a:solidFill>
                <a:latin typeface="Calibri"/>
              </a:rPr>
              <a:t>Guides the model toward argument-type-specific generation</a:t>
            </a:r>
          </a:p>
        </p:txBody>
      </p:sp>
      <p:sp>
        <p:nvSpPr>
          <p:cNvPr id="34" name="Rectangle 33"/>
          <p:cNvSpPr/>
          <p:nvPr/>
        </p:nvSpPr>
        <p:spPr>
          <a:xfrm>
            <a:off x="6217920" y="4160520"/>
            <a:ext cx="5760720" cy="2359152"/>
          </a:xfrm>
          <a:prstGeom prst="rect">
            <a:avLst/>
          </a:prstGeom>
          <a:solidFill>
            <a:srgbClr val="0C1810"/>
          </a:solidFill>
          <a:ln w="177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55080" y="4224528"/>
            <a:ext cx="5486400" cy="384048"/>
          </a:xfrm>
          <a:prstGeom prst="rect">
            <a:avLst/>
          </a:prstGeom>
          <a:noFill/>
        </p:spPr>
        <p:txBody>
          <a:bodyPr wrap="square">
            <a:spAutoFit/>
          </a:bodyPr>
          <a:lstStyle/>
          <a:p>
            <a:pPr algn="l"/>
            <a:r>
              <a:rPr sz="1300" b="1" i="0">
                <a:solidFill>
                  <a:srgbClr val="34D399"/>
                </a:solidFill>
                <a:latin typeface="Calibri"/>
              </a:rPr>
              <a:t>🎯  Training Objective</a:t>
            </a:r>
          </a:p>
        </p:txBody>
      </p:sp>
      <p:sp>
        <p:nvSpPr>
          <p:cNvPr id="36" name="TextBox 35"/>
          <p:cNvSpPr txBox="1"/>
          <p:nvPr/>
        </p:nvSpPr>
        <p:spPr>
          <a:xfrm>
            <a:off x="6355080" y="4663440"/>
            <a:ext cx="5577840" cy="1737360"/>
          </a:xfrm>
          <a:prstGeom prst="rect">
            <a:avLst/>
          </a:prstGeom>
          <a:noFill/>
        </p:spPr>
        <p:txBody>
          <a:bodyPr wrap="square">
            <a:spAutoFit/>
          </a:bodyPr>
          <a:lstStyle/>
          <a:p>
            <a:pPr>
              <a:spcBef>
                <a:spcPts val="300"/>
              </a:spcBef>
            </a:pPr>
            <a:r>
              <a:rPr sz="1100">
                <a:solidFill>
                  <a:srgbClr val="E2E8F0"/>
                </a:solidFill>
                <a:latin typeface="Calibri"/>
              </a:rPr>
              <a:t>Input:  masked paragraph with [MISSING] + topic prefix</a:t>
            </a:r>
          </a:p>
          <a:p>
            <a:pPr>
              <a:spcBef>
                <a:spcPts val="300"/>
              </a:spcBef>
            </a:pPr>
            <a:r>
              <a:rPr sz="1100">
                <a:solidFill>
                  <a:srgbClr val="E2E8F0"/>
                </a:solidFill>
                <a:latin typeface="Calibri"/>
              </a:rPr>
              <a:t>Target: FULL original paragraph (auto-encoder objective)</a:t>
            </a:r>
          </a:p>
          <a:p>
            <a:pPr>
              <a:spcBef>
                <a:spcPts val="300"/>
              </a:spcBef>
            </a:pPr>
            <a:r>
              <a:rPr sz="1100">
                <a:solidFill>
                  <a:srgbClr val="E2E8F0"/>
                </a:solidFill>
                <a:latin typeface="Calibri"/>
              </a:rPr>
              <a:t>Loss:  cross-entropy over full sequence tokens</a:t>
            </a:r>
          </a:p>
          <a:p>
            <a:pPr>
              <a:spcBef>
                <a:spcPts val="300"/>
              </a:spcBef>
            </a:pPr>
            <a:r>
              <a:rPr sz="1100">
                <a:solidFill>
                  <a:srgbClr val="E2E8F0"/>
                </a:solidFill>
                <a:latin typeface="Calibri"/>
              </a:rPr>
              <a:t>Evaluation: ROUGE-1/2/L + BERTScore (P / R / F1)</a:t>
            </a:r>
          </a:p>
          <a:p>
            <a:pPr>
              <a:spcBef>
                <a:spcPts val="300"/>
              </a:spcBef>
            </a:pPr>
            <a:r>
              <a:rPr sz="1100">
                <a:solidFill>
                  <a:srgbClr val="E2E8F0"/>
                </a:solidFill>
                <a:latin typeface="Calibri"/>
              </a:rPr>
              <a:t>Accuracy = 0.0 expected — exact match impossible for generation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34D399"/>
                </a:solidFill>
                <a:latin typeface="Calibri"/>
              </a:rPr>
              <a:t>TASK 3  ·  RECONSTRUCTION  ·  EVALUATION RESULTS</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Reconstruction Results — Val &amp; Test</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BART fine-tuned on 2,177 instances  ·  5 epochs  ·  Evaluated on 311 / 622 instances</a:t>
            </a:r>
          </a:p>
        </p:txBody>
      </p:sp>
      <p:sp>
        <p:nvSpPr>
          <p:cNvPr id="6" name="Rectangle 5"/>
          <p:cNvSpPr/>
          <p:nvPr/>
        </p:nvSpPr>
        <p:spPr>
          <a:xfrm>
            <a:off x="457200" y="1874519"/>
            <a:ext cx="3657600" cy="1417320"/>
          </a:xfrm>
          <a:prstGeom prst="rect">
            <a:avLst/>
          </a:prstGeom>
          <a:solidFill>
            <a:srgbClr val="142032"/>
          </a:solidFill>
          <a:ln w="228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1792" y="1965960"/>
            <a:ext cx="3291840" cy="713232"/>
          </a:xfrm>
          <a:prstGeom prst="rect">
            <a:avLst/>
          </a:prstGeom>
          <a:noFill/>
        </p:spPr>
        <p:txBody>
          <a:bodyPr wrap="square">
            <a:spAutoFit/>
          </a:bodyPr>
          <a:lstStyle/>
          <a:p>
            <a:pPr algn="l"/>
            <a:r>
              <a:rPr sz="2800" b="1" i="0">
                <a:solidFill>
                  <a:srgbClr val="06B6D4"/>
                </a:solidFill>
                <a:latin typeface="Calibri"/>
              </a:rPr>
              <a:t>85.88%</a:t>
            </a:r>
          </a:p>
        </p:txBody>
      </p:sp>
      <p:sp>
        <p:nvSpPr>
          <p:cNvPr id="8" name="TextBox 7"/>
          <p:cNvSpPr txBox="1"/>
          <p:nvPr/>
        </p:nvSpPr>
        <p:spPr>
          <a:xfrm>
            <a:off x="621792" y="2670048"/>
            <a:ext cx="3291840" cy="320040"/>
          </a:xfrm>
          <a:prstGeom prst="rect">
            <a:avLst/>
          </a:prstGeom>
          <a:noFill/>
        </p:spPr>
        <p:txBody>
          <a:bodyPr wrap="square">
            <a:spAutoFit/>
          </a:bodyPr>
          <a:lstStyle/>
          <a:p>
            <a:pPr algn="l"/>
            <a:r>
              <a:rPr sz="1200" b="0" i="0">
                <a:solidFill>
                  <a:srgbClr val="94A3B8"/>
                </a:solidFill>
                <a:latin typeface="Calibri"/>
              </a:rPr>
              <a:t>ROUGE-1</a:t>
            </a:r>
          </a:p>
        </p:txBody>
      </p:sp>
      <p:sp>
        <p:nvSpPr>
          <p:cNvPr id="9" name="TextBox 8"/>
          <p:cNvSpPr txBox="1"/>
          <p:nvPr/>
        </p:nvSpPr>
        <p:spPr>
          <a:xfrm>
            <a:off x="621792" y="2999232"/>
            <a:ext cx="3291840" cy="228600"/>
          </a:xfrm>
          <a:prstGeom prst="rect">
            <a:avLst/>
          </a:prstGeom>
          <a:noFill/>
        </p:spPr>
        <p:txBody>
          <a:bodyPr wrap="square">
            <a:spAutoFit/>
          </a:bodyPr>
          <a:lstStyle/>
          <a:p>
            <a:pPr algn="l"/>
            <a:r>
              <a:rPr sz="900" b="0" i="0">
                <a:solidFill>
                  <a:srgbClr val="475569"/>
                </a:solidFill>
                <a:latin typeface="Calibri"/>
              </a:rPr>
              <a:t>Test Set</a:t>
            </a:r>
          </a:p>
        </p:txBody>
      </p:sp>
      <p:sp>
        <p:nvSpPr>
          <p:cNvPr id="10" name="Rectangle 9"/>
          <p:cNvSpPr/>
          <p:nvPr/>
        </p:nvSpPr>
        <p:spPr>
          <a:xfrm>
            <a:off x="4361688" y="1874519"/>
            <a:ext cx="3657600" cy="1417320"/>
          </a:xfrm>
          <a:prstGeom prst="rect">
            <a:avLst/>
          </a:prstGeom>
          <a:solidFill>
            <a:srgbClr val="142032"/>
          </a:solidFill>
          <a:ln w="2286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6279" y="1965960"/>
            <a:ext cx="3291840" cy="713232"/>
          </a:xfrm>
          <a:prstGeom prst="rect">
            <a:avLst/>
          </a:prstGeom>
          <a:noFill/>
        </p:spPr>
        <p:txBody>
          <a:bodyPr wrap="square">
            <a:spAutoFit/>
          </a:bodyPr>
          <a:lstStyle/>
          <a:p>
            <a:pPr algn="l"/>
            <a:r>
              <a:rPr sz="2800" b="1" i="0">
                <a:solidFill>
                  <a:srgbClr val="A78BFA"/>
                </a:solidFill>
                <a:latin typeface="Calibri"/>
              </a:rPr>
              <a:t>82.62%</a:t>
            </a:r>
          </a:p>
        </p:txBody>
      </p:sp>
      <p:sp>
        <p:nvSpPr>
          <p:cNvPr id="12" name="TextBox 11"/>
          <p:cNvSpPr txBox="1"/>
          <p:nvPr/>
        </p:nvSpPr>
        <p:spPr>
          <a:xfrm>
            <a:off x="4526279" y="2670048"/>
            <a:ext cx="3291840" cy="320040"/>
          </a:xfrm>
          <a:prstGeom prst="rect">
            <a:avLst/>
          </a:prstGeom>
          <a:noFill/>
        </p:spPr>
        <p:txBody>
          <a:bodyPr wrap="square">
            <a:spAutoFit/>
          </a:bodyPr>
          <a:lstStyle/>
          <a:p>
            <a:pPr algn="l"/>
            <a:r>
              <a:rPr sz="1200" b="0" i="0">
                <a:solidFill>
                  <a:srgbClr val="94A3B8"/>
                </a:solidFill>
                <a:latin typeface="Calibri"/>
              </a:rPr>
              <a:t>ROUGE-2</a:t>
            </a:r>
          </a:p>
        </p:txBody>
      </p:sp>
      <p:sp>
        <p:nvSpPr>
          <p:cNvPr id="13" name="TextBox 12"/>
          <p:cNvSpPr txBox="1"/>
          <p:nvPr/>
        </p:nvSpPr>
        <p:spPr>
          <a:xfrm>
            <a:off x="4526279" y="2999232"/>
            <a:ext cx="3291840" cy="228600"/>
          </a:xfrm>
          <a:prstGeom prst="rect">
            <a:avLst/>
          </a:prstGeom>
          <a:noFill/>
        </p:spPr>
        <p:txBody>
          <a:bodyPr wrap="square">
            <a:spAutoFit/>
          </a:bodyPr>
          <a:lstStyle/>
          <a:p>
            <a:pPr algn="l"/>
            <a:r>
              <a:rPr sz="900" b="0" i="0">
                <a:solidFill>
                  <a:srgbClr val="475569"/>
                </a:solidFill>
                <a:latin typeface="Calibri"/>
              </a:rPr>
              <a:t>Test Set</a:t>
            </a:r>
          </a:p>
        </p:txBody>
      </p:sp>
      <p:sp>
        <p:nvSpPr>
          <p:cNvPr id="14" name="Rectangle 13"/>
          <p:cNvSpPr/>
          <p:nvPr/>
        </p:nvSpPr>
        <p:spPr>
          <a:xfrm>
            <a:off x="8266175" y="1874519"/>
            <a:ext cx="3657600" cy="1417320"/>
          </a:xfrm>
          <a:prstGeom prst="rect">
            <a:avLst/>
          </a:prstGeom>
          <a:solidFill>
            <a:srgbClr val="142032"/>
          </a:solid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30767" y="1965960"/>
            <a:ext cx="3291840" cy="713232"/>
          </a:xfrm>
          <a:prstGeom prst="rect">
            <a:avLst/>
          </a:prstGeom>
          <a:noFill/>
        </p:spPr>
        <p:txBody>
          <a:bodyPr wrap="square">
            <a:spAutoFit/>
          </a:bodyPr>
          <a:lstStyle/>
          <a:p>
            <a:pPr algn="l"/>
            <a:r>
              <a:rPr sz="2800" b="1" i="0">
                <a:solidFill>
                  <a:srgbClr val="7C3AED"/>
                </a:solidFill>
                <a:latin typeface="Calibri"/>
              </a:rPr>
              <a:t>84.78%</a:t>
            </a:r>
          </a:p>
        </p:txBody>
      </p:sp>
      <p:sp>
        <p:nvSpPr>
          <p:cNvPr id="16" name="TextBox 15"/>
          <p:cNvSpPr txBox="1"/>
          <p:nvPr/>
        </p:nvSpPr>
        <p:spPr>
          <a:xfrm>
            <a:off x="8430767" y="2670048"/>
            <a:ext cx="3291840" cy="320040"/>
          </a:xfrm>
          <a:prstGeom prst="rect">
            <a:avLst/>
          </a:prstGeom>
          <a:noFill/>
        </p:spPr>
        <p:txBody>
          <a:bodyPr wrap="square">
            <a:spAutoFit/>
          </a:bodyPr>
          <a:lstStyle/>
          <a:p>
            <a:pPr algn="l"/>
            <a:r>
              <a:rPr sz="1200" b="0" i="0">
                <a:solidFill>
                  <a:srgbClr val="94A3B8"/>
                </a:solidFill>
                <a:latin typeface="Calibri"/>
              </a:rPr>
              <a:t>ROUGE-L</a:t>
            </a:r>
          </a:p>
        </p:txBody>
      </p:sp>
      <p:sp>
        <p:nvSpPr>
          <p:cNvPr id="17" name="TextBox 16"/>
          <p:cNvSpPr txBox="1"/>
          <p:nvPr/>
        </p:nvSpPr>
        <p:spPr>
          <a:xfrm>
            <a:off x="8430767" y="2999232"/>
            <a:ext cx="3291840" cy="228600"/>
          </a:xfrm>
          <a:prstGeom prst="rect">
            <a:avLst/>
          </a:prstGeom>
          <a:noFill/>
        </p:spPr>
        <p:txBody>
          <a:bodyPr wrap="square">
            <a:spAutoFit/>
          </a:bodyPr>
          <a:lstStyle/>
          <a:p>
            <a:pPr algn="l"/>
            <a:r>
              <a:rPr sz="900" b="0" i="0">
                <a:solidFill>
                  <a:srgbClr val="475569"/>
                </a:solidFill>
                <a:latin typeface="Calibri"/>
              </a:rPr>
              <a:t>Test Set</a:t>
            </a:r>
          </a:p>
        </p:txBody>
      </p:sp>
      <p:sp>
        <p:nvSpPr>
          <p:cNvPr id="18" name="Rectangle 17"/>
          <p:cNvSpPr/>
          <p:nvPr/>
        </p:nvSpPr>
        <p:spPr>
          <a:xfrm>
            <a:off x="457200" y="3429000"/>
            <a:ext cx="3657600" cy="1417320"/>
          </a:xfrm>
          <a:prstGeom prst="rect">
            <a:avLst/>
          </a:prstGeom>
          <a:solidFill>
            <a:srgbClr val="142032"/>
          </a:solidFill>
          <a:ln w="2286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792" y="3520440"/>
            <a:ext cx="3291840" cy="713232"/>
          </a:xfrm>
          <a:prstGeom prst="rect">
            <a:avLst/>
          </a:prstGeom>
          <a:noFill/>
        </p:spPr>
        <p:txBody>
          <a:bodyPr wrap="square">
            <a:spAutoFit/>
          </a:bodyPr>
          <a:lstStyle/>
          <a:p>
            <a:pPr algn="l"/>
            <a:r>
              <a:rPr sz="2800" b="1" i="0">
                <a:solidFill>
                  <a:srgbClr val="F97316"/>
                </a:solidFill>
                <a:latin typeface="Calibri"/>
              </a:rPr>
              <a:t>91.81%</a:t>
            </a:r>
          </a:p>
        </p:txBody>
      </p:sp>
      <p:sp>
        <p:nvSpPr>
          <p:cNvPr id="20" name="TextBox 19"/>
          <p:cNvSpPr txBox="1"/>
          <p:nvPr/>
        </p:nvSpPr>
        <p:spPr>
          <a:xfrm>
            <a:off x="621792" y="4233672"/>
            <a:ext cx="3291840" cy="320040"/>
          </a:xfrm>
          <a:prstGeom prst="rect">
            <a:avLst/>
          </a:prstGeom>
          <a:noFill/>
        </p:spPr>
        <p:txBody>
          <a:bodyPr wrap="square">
            <a:spAutoFit/>
          </a:bodyPr>
          <a:lstStyle/>
          <a:p>
            <a:pPr algn="l"/>
            <a:r>
              <a:rPr sz="1200" b="0" i="0">
                <a:solidFill>
                  <a:srgbClr val="94A3B8"/>
                </a:solidFill>
                <a:latin typeface="Calibri"/>
              </a:rPr>
              <a:t>BERTScore P</a:t>
            </a:r>
          </a:p>
        </p:txBody>
      </p:sp>
      <p:sp>
        <p:nvSpPr>
          <p:cNvPr id="21" name="TextBox 20"/>
          <p:cNvSpPr txBox="1"/>
          <p:nvPr/>
        </p:nvSpPr>
        <p:spPr>
          <a:xfrm>
            <a:off x="621792" y="4562856"/>
            <a:ext cx="3291840" cy="228600"/>
          </a:xfrm>
          <a:prstGeom prst="rect">
            <a:avLst/>
          </a:prstGeom>
          <a:noFill/>
        </p:spPr>
        <p:txBody>
          <a:bodyPr wrap="square">
            <a:spAutoFit/>
          </a:bodyPr>
          <a:lstStyle/>
          <a:p>
            <a:pPr algn="l"/>
            <a:r>
              <a:rPr sz="900" b="0" i="0">
                <a:solidFill>
                  <a:srgbClr val="475569"/>
                </a:solidFill>
                <a:latin typeface="Calibri"/>
              </a:rPr>
              <a:t>Test Set</a:t>
            </a:r>
          </a:p>
        </p:txBody>
      </p:sp>
      <p:sp>
        <p:nvSpPr>
          <p:cNvPr id="22" name="Rectangle 21"/>
          <p:cNvSpPr/>
          <p:nvPr/>
        </p:nvSpPr>
        <p:spPr>
          <a:xfrm>
            <a:off x="4361688" y="3429000"/>
            <a:ext cx="3657600" cy="1417320"/>
          </a:xfrm>
          <a:prstGeom prst="rect">
            <a:avLst/>
          </a:prstGeom>
          <a:solidFill>
            <a:srgbClr val="142032"/>
          </a:solidFill>
          <a:ln w="2286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26279" y="3520440"/>
            <a:ext cx="3291840" cy="713232"/>
          </a:xfrm>
          <a:prstGeom prst="rect">
            <a:avLst/>
          </a:prstGeom>
          <a:noFill/>
        </p:spPr>
        <p:txBody>
          <a:bodyPr wrap="square">
            <a:spAutoFit/>
          </a:bodyPr>
          <a:lstStyle/>
          <a:p>
            <a:pPr algn="l"/>
            <a:r>
              <a:rPr sz="2800" b="1" i="0">
                <a:solidFill>
                  <a:srgbClr val="FBBF24"/>
                </a:solidFill>
                <a:latin typeface="Calibri"/>
              </a:rPr>
              <a:t>82.70%</a:t>
            </a:r>
          </a:p>
        </p:txBody>
      </p:sp>
      <p:sp>
        <p:nvSpPr>
          <p:cNvPr id="24" name="TextBox 23"/>
          <p:cNvSpPr txBox="1"/>
          <p:nvPr/>
        </p:nvSpPr>
        <p:spPr>
          <a:xfrm>
            <a:off x="4526279" y="4233672"/>
            <a:ext cx="3291840" cy="320040"/>
          </a:xfrm>
          <a:prstGeom prst="rect">
            <a:avLst/>
          </a:prstGeom>
          <a:noFill/>
        </p:spPr>
        <p:txBody>
          <a:bodyPr wrap="square">
            <a:spAutoFit/>
          </a:bodyPr>
          <a:lstStyle/>
          <a:p>
            <a:pPr algn="l"/>
            <a:r>
              <a:rPr sz="1200" b="0" i="0">
                <a:solidFill>
                  <a:srgbClr val="94A3B8"/>
                </a:solidFill>
                <a:latin typeface="Calibri"/>
              </a:rPr>
              <a:t>BERTScore R</a:t>
            </a:r>
          </a:p>
        </p:txBody>
      </p:sp>
      <p:sp>
        <p:nvSpPr>
          <p:cNvPr id="25" name="TextBox 24"/>
          <p:cNvSpPr txBox="1"/>
          <p:nvPr/>
        </p:nvSpPr>
        <p:spPr>
          <a:xfrm>
            <a:off x="4526279" y="4562856"/>
            <a:ext cx="3291840" cy="228600"/>
          </a:xfrm>
          <a:prstGeom prst="rect">
            <a:avLst/>
          </a:prstGeom>
          <a:noFill/>
        </p:spPr>
        <p:txBody>
          <a:bodyPr wrap="square">
            <a:spAutoFit/>
          </a:bodyPr>
          <a:lstStyle/>
          <a:p>
            <a:pPr algn="l"/>
            <a:r>
              <a:rPr sz="900" b="0" i="0">
                <a:solidFill>
                  <a:srgbClr val="475569"/>
                </a:solidFill>
                <a:latin typeface="Calibri"/>
              </a:rPr>
              <a:t>Test Set</a:t>
            </a:r>
          </a:p>
        </p:txBody>
      </p:sp>
      <p:sp>
        <p:nvSpPr>
          <p:cNvPr id="26" name="Rectangle 25"/>
          <p:cNvSpPr/>
          <p:nvPr/>
        </p:nvSpPr>
        <p:spPr>
          <a:xfrm>
            <a:off x="8266175" y="3429000"/>
            <a:ext cx="3657600" cy="1417320"/>
          </a:xfrm>
          <a:prstGeom prst="rect">
            <a:avLst/>
          </a:prstGeom>
          <a:solidFill>
            <a:srgbClr val="142032"/>
          </a:solidFill>
          <a:ln w="2286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30767" y="3520440"/>
            <a:ext cx="3291840" cy="713232"/>
          </a:xfrm>
          <a:prstGeom prst="rect">
            <a:avLst/>
          </a:prstGeom>
          <a:noFill/>
        </p:spPr>
        <p:txBody>
          <a:bodyPr wrap="square">
            <a:spAutoFit/>
          </a:bodyPr>
          <a:lstStyle/>
          <a:p>
            <a:pPr algn="l"/>
            <a:r>
              <a:rPr sz="2800" b="1" i="0">
                <a:solidFill>
                  <a:srgbClr val="34D399"/>
                </a:solidFill>
                <a:latin typeface="Calibri"/>
              </a:rPr>
              <a:t>86.60%</a:t>
            </a:r>
          </a:p>
        </p:txBody>
      </p:sp>
      <p:sp>
        <p:nvSpPr>
          <p:cNvPr id="28" name="TextBox 27"/>
          <p:cNvSpPr txBox="1"/>
          <p:nvPr/>
        </p:nvSpPr>
        <p:spPr>
          <a:xfrm>
            <a:off x="8430767" y="4233672"/>
            <a:ext cx="3291840" cy="320040"/>
          </a:xfrm>
          <a:prstGeom prst="rect">
            <a:avLst/>
          </a:prstGeom>
          <a:noFill/>
        </p:spPr>
        <p:txBody>
          <a:bodyPr wrap="square">
            <a:spAutoFit/>
          </a:bodyPr>
          <a:lstStyle/>
          <a:p>
            <a:pPr algn="l"/>
            <a:r>
              <a:rPr sz="1200" b="0" i="0">
                <a:solidFill>
                  <a:srgbClr val="94A3B8"/>
                </a:solidFill>
                <a:latin typeface="Calibri"/>
              </a:rPr>
              <a:t>BERTScore F1</a:t>
            </a:r>
          </a:p>
        </p:txBody>
      </p:sp>
      <p:sp>
        <p:nvSpPr>
          <p:cNvPr id="29" name="TextBox 28"/>
          <p:cNvSpPr txBox="1"/>
          <p:nvPr/>
        </p:nvSpPr>
        <p:spPr>
          <a:xfrm>
            <a:off x="8430767" y="4562856"/>
            <a:ext cx="3291840" cy="228600"/>
          </a:xfrm>
          <a:prstGeom prst="rect">
            <a:avLst/>
          </a:prstGeom>
          <a:noFill/>
        </p:spPr>
        <p:txBody>
          <a:bodyPr wrap="square">
            <a:spAutoFit/>
          </a:bodyPr>
          <a:lstStyle/>
          <a:p>
            <a:pPr algn="l"/>
            <a:r>
              <a:rPr sz="900" b="0" i="0">
                <a:solidFill>
                  <a:srgbClr val="475569"/>
                </a:solidFill>
                <a:latin typeface="Calibri"/>
              </a:rPr>
              <a:t>Test Set</a:t>
            </a:r>
          </a:p>
        </p:txBody>
      </p:sp>
      <p:sp>
        <p:nvSpPr>
          <p:cNvPr id="30" name="TextBox 29"/>
          <p:cNvSpPr txBox="1"/>
          <p:nvPr/>
        </p:nvSpPr>
        <p:spPr>
          <a:xfrm>
            <a:off x="548640" y="4983480"/>
            <a:ext cx="11430000" cy="384048"/>
          </a:xfrm>
          <a:prstGeom prst="rect">
            <a:avLst/>
          </a:prstGeom>
          <a:noFill/>
        </p:spPr>
        <p:txBody>
          <a:bodyPr wrap="square">
            <a:spAutoFit/>
          </a:bodyPr>
          <a:lstStyle/>
          <a:p>
            <a:pPr algn="l"/>
            <a:r>
              <a:rPr sz="1300" b="1" i="0">
                <a:solidFill>
                  <a:srgbClr val="FFFFFF"/>
                </a:solidFill>
                <a:latin typeface="Calibri"/>
              </a:rPr>
              <a:t>Validation vs Test Comparison</a:t>
            </a:r>
          </a:p>
        </p:txBody>
      </p:sp>
      <p:sp>
        <p:nvSpPr>
          <p:cNvPr id="31" name="Rectangle 30"/>
          <p:cNvSpPr/>
          <p:nvPr/>
        </p:nvSpPr>
        <p:spPr>
          <a:xfrm>
            <a:off x="457200" y="5394960"/>
            <a:ext cx="11430000" cy="2743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4360" y="5138928"/>
            <a:ext cx="2286000" cy="274320"/>
          </a:xfrm>
          <a:prstGeom prst="rect">
            <a:avLst/>
          </a:prstGeom>
          <a:noFill/>
        </p:spPr>
        <p:txBody>
          <a:bodyPr wrap="square">
            <a:spAutoFit/>
          </a:bodyPr>
          <a:lstStyle/>
          <a:p>
            <a:pPr algn="l"/>
            <a:r>
              <a:rPr sz="1000" b="1" i="0">
                <a:solidFill>
                  <a:srgbClr val="FFFFFF"/>
                </a:solidFill>
                <a:latin typeface="Calibri"/>
              </a:rPr>
              <a:t>Metric</a:t>
            </a:r>
          </a:p>
        </p:txBody>
      </p:sp>
      <p:sp>
        <p:nvSpPr>
          <p:cNvPr id="33" name="TextBox 32"/>
          <p:cNvSpPr txBox="1"/>
          <p:nvPr/>
        </p:nvSpPr>
        <p:spPr>
          <a:xfrm>
            <a:off x="2926080" y="5138928"/>
            <a:ext cx="2286000" cy="274320"/>
          </a:xfrm>
          <a:prstGeom prst="rect">
            <a:avLst/>
          </a:prstGeom>
          <a:noFill/>
        </p:spPr>
        <p:txBody>
          <a:bodyPr wrap="square">
            <a:spAutoFit/>
          </a:bodyPr>
          <a:lstStyle/>
          <a:p>
            <a:pPr algn="l"/>
            <a:r>
              <a:rPr sz="1000" b="1" i="0">
                <a:solidFill>
                  <a:srgbClr val="A78BFA"/>
                </a:solidFill>
                <a:latin typeface="Calibri"/>
              </a:rPr>
              <a:t>Val</a:t>
            </a:r>
          </a:p>
        </p:txBody>
      </p:sp>
      <p:sp>
        <p:nvSpPr>
          <p:cNvPr id="34" name="TextBox 33"/>
          <p:cNvSpPr txBox="1"/>
          <p:nvPr/>
        </p:nvSpPr>
        <p:spPr>
          <a:xfrm>
            <a:off x="5303520" y="5138928"/>
            <a:ext cx="2286000" cy="274320"/>
          </a:xfrm>
          <a:prstGeom prst="rect">
            <a:avLst/>
          </a:prstGeom>
          <a:noFill/>
        </p:spPr>
        <p:txBody>
          <a:bodyPr wrap="square">
            <a:spAutoFit/>
          </a:bodyPr>
          <a:lstStyle/>
          <a:p>
            <a:pPr algn="l"/>
            <a:r>
              <a:rPr sz="1000" b="1" i="0">
                <a:solidFill>
                  <a:srgbClr val="06B6D4"/>
                </a:solidFill>
                <a:latin typeface="Calibri"/>
              </a:rPr>
              <a:t>Test</a:t>
            </a:r>
          </a:p>
        </p:txBody>
      </p:sp>
      <p:sp>
        <p:nvSpPr>
          <p:cNvPr id="35" name="TextBox 34"/>
          <p:cNvSpPr txBox="1"/>
          <p:nvPr/>
        </p:nvSpPr>
        <p:spPr>
          <a:xfrm>
            <a:off x="7680960" y="5138928"/>
            <a:ext cx="2286000" cy="274320"/>
          </a:xfrm>
          <a:prstGeom prst="rect">
            <a:avLst/>
          </a:prstGeom>
          <a:noFill/>
        </p:spPr>
        <p:txBody>
          <a:bodyPr wrap="square">
            <a:spAutoFit/>
          </a:bodyPr>
          <a:lstStyle/>
          <a:p>
            <a:pPr algn="l"/>
            <a:r>
              <a:rPr sz="1000" b="1" i="0">
                <a:solidFill>
                  <a:srgbClr val="94A3B8"/>
                </a:solidFill>
                <a:latin typeface="Calibri"/>
              </a:rPr>
              <a:t>Delta</a:t>
            </a:r>
          </a:p>
        </p:txBody>
      </p:sp>
      <p:sp>
        <p:nvSpPr>
          <p:cNvPr id="36" name="TextBox 35"/>
          <p:cNvSpPr txBox="1"/>
          <p:nvPr/>
        </p:nvSpPr>
        <p:spPr>
          <a:xfrm>
            <a:off x="10058400" y="5138928"/>
            <a:ext cx="2286000" cy="274320"/>
          </a:xfrm>
          <a:prstGeom prst="rect">
            <a:avLst/>
          </a:prstGeom>
          <a:noFill/>
        </p:spPr>
        <p:txBody>
          <a:bodyPr wrap="square">
            <a:spAutoFit/>
          </a:bodyPr>
          <a:lstStyle/>
          <a:p>
            <a:pPr algn="l"/>
            <a:r>
              <a:rPr sz="1000" b="1" i="0">
                <a:solidFill>
                  <a:srgbClr val="94A3B8"/>
                </a:solidFill>
                <a:latin typeface="Calibri"/>
              </a:rPr>
              <a:t>Interpretation</a:t>
            </a:r>
          </a:p>
        </p:txBody>
      </p:sp>
      <p:sp>
        <p:nvSpPr>
          <p:cNvPr id="37" name="Rectangle 36"/>
          <p:cNvSpPr/>
          <p:nvPr/>
        </p:nvSpPr>
        <p:spPr>
          <a:xfrm>
            <a:off x="457200" y="5449824"/>
            <a:ext cx="11430000" cy="384048"/>
          </a:xfrm>
          <a:prstGeom prst="rect">
            <a:avLst/>
          </a:prstGeom>
          <a:solidFill>
            <a:srgbClr val="16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4360" y="5513832"/>
            <a:ext cx="2103120" cy="274320"/>
          </a:xfrm>
          <a:prstGeom prst="rect">
            <a:avLst/>
          </a:prstGeom>
          <a:noFill/>
        </p:spPr>
        <p:txBody>
          <a:bodyPr wrap="square">
            <a:spAutoFit/>
          </a:bodyPr>
          <a:lstStyle/>
          <a:p>
            <a:pPr algn="l"/>
            <a:r>
              <a:rPr sz="1100" b="0" i="0">
                <a:solidFill>
                  <a:srgbClr val="94A3B8"/>
                </a:solidFill>
                <a:latin typeface="Calibri"/>
              </a:rPr>
              <a:t>ROUGE-1</a:t>
            </a:r>
          </a:p>
        </p:txBody>
      </p:sp>
      <p:sp>
        <p:nvSpPr>
          <p:cNvPr id="39" name="TextBox 38"/>
          <p:cNvSpPr txBox="1"/>
          <p:nvPr/>
        </p:nvSpPr>
        <p:spPr>
          <a:xfrm>
            <a:off x="2926080" y="5513832"/>
            <a:ext cx="2103120" cy="274320"/>
          </a:xfrm>
          <a:prstGeom prst="rect">
            <a:avLst/>
          </a:prstGeom>
          <a:noFill/>
        </p:spPr>
        <p:txBody>
          <a:bodyPr wrap="square">
            <a:spAutoFit/>
          </a:bodyPr>
          <a:lstStyle/>
          <a:p>
            <a:pPr algn="l"/>
            <a:r>
              <a:rPr sz="1100" b="1" i="0">
                <a:solidFill>
                  <a:srgbClr val="A78BFA"/>
                </a:solidFill>
                <a:latin typeface="Calibri"/>
              </a:rPr>
              <a:t>85.52%</a:t>
            </a:r>
          </a:p>
        </p:txBody>
      </p:sp>
      <p:sp>
        <p:nvSpPr>
          <p:cNvPr id="40" name="TextBox 39"/>
          <p:cNvSpPr txBox="1"/>
          <p:nvPr/>
        </p:nvSpPr>
        <p:spPr>
          <a:xfrm>
            <a:off x="5303520" y="5513832"/>
            <a:ext cx="2103120" cy="274320"/>
          </a:xfrm>
          <a:prstGeom prst="rect">
            <a:avLst/>
          </a:prstGeom>
          <a:noFill/>
        </p:spPr>
        <p:txBody>
          <a:bodyPr wrap="square">
            <a:spAutoFit/>
          </a:bodyPr>
          <a:lstStyle/>
          <a:p>
            <a:pPr algn="l"/>
            <a:r>
              <a:rPr sz="1100" b="1" i="0">
                <a:solidFill>
                  <a:srgbClr val="06B6D4"/>
                </a:solidFill>
                <a:latin typeface="Calibri"/>
              </a:rPr>
              <a:t>85.88%</a:t>
            </a:r>
          </a:p>
        </p:txBody>
      </p:sp>
      <p:sp>
        <p:nvSpPr>
          <p:cNvPr id="41" name="TextBox 40"/>
          <p:cNvSpPr txBox="1"/>
          <p:nvPr/>
        </p:nvSpPr>
        <p:spPr>
          <a:xfrm>
            <a:off x="7680960" y="5513832"/>
            <a:ext cx="2103120" cy="274320"/>
          </a:xfrm>
          <a:prstGeom prst="rect">
            <a:avLst/>
          </a:prstGeom>
          <a:noFill/>
        </p:spPr>
        <p:txBody>
          <a:bodyPr wrap="square">
            <a:spAutoFit/>
          </a:bodyPr>
          <a:lstStyle/>
          <a:p>
            <a:pPr algn="l"/>
            <a:r>
              <a:rPr sz="1100" b="1" i="0">
                <a:solidFill>
                  <a:srgbClr val="34D399"/>
                </a:solidFill>
                <a:latin typeface="Calibri"/>
              </a:rPr>
              <a:t>+0.36</a:t>
            </a:r>
          </a:p>
        </p:txBody>
      </p:sp>
      <p:sp>
        <p:nvSpPr>
          <p:cNvPr id="42" name="TextBox 41"/>
          <p:cNvSpPr txBox="1"/>
          <p:nvPr/>
        </p:nvSpPr>
        <p:spPr>
          <a:xfrm>
            <a:off x="10058400" y="5513832"/>
            <a:ext cx="2103120" cy="274320"/>
          </a:xfrm>
          <a:prstGeom prst="rect">
            <a:avLst/>
          </a:prstGeom>
          <a:noFill/>
        </p:spPr>
        <p:txBody>
          <a:bodyPr wrap="square">
            <a:spAutoFit/>
          </a:bodyPr>
          <a:lstStyle/>
          <a:p>
            <a:pPr algn="l"/>
            <a:r>
              <a:rPr sz="1000" b="0" i="0">
                <a:solidFill>
                  <a:srgbClr val="94A3B8"/>
                </a:solidFill>
                <a:latin typeface="Calibri"/>
              </a:rPr>
              <a:t>↑ Slight improvement</a:t>
            </a:r>
          </a:p>
        </p:txBody>
      </p:sp>
      <p:sp>
        <p:nvSpPr>
          <p:cNvPr id="43" name="Rectangle 42"/>
          <p:cNvSpPr/>
          <p:nvPr/>
        </p:nvSpPr>
        <p:spPr>
          <a:xfrm>
            <a:off x="457200" y="5879592"/>
            <a:ext cx="11430000" cy="384048"/>
          </a:xfrm>
          <a:prstGeom prst="rect">
            <a:avLst/>
          </a:prstGeom>
          <a:solidFill>
            <a:srgbClr val="11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94360" y="5943600"/>
            <a:ext cx="2103120" cy="274320"/>
          </a:xfrm>
          <a:prstGeom prst="rect">
            <a:avLst/>
          </a:prstGeom>
          <a:noFill/>
        </p:spPr>
        <p:txBody>
          <a:bodyPr wrap="square">
            <a:spAutoFit/>
          </a:bodyPr>
          <a:lstStyle/>
          <a:p>
            <a:pPr algn="l"/>
            <a:r>
              <a:rPr sz="1100" b="0" i="0">
                <a:solidFill>
                  <a:srgbClr val="94A3B8"/>
                </a:solidFill>
                <a:latin typeface="Calibri"/>
              </a:rPr>
              <a:t>ROUGE-2</a:t>
            </a:r>
          </a:p>
        </p:txBody>
      </p:sp>
      <p:sp>
        <p:nvSpPr>
          <p:cNvPr id="45" name="TextBox 44"/>
          <p:cNvSpPr txBox="1"/>
          <p:nvPr/>
        </p:nvSpPr>
        <p:spPr>
          <a:xfrm>
            <a:off x="2926080" y="5943600"/>
            <a:ext cx="2103120" cy="274320"/>
          </a:xfrm>
          <a:prstGeom prst="rect">
            <a:avLst/>
          </a:prstGeom>
          <a:noFill/>
        </p:spPr>
        <p:txBody>
          <a:bodyPr wrap="square">
            <a:spAutoFit/>
          </a:bodyPr>
          <a:lstStyle/>
          <a:p>
            <a:pPr algn="l"/>
            <a:r>
              <a:rPr sz="1100" b="1" i="0">
                <a:solidFill>
                  <a:srgbClr val="A78BFA"/>
                </a:solidFill>
                <a:latin typeface="Calibri"/>
              </a:rPr>
              <a:t>81.95%</a:t>
            </a:r>
          </a:p>
        </p:txBody>
      </p:sp>
      <p:sp>
        <p:nvSpPr>
          <p:cNvPr id="46" name="TextBox 45"/>
          <p:cNvSpPr txBox="1"/>
          <p:nvPr/>
        </p:nvSpPr>
        <p:spPr>
          <a:xfrm>
            <a:off x="5303520" y="5943600"/>
            <a:ext cx="2103120" cy="274320"/>
          </a:xfrm>
          <a:prstGeom prst="rect">
            <a:avLst/>
          </a:prstGeom>
          <a:noFill/>
        </p:spPr>
        <p:txBody>
          <a:bodyPr wrap="square">
            <a:spAutoFit/>
          </a:bodyPr>
          <a:lstStyle/>
          <a:p>
            <a:pPr algn="l"/>
            <a:r>
              <a:rPr sz="1100" b="1" i="0">
                <a:solidFill>
                  <a:srgbClr val="06B6D4"/>
                </a:solidFill>
                <a:latin typeface="Calibri"/>
              </a:rPr>
              <a:t>82.62%</a:t>
            </a:r>
          </a:p>
        </p:txBody>
      </p:sp>
      <p:sp>
        <p:nvSpPr>
          <p:cNvPr id="47" name="TextBox 46"/>
          <p:cNvSpPr txBox="1"/>
          <p:nvPr/>
        </p:nvSpPr>
        <p:spPr>
          <a:xfrm>
            <a:off x="7680960" y="5943600"/>
            <a:ext cx="2103120" cy="274320"/>
          </a:xfrm>
          <a:prstGeom prst="rect">
            <a:avLst/>
          </a:prstGeom>
          <a:noFill/>
        </p:spPr>
        <p:txBody>
          <a:bodyPr wrap="square">
            <a:spAutoFit/>
          </a:bodyPr>
          <a:lstStyle/>
          <a:p>
            <a:pPr algn="l"/>
            <a:r>
              <a:rPr sz="1100" b="1" i="0">
                <a:solidFill>
                  <a:srgbClr val="34D399"/>
                </a:solidFill>
                <a:latin typeface="Calibri"/>
              </a:rPr>
              <a:t>+0.67</a:t>
            </a:r>
          </a:p>
        </p:txBody>
      </p:sp>
      <p:sp>
        <p:nvSpPr>
          <p:cNvPr id="48" name="TextBox 47"/>
          <p:cNvSpPr txBox="1"/>
          <p:nvPr/>
        </p:nvSpPr>
        <p:spPr>
          <a:xfrm>
            <a:off x="10058400" y="5943600"/>
            <a:ext cx="2103120" cy="274320"/>
          </a:xfrm>
          <a:prstGeom prst="rect">
            <a:avLst/>
          </a:prstGeom>
          <a:noFill/>
        </p:spPr>
        <p:txBody>
          <a:bodyPr wrap="square">
            <a:spAutoFit/>
          </a:bodyPr>
          <a:lstStyle/>
          <a:p>
            <a:pPr algn="l"/>
            <a:r>
              <a:rPr sz="1000" b="0" i="0">
                <a:solidFill>
                  <a:srgbClr val="94A3B8"/>
                </a:solidFill>
                <a:latin typeface="Calibri"/>
              </a:rPr>
              <a:t>↑ Consistent</a:t>
            </a:r>
          </a:p>
        </p:txBody>
      </p:sp>
      <p:sp>
        <p:nvSpPr>
          <p:cNvPr id="49" name="Rectangle 48"/>
          <p:cNvSpPr/>
          <p:nvPr/>
        </p:nvSpPr>
        <p:spPr>
          <a:xfrm>
            <a:off x="457200" y="6309360"/>
            <a:ext cx="11430000" cy="384048"/>
          </a:xfrm>
          <a:prstGeom prst="rect">
            <a:avLst/>
          </a:prstGeom>
          <a:solidFill>
            <a:srgbClr val="16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94360" y="6373368"/>
            <a:ext cx="2103120" cy="274320"/>
          </a:xfrm>
          <a:prstGeom prst="rect">
            <a:avLst/>
          </a:prstGeom>
          <a:noFill/>
        </p:spPr>
        <p:txBody>
          <a:bodyPr wrap="square">
            <a:spAutoFit/>
          </a:bodyPr>
          <a:lstStyle/>
          <a:p>
            <a:pPr algn="l"/>
            <a:r>
              <a:rPr sz="1100" b="0" i="0">
                <a:solidFill>
                  <a:srgbClr val="94A3B8"/>
                </a:solidFill>
                <a:latin typeface="Calibri"/>
              </a:rPr>
              <a:t>BERTScore F1</a:t>
            </a:r>
          </a:p>
        </p:txBody>
      </p:sp>
      <p:sp>
        <p:nvSpPr>
          <p:cNvPr id="51" name="TextBox 50"/>
          <p:cNvSpPr txBox="1"/>
          <p:nvPr/>
        </p:nvSpPr>
        <p:spPr>
          <a:xfrm>
            <a:off x="2926080" y="6373368"/>
            <a:ext cx="2103120" cy="274320"/>
          </a:xfrm>
          <a:prstGeom prst="rect">
            <a:avLst/>
          </a:prstGeom>
          <a:noFill/>
        </p:spPr>
        <p:txBody>
          <a:bodyPr wrap="square">
            <a:spAutoFit/>
          </a:bodyPr>
          <a:lstStyle/>
          <a:p>
            <a:pPr algn="l"/>
            <a:r>
              <a:rPr sz="1100" b="1" i="0">
                <a:solidFill>
                  <a:srgbClr val="A78BFA"/>
                </a:solidFill>
                <a:latin typeface="Calibri"/>
              </a:rPr>
              <a:t>86.30%</a:t>
            </a:r>
          </a:p>
        </p:txBody>
      </p:sp>
      <p:sp>
        <p:nvSpPr>
          <p:cNvPr id="52" name="TextBox 51"/>
          <p:cNvSpPr txBox="1"/>
          <p:nvPr/>
        </p:nvSpPr>
        <p:spPr>
          <a:xfrm>
            <a:off x="5303520" y="6373368"/>
            <a:ext cx="2103120" cy="274320"/>
          </a:xfrm>
          <a:prstGeom prst="rect">
            <a:avLst/>
          </a:prstGeom>
          <a:noFill/>
        </p:spPr>
        <p:txBody>
          <a:bodyPr wrap="square">
            <a:spAutoFit/>
          </a:bodyPr>
          <a:lstStyle/>
          <a:p>
            <a:pPr algn="l"/>
            <a:r>
              <a:rPr sz="1100" b="1" i="0">
                <a:solidFill>
                  <a:srgbClr val="06B6D4"/>
                </a:solidFill>
                <a:latin typeface="Calibri"/>
              </a:rPr>
              <a:t>86.60%</a:t>
            </a:r>
          </a:p>
        </p:txBody>
      </p:sp>
      <p:sp>
        <p:nvSpPr>
          <p:cNvPr id="53" name="TextBox 52"/>
          <p:cNvSpPr txBox="1"/>
          <p:nvPr/>
        </p:nvSpPr>
        <p:spPr>
          <a:xfrm>
            <a:off x="7680960" y="6373368"/>
            <a:ext cx="2103120" cy="274320"/>
          </a:xfrm>
          <a:prstGeom prst="rect">
            <a:avLst/>
          </a:prstGeom>
          <a:noFill/>
        </p:spPr>
        <p:txBody>
          <a:bodyPr wrap="square">
            <a:spAutoFit/>
          </a:bodyPr>
          <a:lstStyle/>
          <a:p>
            <a:pPr algn="l"/>
            <a:r>
              <a:rPr sz="1100" b="1" i="0">
                <a:solidFill>
                  <a:srgbClr val="34D399"/>
                </a:solidFill>
                <a:latin typeface="Calibri"/>
              </a:rPr>
              <a:t>+0.30</a:t>
            </a:r>
          </a:p>
        </p:txBody>
      </p:sp>
      <p:sp>
        <p:nvSpPr>
          <p:cNvPr id="54" name="TextBox 53"/>
          <p:cNvSpPr txBox="1"/>
          <p:nvPr/>
        </p:nvSpPr>
        <p:spPr>
          <a:xfrm>
            <a:off x="10058400" y="6373368"/>
            <a:ext cx="2103120" cy="274320"/>
          </a:xfrm>
          <a:prstGeom prst="rect">
            <a:avLst/>
          </a:prstGeom>
          <a:noFill/>
        </p:spPr>
        <p:txBody>
          <a:bodyPr wrap="square">
            <a:spAutoFit/>
          </a:bodyPr>
          <a:lstStyle/>
          <a:p>
            <a:pPr algn="l"/>
            <a:r>
              <a:rPr sz="1000" b="0" i="0">
                <a:solidFill>
                  <a:srgbClr val="94A3B8"/>
                </a:solidFill>
                <a:latin typeface="Calibri"/>
              </a:rPr>
              <a:t>↑ Stable generalisation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A78BFA"/>
                </a:solidFill>
                <a:latin typeface="Calibri"/>
              </a:rPr>
              <a:t>TASK 3  ·  RECONSTRUCTION  ·  SAMPLE PREDICTION</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Sample Prediction — BGSU1005</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ADU Type: Claim   ·   Topic: Science, Technology &amp; Imagination</a:t>
            </a:r>
          </a:p>
        </p:txBody>
      </p:sp>
      <p:sp>
        <p:nvSpPr>
          <p:cNvPr id="6" name="Rectangle 5"/>
          <p:cNvSpPr/>
          <p:nvPr/>
        </p:nvSpPr>
        <p:spPr>
          <a:xfrm>
            <a:off x="457200" y="1810512"/>
            <a:ext cx="11247120" cy="347472"/>
          </a:xfrm>
          <a:prstGeom prst="rect">
            <a:avLst/>
          </a:prstGeom>
          <a:solidFill>
            <a:srgbClr val="162235"/>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856231"/>
            <a:ext cx="10789920" cy="274320"/>
          </a:xfrm>
          <a:prstGeom prst="rect">
            <a:avLst/>
          </a:prstGeom>
          <a:noFill/>
        </p:spPr>
        <p:txBody>
          <a:bodyPr wrap="square">
            <a:spAutoFit/>
          </a:bodyPr>
          <a:lstStyle/>
          <a:p>
            <a:pPr algn="l"/>
            <a:r>
              <a:rPr sz="1100" b="1" i="0">
                <a:solidFill>
                  <a:srgbClr val="06B6D4"/>
                </a:solidFill>
                <a:latin typeface="Calibri"/>
              </a:rPr>
              <a:t>🔤  AUGMENTED INPUT  (fed to BART)</a:t>
            </a:r>
          </a:p>
        </p:txBody>
      </p:sp>
      <p:sp>
        <p:nvSpPr>
          <p:cNvPr id="8" name="Rectangle 7"/>
          <p:cNvSpPr/>
          <p:nvPr/>
        </p:nvSpPr>
        <p:spPr>
          <a:xfrm>
            <a:off x="457200" y="2167128"/>
            <a:ext cx="11247120" cy="1042415"/>
          </a:xfrm>
          <a:prstGeom prst="rect">
            <a:avLst/>
          </a:prstGeom>
          <a:solidFill>
            <a:srgbClr val="0C1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2231136"/>
            <a:ext cx="10972800" cy="914400"/>
          </a:xfrm>
          <a:prstGeom prst="rect">
            <a:avLst/>
          </a:prstGeom>
          <a:noFill/>
        </p:spPr>
        <p:txBody>
          <a:bodyPr wrap="square">
            <a:spAutoFit/>
          </a:bodyPr>
          <a:lstStyle/>
          <a:p>
            <a:pPr algn="l"/>
            <a:r>
              <a:rPr sz="1100" b="0" i="1">
                <a:solidFill>
                  <a:srgbClr val="67E8F9"/>
                </a:solidFill>
                <a:latin typeface="Calibri"/>
              </a:rPr>
              <a:t>Topic: …science, technology and industrialisation, no longer a place for dreaming…  | Missing ADU: Claim  |  Argument: 'The whole concept of man is now changed… [MISSING]  It is of what the industrialization has deprived us…'</a:t>
            </a:r>
          </a:p>
        </p:txBody>
      </p:sp>
      <p:sp>
        <p:nvSpPr>
          <p:cNvPr id="10" name="Rectangle 9"/>
          <p:cNvSpPr/>
          <p:nvPr/>
        </p:nvSpPr>
        <p:spPr>
          <a:xfrm>
            <a:off x="457200" y="3273552"/>
            <a:ext cx="11247120" cy="347472"/>
          </a:xfrm>
          <a:prstGeom prst="rect">
            <a:avLst/>
          </a:prstGeom>
          <a:solidFill>
            <a:srgbClr val="162235"/>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3319272"/>
            <a:ext cx="10789920" cy="274320"/>
          </a:xfrm>
          <a:prstGeom prst="rect">
            <a:avLst/>
          </a:prstGeom>
          <a:noFill/>
        </p:spPr>
        <p:txBody>
          <a:bodyPr wrap="square">
            <a:spAutoFit/>
          </a:bodyPr>
          <a:lstStyle/>
          <a:p>
            <a:pPr algn="l"/>
            <a:r>
              <a:rPr sz="1100" b="1" i="0">
                <a:solidFill>
                  <a:srgbClr val="FBBF24"/>
                </a:solidFill>
                <a:latin typeface="Calibri"/>
              </a:rPr>
              <a:t>📏  GOLD REFERENCE  (removed_sentence — used for ROUGE scoring)</a:t>
            </a:r>
          </a:p>
        </p:txBody>
      </p:sp>
      <p:sp>
        <p:nvSpPr>
          <p:cNvPr id="12" name="Rectangle 11"/>
          <p:cNvSpPr/>
          <p:nvPr/>
        </p:nvSpPr>
        <p:spPr>
          <a:xfrm>
            <a:off x="457200" y="3630168"/>
            <a:ext cx="11247120" cy="1042415"/>
          </a:xfrm>
          <a:prstGeom prst="rect">
            <a:avLst/>
          </a:prstGeom>
          <a:solidFill>
            <a:srgbClr val="0C1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694176"/>
            <a:ext cx="10972800" cy="914400"/>
          </a:xfrm>
          <a:prstGeom prst="rect">
            <a:avLst/>
          </a:prstGeom>
          <a:noFill/>
        </p:spPr>
        <p:txBody>
          <a:bodyPr wrap="square">
            <a:spAutoFit/>
          </a:bodyPr>
          <a:lstStyle/>
          <a:p>
            <a:pPr algn="l"/>
            <a:r>
              <a:rPr sz="1100" b="0" i="1">
                <a:solidFill>
                  <a:srgbClr val="FDE68A"/>
                </a:solidFill>
                <a:latin typeface="Calibri"/>
              </a:rPr>
              <a:t>"Although the technical revolution has provided us with means of facilitating our work and, as a whole, making our lives much easier, it has failed at one aspect which, according to me, is the most significant one — the human soul."</a:t>
            </a:r>
          </a:p>
        </p:txBody>
      </p:sp>
      <p:sp>
        <p:nvSpPr>
          <p:cNvPr id="14" name="Rectangle 13"/>
          <p:cNvSpPr/>
          <p:nvPr/>
        </p:nvSpPr>
        <p:spPr>
          <a:xfrm>
            <a:off x="457200" y="4736592"/>
            <a:ext cx="11247120" cy="347472"/>
          </a:xfrm>
          <a:prstGeom prst="rect">
            <a:avLst/>
          </a:prstGeom>
          <a:solidFill>
            <a:srgbClr val="162235"/>
          </a:solidFill>
          <a:ln w="127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4782312"/>
            <a:ext cx="10789920" cy="274320"/>
          </a:xfrm>
          <a:prstGeom prst="rect">
            <a:avLst/>
          </a:prstGeom>
          <a:noFill/>
        </p:spPr>
        <p:txBody>
          <a:bodyPr wrap="square">
            <a:spAutoFit/>
          </a:bodyPr>
          <a:lstStyle/>
          <a:p>
            <a:pPr algn="l"/>
            <a:r>
              <a:rPr sz="1100" b="1" i="0">
                <a:solidFill>
                  <a:srgbClr val="F97316"/>
                </a:solidFill>
                <a:latin typeface="Calibri"/>
              </a:rPr>
              <a:t>🤖  BART PREDICTION  (generated output — extracted gap sentence)</a:t>
            </a:r>
          </a:p>
        </p:txBody>
      </p:sp>
      <p:sp>
        <p:nvSpPr>
          <p:cNvPr id="16" name="Rectangle 15"/>
          <p:cNvSpPr/>
          <p:nvPr/>
        </p:nvSpPr>
        <p:spPr>
          <a:xfrm>
            <a:off x="457200" y="5093207"/>
            <a:ext cx="11247120" cy="1042415"/>
          </a:xfrm>
          <a:prstGeom prst="rect">
            <a:avLst/>
          </a:prstGeom>
          <a:solidFill>
            <a:srgbClr val="0C1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5157216"/>
            <a:ext cx="10972800" cy="914400"/>
          </a:xfrm>
          <a:prstGeom prst="rect">
            <a:avLst/>
          </a:prstGeom>
          <a:noFill/>
        </p:spPr>
        <p:txBody>
          <a:bodyPr wrap="square">
            <a:spAutoFit/>
          </a:bodyPr>
          <a:lstStyle/>
          <a:p>
            <a:pPr algn="l"/>
            <a:r>
              <a:rPr sz="1100" b="0" i="1">
                <a:solidFill>
                  <a:srgbClr val="FDBA74"/>
                </a:solidFill>
                <a:latin typeface="Calibri"/>
              </a:rPr>
              <a:t>"It is no longer a man who can think for himself but a machine that can do everything for him, who can be programmed to do anything and everything for the benefit of the society."</a:t>
            </a:r>
          </a:p>
        </p:txBody>
      </p:sp>
      <p:sp>
        <p:nvSpPr>
          <p:cNvPr id="18" name="Rectangle 17"/>
          <p:cNvSpPr/>
          <p:nvPr/>
        </p:nvSpPr>
        <p:spPr>
          <a:xfrm>
            <a:off x="457200" y="6236208"/>
            <a:ext cx="11247120" cy="512064"/>
          </a:xfrm>
          <a:prstGeom prst="rect">
            <a:avLst/>
          </a:prstGeom>
          <a:solidFill>
            <a:srgbClr val="0C1810"/>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6281928"/>
            <a:ext cx="1371600" cy="347472"/>
          </a:xfrm>
          <a:prstGeom prst="rect">
            <a:avLst/>
          </a:prstGeom>
          <a:noFill/>
        </p:spPr>
        <p:txBody>
          <a:bodyPr wrap="square">
            <a:spAutoFit/>
          </a:bodyPr>
          <a:lstStyle/>
          <a:p>
            <a:pPr algn="l"/>
            <a:r>
              <a:rPr sz="1100" b="1" i="0">
                <a:solidFill>
                  <a:srgbClr val="34D399"/>
                </a:solidFill>
                <a:latin typeface="Calibri"/>
              </a:rPr>
              <a:t>🔍  Analysis:</a:t>
            </a:r>
          </a:p>
        </p:txBody>
      </p:sp>
      <p:sp>
        <p:nvSpPr>
          <p:cNvPr id="20" name="TextBox 19"/>
          <p:cNvSpPr txBox="1"/>
          <p:nvPr/>
        </p:nvSpPr>
        <p:spPr>
          <a:xfrm>
            <a:off x="2011680" y="6281928"/>
            <a:ext cx="9601200" cy="384048"/>
          </a:xfrm>
          <a:prstGeom prst="rect">
            <a:avLst/>
          </a:prstGeom>
          <a:noFill/>
        </p:spPr>
        <p:txBody>
          <a:bodyPr wrap="square">
            <a:spAutoFit/>
          </a:bodyPr>
          <a:lstStyle/>
          <a:p>
            <a:pPr algn="l"/>
            <a:r>
              <a:rPr sz="1050" b="0" i="0">
                <a:solidFill>
                  <a:srgbClr val="E2E8F0"/>
                </a:solidFill>
                <a:latin typeface="Calibri"/>
              </a:rPr>
              <a:t>The model generates a contextually plausible claim about industrialisation's effect on humanity — different wording from the gold but semantically related. High ROUGE-1 (85.9%) &amp; BERTScore F1 (86.6%) confirm strong semantic overlap despite surface variation.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35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320040"/>
          </a:xfrm>
          <a:prstGeom prst="rect">
            <a:avLst/>
          </a:prstGeom>
          <a:noFill/>
        </p:spPr>
        <p:txBody>
          <a:bodyPr wrap="square">
            <a:spAutoFit/>
          </a:bodyPr>
          <a:lstStyle/>
          <a:p>
            <a:pPr algn="l"/>
            <a:r>
              <a:rPr sz="900" b="1" i="0">
                <a:solidFill>
                  <a:srgbClr val="06B6D4"/>
                </a:solidFill>
                <a:latin typeface="Calibri"/>
              </a:rPr>
              <a:t>CONCLUSION  ·  FULL PIPELINE SUMMARY</a:t>
            </a:r>
          </a:p>
        </p:txBody>
      </p:sp>
      <p:sp>
        <p:nvSpPr>
          <p:cNvPr id="4" name="TextBox 3"/>
          <p:cNvSpPr txBox="1"/>
          <p:nvPr/>
        </p:nvSpPr>
        <p:spPr>
          <a:xfrm>
            <a:off x="548640" y="438912"/>
            <a:ext cx="10972800" cy="914400"/>
          </a:xfrm>
          <a:prstGeom prst="rect">
            <a:avLst/>
          </a:prstGeom>
          <a:noFill/>
        </p:spPr>
        <p:txBody>
          <a:bodyPr wrap="square">
            <a:spAutoFit/>
          </a:bodyPr>
          <a:lstStyle/>
          <a:p>
            <a:pPr algn="l"/>
            <a:r>
              <a:rPr sz="3400" b="1" i="0">
                <a:solidFill>
                  <a:srgbClr val="FFFFFF"/>
                </a:solidFill>
                <a:latin typeface="Calibri"/>
              </a:rPr>
              <a:t>Project Summary &amp; Conclusions</a:t>
            </a:r>
          </a:p>
        </p:txBody>
      </p:sp>
      <p:sp>
        <p:nvSpPr>
          <p:cNvPr id="5" name="TextBox 4"/>
          <p:cNvSpPr txBox="1"/>
          <p:nvPr/>
        </p:nvSpPr>
        <p:spPr>
          <a:xfrm>
            <a:off x="548640" y="1298448"/>
            <a:ext cx="10972800" cy="411480"/>
          </a:xfrm>
          <a:prstGeom prst="rect">
            <a:avLst/>
          </a:prstGeom>
          <a:noFill/>
        </p:spPr>
        <p:txBody>
          <a:bodyPr wrap="square">
            <a:spAutoFit/>
          </a:bodyPr>
          <a:lstStyle/>
          <a:p>
            <a:pPr algn="l"/>
            <a:r>
              <a:rPr sz="1300" b="0" i="0">
                <a:solidFill>
                  <a:srgbClr val="94A3B8"/>
                </a:solidFill>
                <a:latin typeface="Calibri"/>
              </a:rPr>
              <a:t>End-to-end enthymeme detection &amp; reconstruction — all three tasks complete</a:t>
            </a:r>
          </a:p>
        </p:txBody>
      </p:sp>
      <p:sp>
        <p:nvSpPr>
          <p:cNvPr id="6" name="Rectangle 5"/>
          <p:cNvSpPr/>
          <p:nvPr/>
        </p:nvSpPr>
        <p:spPr>
          <a:xfrm>
            <a:off x="457200" y="1874519"/>
            <a:ext cx="3657600" cy="4389120"/>
          </a:xfrm>
          <a:prstGeom prst="rect">
            <a:avLst/>
          </a:prstGeom>
          <a:solidFill>
            <a:srgbClr val="142032"/>
          </a:solid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874519"/>
            <a:ext cx="3657600"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956816"/>
            <a:ext cx="640080" cy="548640"/>
          </a:xfrm>
          <a:prstGeom prst="rect">
            <a:avLst/>
          </a:prstGeom>
          <a:noFill/>
        </p:spPr>
        <p:txBody>
          <a:bodyPr wrap="square">
            <a:spAutoFit/>
          </a:bodyPr>
          <a:lstStyle/>
          <a:p>
            <a:pPr algn="l"/>
            <a:r>
              <a:rPr sz="2200" b="0" i="0">
                <a:solidFill>
                  <a:srgbClr val="FFFFFF"/>
                </a:solidFill>
                <a:latin typeface="Calibri"/>
              </a:rPr>
              <a:t>📦</a:t>
            </a:r>
          </a:p>
        </p:txBody>
      </p:sp>
      <p:sp>
        <p:nvSpPr>
          <p:cNvPr id="9" name="TextBox 8"/>
          <p:cNvSpPr txBox="1"/>
          <p:nvPr/>
        </p:nvSpPr>
        <p:spPr>
          <a:xfrm>
            <a:off x="1234440" y="1993392"/>
            <a:ext cx="2743200" cy="274320"/>
          </a:xfrm>
          <a:prstGeom prst="rect">
            <a:avLst/>
          </a:prstGeom>
          <a:noFill/>
        </p:spPr>
        <p:txBody>
          <a:bodyPr wrap="square">
            <a:spAutoFit/>
          </a:bodyPr>
          <a:lstStyle/>
          <a:p>
            <a:pPr algn="l"/>
            <a:r>
              <a:rPr sz="1000" b="1" i="0">
                <a:solidFill>
                  <a:srgbClr val="7C3AED"/>
                </a:solidFill>
                <a:latin typeface="Calibri"/>
              </a:rPr>
              <a:t>Task 1</a:t>
            </a:r>
          </a:p>
        </p:txBody>
      </p:sp>
      <p:sp>
        <p:nvSpPr>
          <p:cNvPr id="10" name="TextBox 9"/>
          <p:cNvSpPr txBox="1"/>
          <p:nvPr/>
        </p:nvSpPr>
        <p:spPr>
          <a:xfrm>
            <a:off x="594360" y="2340864"/>
            <a:ext cx="3383280" cy="457200"/>
          </a:xfrm>
          <a:prstGeom prst="rect">
            <a:avLst/>
          </a:prstGeom>
          <a:noFill/>
        </p:spPr>
        <p:txBody>
          <a:bodyPr wrap="square">
            <a:spAutoFit/>
          </a:bodyPr>
          <a:lstStyle/>
          <a:p>
            <a:pPr algn="l"/>
            <a:r>
              <a:rPr sz="1500" b="1" i="0">
                <a:solidFill>
                  <a:srgbClr val="FFFFFF"/>
                </a:solidFill>
                <a:latin typeface="Calibri"/>
              </a:rPr>
              <a:t>Corpus Creation</a:t>
            </a:r>
          </a:p>
        </p:txBody>
      </p:sp>
      <p:sp>
        <p:nvSpPr>
          <p:cNvPr id="11" name="TextBox 10"/>
          <p:cNvSpPr txBox="1"/>
          <p:nvPr/>
        </p:nvSpPr>
        <p:spPr>
          <a:xfrm>
            <a:off x="594360" y="2852928"/>
            <a:ext cx="3383280" cy="3246120"/>
          </a:xfrm>
          <a:prstGeom prst="rect">
            <a:avLst/>
          </a:prstGeom>
          <a:noFill/>
        </p:spPr>
        <p:txBody>
          <a:bodyPr wrap="square">
            <a:spAutoFit/>
          </a:bodyPr>
          <a:lstStyle/>
          <a:p>
            <a:pPr>
              <a:spcBef>
                <a:spcPts val="300"/>
              </a:spcBef>
            </a:pPr>
            <a:r>
              <a:rPr sz="1200" b="1">
                <a:solidFill>
                  <a:srgbClr val="7C3AED"/>
                </a:solidFill>
                <a:latin typeface="Calibri"/>
              </a:rPr>
              <a:t>5-step pipeline</a:t>
            </a:r>
          </a:p>
          <a:p>
            <a:pPr>
              <a:spcBef>
                <a:spcPts val="300"/>
              </a:spcBef>
            </a:pPr>
            <a:r>
              <a:rPr sz="1200" b="1">
                <a:solidFill>
                  <a:srgbClr val="7C3AED"/>
                </a:solidFill>
                <a:latin typeface="Calibri"/>
              </a:rPr>
              <a:t>12,903 detection instances</a:t>
            </a:r>
          </a:p>
          <a:p>
            <a:pPr>
              <a:spcBef>
                <a:spcPts val="300"/>
              </a:spcBef>
            </a:pPr>
            <a:r>
              <a:rPr sz="1200" b="1">
                <a:solidFill>
                  <a:srgbClr val="7C3AED"/>
                </a:solidFill>
                <a:latin typeface="Calibri"/>
              </a:rPr>
              <a:t>3,110 reconstruction instances</a:t>
            </a:r>
          </a:p>
          <a:p>
            <a:pPr>
              <a:spcBef>
                <a:spcPts val="300"/>
              </a:spcBef>
            </a:pPr>
            <a:r>
              <a:rPr sz="1200" b="1">
                <a:solidFill>
                  <a:srgbClr val="7C3AED"/>
                </a:solidFill>
                <a:latin typeface="Calibri"/>
              </a:rPr>
              <a:t>3,078 unique essays</a:t>
            </a:r>
          </a:p>
          <a:p>
            <a:pPr>
              <a:spcBef>
                <a:spcPts val="300"/>
              </a:spcBef>
            </a:pPr>
            <a:r>
              <a:rPr sz="1200" b="0">
                <a:solidFill>
                  <a:srgbClr val="94A3B8"/>
                </a:solidFill>
                <a:latin typeface="Calibri"/>
              </a:rPr>
              <a:t>Quality guards: Antecedent Lock</a:t>
            </a:r>
          </a:p>
          <a:p>
            <a:pPr>
              <a:spcBef>
                <a:spcPts val="300"/>
              </a:spcBef>
            </a:pPr>
            <a:r>
              <a:rPr sz="1200" b="0">
                <a:solidFill>
                  <a:srgbClr val="94A3B8"/>
                </a:solidFill>
                <a:latin typeface="Calibri"/>
              </a:rPr>
              <a:t>+ Context Minimum Guard</a:t>
            </a:r>
          </a:p>
        </p:txBody>
      </p:sp>
      <p:sp>
        <p:nvSpPr>
          <p:cNvPr id="12" name="TextBox 11"/>
          <p:cNvSpPr txBox="1"/>
          <p:nvPr/>
        </p:nvSpPr>
        <p:spPr>
          <a:xfrm>
            <a:off x="594360" y="6080760"/>
            <a:ext cx="3383280" cy="274320"/>
          </a:xfrm>
          <a:prstGeom prst="rect">
            <a:avLst/>
          </a:prstGeom>
          <a:noFill/>
        </p:spPr>
        <p:txBody>
          <a:bodyPr wrap="square">
            <a:spAutoFit/>
          </a:bodyPr>
          <a:lstStyle/>
          <a:p>
            <a:pPr algn="ctr"/>
            <a:r>
              <a:rPr sz="1100" b="1" i="0">
                <a:solidFill>
                  <a:srgbClr val="34D399"/>
                </a:solidFill>
                <a:latin typeface="Calibri"/>
              </a:rPr>
              <a:t>✅ Complete</a:t>
            </a:r>
          </a:p>
        </p:txBody>
      </p:sp>
      <p:sp>
        <p:nvSpPr>
          <p:cNvPr id="13" name="Rectangle 12"/>
          <p:cNvSpPr/>
          <p:nvPr/>
        </p:nvSpPr>
        <p:spPr>
          <a:xfrm>
            <a:off x="4361688" y="1874519"/>
            <a:ext cx="3657600" cy="4389120"/>
          </a:xfrm>
          <a:prstGeom prst="rect">
            <a:avLst/>
          </a:prstGeom>
          <a:solidFill>
            <a:srgbClr val="142032"/>
          </a:solidFill>
          <a:ln w="228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61688" y="1874519"/>
            <a:ext cx="3657600"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98848" y="1956816"/>
            <a:ext cx="640080" cy="548640"/>
          </a:xfrm>
          <a:prstGeom prst="rect">
            <a:avLst/>
          </a:prstGeom>
          <a:noFill/>
        </p:spPr>
        <p:txBody>
          <a:bodyPr wrap="square">
            <a:spAutoFit/>
          </a:bodyPr>
          <a:lstStyle/>
          <a:p>
            <a:pPr algn="l"/>
            <a:r>
              <a:rPr sz="2200" b="0" i="0">
                <a:solidFill>
                  <a:srgbClr val="FFFFFF"/>
                </a:solidFill>
                <a:latin typeface="Calibri"/>
              </a:rPr>
              <a:t>🔍</a:t>
            </a:r>
          </a:p>
        </p:txBody>
      </p:sp>
      <p:sp>
        <p:nvSpPr>
          <p:cNvPr id="16" name="TextBox 15"/>
          <p:cNvSpPr txBox="1"/>
          <p:nvPr/>
        </p:nvSpPr>
        <p:spPr>
          <a:xfrm>
            <a:off x="5138927" y="1993392"/>
            <a:ext cx="2743200" cy="274320"/>
          </a:xfrm>
          <a:prstGeom prst="rect">
            <a:avLst/>
          </a:prstGeom>
          <a:noFill/>
        </p:spPr>
        <p:txBody>
          <a:bodyPr wrap="square">
            <a:spAutoFit/>
          </a:bodyPr>
          <a:lstStyle/>
          <a:p>
            <a:pPr algn="l"/>
            <a:r>
              <a:rPr sz="1000" b="1" i="0">
                <a:solidFill>
                  <a:srgbClr val="06B6D4"/>
                </a:solidFill>
                <a:latin typeface="Calibri"/>
              </a:rPr>
              <a:t>Task 2</a:t>
            </a:r>
          </a:p>
        </p:txBody>
      </p:sp>
      <p:sp>
        <p:nvSpPr>
          <p:cNvPr id="17" name="TextBox 16"/>
          <p:cNvSpPr txBox="1"/>
          <p:nvPr/>
        </p:nvSpPr>
        <p:spPr>
          <a:xfrm>
            <a:off x="4498848" y="2340864"/>
            <a:ext cx="3383280" cy="457200"/>
          </a:xfrm>
          <a:prstGeom prst="rect">
            <a:avLst/>
          </a:prstGeom>
          <a:noFill/>
        </p:spPr>
        <p:txBody>
          <a:bodyPr wrap="square">
            <a:spAutoFit/>
          </a:bodyPr>
          <a:lstStyle/>
          <a:p>
            <a:pPr algn="l"/>
            <a:r>
              <a:rPr sz="1500" b="1" i="0">
                <a:solidFill>
                  <a:srgbClr val="FFFFFF"/>
                </a:solidFill>
                <a:latin typeface="Calibri"/>
              </a:rPr>
              <a:t>Enthymeme Detection</a:t>
            </a:r>
          </a:p>
        </p:txBody>
      </p:sp>
      <p:sp>
        <p:nvSpPr>
          <p:cNvPr id="18" name="TextBox 17"/>
          <p:cNvSpPr txBox="1"/>
          <p:nvPr/>
        </p:nvSpPr>
        <p:spPr>
          <a:xfrm>
            <a:off x="4498848" y="2852928"/>
            <a:ext cx="3383280" cy="3246120"/>
          </a:xfrm>
          <a:prstGeom prst="rect">
            <a:avLst/>
          </a:prstGeom>
          <a:noFill/>
        </p:spPr>
        <p:txBody>
          <a:bodyPr wrap="square">
            <a:spAutoFit/>
          </a:bodyPr>
          <a:lstStyle/>
          <a:p>
            <a:pPr>
              <a:spcBef>
                <a:spcPts val="300"/>
              </a:spcBef>
            </a:pPr>
            <a:r>
              <a:rPr sz="1200" b="0">
                <a:solidFill>
                  <a:srgbClr val="94A3B8"/>
                </a:solidFill>
                <a:latin typeface="Calibri"/>
              </a:rPr>
              <a:t>Model: DeBERTa-base</a:t>
            </a:r>
          </a:p>
          <a:p>
            <a:pPr>
              <a:spcBef>
                <a:spcPts val="300"/>
              </a:spcBef>
            </a:pPr>
            <a:r>
              <a:rPr sz="1200" b="1">
                <a:solidFill>
                  <a:srgbClr val="06B6D4"/>
                </a:solidFill>
                <a:latin typeface="Calibri"/>
              </a:rPr>
              <a:t>Test Accuracy:    70.43%</a:t>
            </a:r>
          </a:p>
          <a:p>
            <a:pPr>
              <a:spcBef>
                <a:spcPts val="300"/>
              </a:spcBef>
            </a:pPr>
            <a:r>
              <a:rPr sz="1200" b="1">
                <a:solidFill>
                  <a:srgbClr val="06B6D4"/>
                </a:solidFill>
                <a:latin typeface="Calibri"/>
              </a:rPr>
              <a:t>Test Macro-F1:    67.98%</a:t>
            </a:r>
          </a:p>
          <a:p>
            <a:pPr>
              <a:spcBef>
                <a:spcPts val="300"/>
              </a:spcBef>
            </a:pPr>
            <a:r>
              <a:rPr sz="1200" b="1">
                <a:solidFill>
                  <a:srgbClr val="06B6D4"/>
                </a:solidFill>
                <a:latin typeface="Calibri"/>
              </a:rPr>
              <a:t>Test Binary F1:   59.13%</a:t>
            </a:r>
          </a:p>
          <a:p>
            <a:pPr>
              <a:spcBef>
                <a:spcPts val="300"/>
              </a:spcBef>
            </a:pPr>
            <a:r>
              <a:rPr sz="1200" b="1">
                <a:solidFill>
                  <a:srgbClr val="06B6D4"/>
                </a:solidFill>
                <a:latin typeface="Calibri"/>
              </a:rPr>
              <a:t>Best checkpoint: Epoch 8</a:t>
            </a:r>
          </a:p>
          <a:p>
            <a:pPr>
              <a:spcBef>
                <a:spcPts val="300"/>
              </a:spcBef>
            </a:pPr>
            <a:r>
              <a:rPr sz="1200" b="1">
                <a:solidFill>
                  <a:srgbClr val="06B6D4"/>
                </a:solidFill>
                <a:latin typeface="Calibri"/>
              </a:rPr>
              <a:t>Runtime: ~18.5 min</a:t>
            </a:r>
          </a:p>
        </p:txBody>
      </p:sp>
      <p:sp>
        <p:nvSpPr>
          <p:cNvPr id="19" name="TextBox 18"/>
          <p:cNvSpPr txBox="1"/>
          <p:nvPr/>
        </p:nvSpPr>
        <p:spPr>
          <a:xfrm>
            <a:off x="4498848" y="6080760"/>
            <a:ext cx="3383280" cy="274320"/>
          </a:xfrm>
          <a:prstGeom prst="rect">
            <a:avLst/>
          </a:prstGeom>
          <a:noFill/>
        </p:spPr>
        <p:txBody>
          <a:bodyPr wrap="square">
            <a:spAutoFit/>
          </a:bodyPr>
          <a:lstStyle/>
          <a:p>
            <a:pPr algn="ctr"/>
            <a:r>
              <a:rPr sz="1100" b="1" i="0">
                <a:solidFill>
                  <a:srgbClr val="34D399"/>
                </a:solidFill>
                <a:latin typeface="Calibri"/>
              </a:rPr>
              <a:t>✅ Complete</a:t>
            </a:r>
          </a:p>
        </p:txBody>
      </p:sp>
      <p:sp>
        <p:nvSpPr>
          <p:cNvPr id="20" name="Rectangle 19"/>
          <p:cNvSpPr/>
          <p:nvPr/>
        </p:nvSpPr>
        <p:spPr>
          <a:xfrm>
            <a:off x="8266175" y="1874519"/>
            <a:ext cx="3657600" cy="4389120"/>
          </a:xfrm>
          <a:prstGeom prst="rect">
            <a:avLst/>
          </a:prstGeom>
          <a:solidFill>
            <a:srgbClr val="142032"/>
          </a:solidFill>
          <a:ln w="2286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66175" y="1874519"/>
            <a:ext cx="3657600" cy="6400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03336" y="1956816"/>
            <a:ext cx="640080" cy="548640"/>
          </a:xfrm>
          <a:prstGeom prst="rect">
            <a:avLst/>
          </a:prstGeom>
          <a:noFill/>
        </p:spPr>
        <p:txBody>
          <a:bodyPr wrap="square">
            <a:spAutoFit/>
          </a:bodyPr>
          <a:lstStyle/>
          <a:p>
            <a:pPr algn="l"/>
            <a:r>
              <a:rPr sz="2200" b="0" i="0">
                <a:solidFill>
                  <a:srgbClr val="FFFFFF"/>
                </a:solidFill>
                <a:latin typeface="Calibri"/>
              </a:rPr>
              <a:t>✍️</a:t>
            </a:r>
          </a:p>
        </p:txBody>
      </p:sp>
      <p:sp>
        <p:nvSpPr>
          <p:cNvPr id="23" name="TextBox 22"/>
          <p:cNvSpPr txBox="1"/>
          <p:nvPr/>
        </p:nvSpPr>
        <p:spPr>
          <a:xfrm>
            <a:off x="9043415" y="1993392"/>
            <a:ext cx="2743200" cy="274320"/>
          </a:xfrm>
          <a:prstGeom prst="rect">
            <a:avLst/>
          </a:prstGeom>
          <a:noFill/>
        </p:spPr>
        <p:txBody>
          <a:bodyPr wrap="square">
            <a:spAutoFit/>
          </a:bodyPr>
          <a:lstStyle/>
          <a:p>
            <a:pPr algn="l"/>
            <a:r>
              <a:rPr sz="1000" b="1" i="0">
                <a:solidFill>
                  <a:srgbClr val="34D399"/>
                </a:solidFill>
                <a:latin typeface="Calibri"/>
              </a:rPr>
              <a:t>Task 3</a:t>
            </a:r>
          </a:p>
        </p:txBody>
      </p:sp>
      <p:sp>
        <p:nvSpPr>
          <p:cNvPr id="24" name="TextBox 23"/>
          <p:cNvSpPr txBox="1"/>
          <p:nvPr/>
        </p:nvSpPr>
        <p:spPr>
          <a:xfrm>
            <a:off x="8403336" y="2340864"/>
            <a:ext cx="3383280" cy="457200"/>
          </a:xfrm>
          <a:prstGeom prst="rect">
            <a:avLst/>
          </a:prstGeom>
          <a:noFill/>
        </p:spPr>
        <p:txBody>
          <a:bodyPr wrap="square">
            <a:spAutoFit/>
          </a:bodyPr>
          <a:lstStyle/>
          <a:p>
            <a:pPr algn="l"/>
            <a:r>
              <a:rPr sz="1500" b="1" i="0">
                <a:solidFill>
                  <a:srgbClr val="FFFFFF"/>
                </a:solidFill>
                <a:latin typeface="Calibri"/>
              </a:rPr>
              <a:t>Enthymeme Reconstruction</a:t>
            </a:r>
          </a:p>
        </p:txBody>
      </p:sp>
      <p:sp>
        <p:nvSpPr>
          <p:cNvPr id="25" name="TextBox 24"/>
          <p:cNvSpPr txBox="1"/>
          <p:nvPr/>
        </p:nvSpPr>
        <p:spPr>
          <a:xfrm>
            <a:off x="8403336" y="2852928"/>
            <a:ext cx="3383280" cy="3246120"/>
          </a:xfrm>
          <a:prstGeom prst="rect">
            <a:avLst/>
          </a:prstGeom>
          <a:noFill/>
        </p:spPr>
        <p:txBody>
          <a:bodyPr wrap="square">
            <a:spAutoFit/>
          </a:bodyPr>
          <a:lstStyle/>
          <a:p>
            <a:pPr>
              <a:spcBef>
                <a:spcPts val="300"/>
              </a:spcBef>
            </a:pPr>
            <a:r>
              <a:rPr sz="1200" b="0">
                <a:solidFill>
                  <a:srgbClr val="94A3B8"/>
                </a:solidFill>
                <a:latin typeface="Calibri"/>
              </a:rPr>
              <a:t>Model: BART (facebook/bart-base)</a:t>
            </a:r>
          </a:p>
          <a:p>
            <a:pPr>
              <a:spcBef>
                <a:spcPts val="300"/>
              </a:spcBef>
            </a:pPr>
            <a:r>
              <a:rPr sz="1200" b="1">
                <a:solidFill>
                  <a:srgbClr val="34D399"/>
                </a:solidFill>
                <a:latin typeface="Calibri"/>
              </a:rPr>
              <a:t>Test ROUGE-1:     85.88%</a:t>
            </a:r>
          </a:p>
          <a:p>
            <a:pPr>
              <a:spcBef>
                <a:spcPts val="300"/>
              </a:spcBef>
            </a:pPr>
            <a:r>
              <a:rPr sz="1200" b="1">
                <a:solidFill>
                  <a:srgbClr val="34D399"/>
                </a:solidFill>
                <a:latin typeface="Calibri"/>
              </a:rPr>
              <a:t>Test ROUGE-2:     82.62%</a:t>
            </a:r>
          </a:p>
          <a:p>
            <a:pPr>
              <a:spcBef>
                <a:spcPts val="300"/>
              </a:spcBef>
            </a:pPr>
            <a:r>
              <a:rPr sz="1200" b="1">
                <a:solidFill>
                  <a:srgbClr val="34D399"/>
                </a:solidFill>
                <a:latin typeface="Calibri"/>
              </a:rPr>
              <a:t>Test BERTScore F1: 86.60%</a:t>
            </a:r>
          </a:p>
          <a:p>
            <a:pPr>
              <a:spcBef>
                <a:spcPts val="300"/>
              </a:spcBef>
            </a:pPr>
            <a:r>
              <a:rPr sz="1200" b="0">
                <a:solidFill>
                  <a:srgbClr val="94A3B8"/>
                </a:solidFill>
                <a:latin typeface="Calibri"/>
              </a:rPr>
              <a:t>Augmented input format</a:t>
            </a:r>
          </a:p>
          <a:p>
            <a:pPr>
              <a:spcBef>
                <a:spcPts val="300"/>
              </a:spcBef>
            </a:pPr>
            <a:r>
              <a:rPr sz="1200" b="1">
                <a:solidFill>
                  <a:srgbClr val="34D399"/>
                </a:solidFill>
                <a:latin typeface="Calibri"/>
              </a:rPr>
              <a:t>Runtime: ~16 min</a:t>
            </a:r>
          </a:p>
        </p:txBody>
      </p:sp>
      <p:sp>
        <p:nvSpPr>
          <p:cNvPr id="26" name="TextBox 25"/>
          <p:cNvSpPr txBox="1"/>
          <p:nvPr/>
        </p:nvSpPr>
        <p:spPr>
          <a:xfrm>
            <a:off x="8403336" y="6080760"/>
            <a:ext cx="3383280" cy="274320"/>
          </a:xfrm>
          <a:prstGeom prst="rect">
            <a:avLst/>
          </a:prstGeom>
          <a:noFill/>
        </p:spPr>
        <p:txBody>
          <a:bodyPr wrap="square">
            <a:spAutoFit/>
          </a:bodyPr>
          <a:lstStyle/>
          <a:p>
            <a:pPr algn="ctr"/>
            <a:r>
              <a:rPr sz="1100" b="1" i="0">
                <a:solidFill>
                  <a:srgbClr val="34D399"/>
                </a:solidFill>
                <a:latin typeface="Calibri"/>
              </a:rPr>
              <a:t>✅ Complete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Custom</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39</cp:revision>
  <dcterms:created xsi:type="dcterms:W3CDTF">2013-01-27T09:14:16Z</dcterms:created>
  <dcterms:modified xsi:type="dcterms:W3CDTF">2026-04-10T10:04:11Z</dcterms:modified>
  <cp:category/>
</cp:coreProperties>
</file>